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Quattrocento" charset="1" panose="02020502030000000404"/>
      <p:regular r:id="rId23"/>
    </p:embeddedFont>
    <p:embeddedFont>
      <p:font typeface="Quattrocento Bold" charset="1" panose="02020802030000000404"/>
      <p:regular r:id="rId24"/>
    </p:embeddedFont>
    <p:embeddedFont>
      <p:font typeface="Literata Bold" charset="1" panose="00000000000000000000"/>
      <p:regular r:id="rId26"/>
    </p:embeddedFont>
    <p:embeddedFont>
      <p:font typeface="HK Grotesk Bold" charset="1" panose="00000800000000000000"/>
      <p:regular r:id="rId34"/>
    </p:embeddedFont>
    <p:embeddedFont>
      <p:font typeface="Public Sans" charset="1" panose="000000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jpe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39.png" Type="http://schemas.openxmlformats.org/officeDocument/2006/relationships/image"/><Relationship Id="rId19" Target="../media/image40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63.jpe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svg" Type="http://schemas.openxmlformats.org/officeDocument/2006/relationships/image"/><Relationship Id="rId12" Target="../media/image72.png" Type="http://schemas.openxmlformats.org/officeDocument/2006/relationships/image"/><Relationship Id="rId13" Target="../media/image73.svg" Type="http://schemas.openxmlformats.org/officeDocument/2006/relationships/image"/><Relationship Id="rId14" Target="../media/image74.png" Type="http://schemas.openxmlformats.org/officeDocument/2006/relationships/image"/><Relationship Id="rId15" Target="../media/image75.svg" Type="http://schemas.openxmlformats.org/officeDocument/2006/relationships/image"/><Relationship Id="rId16" Target="../media/image76.png" Type="http://schemas.openxmlformats.org/officeDocument/2006/relationships/image"/><Relationship Id="rId17" Target="../media/image77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78.png" Type="http://schemas.openxmlformats.org/officeDocument/2006/relationships/image"/><Relationship Id="rId5" Target="../media/image79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82.png" Type="http://schemas.openxmlformats.org/officeDocument/2006/relationships/image"/><Relationship Id="rId9" Target="../media/image8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jpeg" Type="http://schemas.openxmlformats.org/officeDocument/2006/relationships/image"/><Relationship Id="rId2" Target="../media/image86.png" Type="http://schemas.openxmlformats.org/officeDocument/2006/relationships/image"/><Relationship Id="rId3" Target="../media/image87.svg" Type="http://schemas.openxmlformats.org/officeDocument/2006/relationships/image"/><Relationship Id="rId4" Target="../media/image88.png" Type="http://schemas.openxmlformats.org/officeDocument/2006/relationships/image"/><Relationship Id="rId5" Target="../media/image89.svg" Type="http://schemas.openxmlformats.org/officeDocument/2006/relationships/image"/><Relationship Id="rId6" Target="../media/image90.jpeg" Type="http://schemas.openxmlformats.org/officeDocument/2006/relationships/image"/><Relationship Id="rId7" Target="../media/image91.jpeg" Type="http://schemas.openxmlformats.org/officeDocument/2006/relationships/image"/><Relationship Id="rId8" Target="../media/image92.jpeg" Type="http://schemas.openxmlformats.org/officeDocument/2006/relationships/image"/><Relationship Id="rId9" Target="../media/image9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13" Target="../media/image104.png" Type="http://schemas.openxmlformats.org/officeDocument/2006/relationships/image"/><Relationship Id="rId14" Target="../media/image105.svg" Type="http://schemas.openxmlformats.org/officeDocument/2006/relationships/image"/><Relationship Id="rId15" Target="../media/image106.png" Type="http://schemas.openxmlformats.org/officeDocument/2006/relationships/image"/><Relationship Id="rId16" Target="../media/image107.svg" Type="http://schemas.openxmlformats.org/officeDocument/2006/relationships/image"/><Relationship Id="rId17" Target="../media/image108.png" Type="http://schemas.openxmlformats.org/officeDocument/2006/relationships/image"/><Relationship Id="rId18" Target="../media/image109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95.jpe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svg" Type="http://schemas.openxmlformats.org/officeDocument/2006/relationships/image"/><Relationship Id="rId8" Target="../media/image2.jpe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0.png" Type="http://schemas.openxmlformats.org/officeDocument/2006/relationships/image"/><Relationship Id="rId3" Target="../media/image111.sv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Relationship Id="rId6" Target="../media/image114.png" Type="http://schemas.openxmlformats.org/officeDocument/2006/relationships/image"/><Relationship Id="rId7" Target="../media/image115.png" Type="http://schemas.openxmlformats.org/officeDocument/2006/relationships/image"/><Relationship Id="rId8" Target="../media/image1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8CA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https://kimi-web-img.moonshot.cn/img/static.vecteezy.com/3935b97fe674ab54978a64a23bc4bdd5a1b7ea52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</a:blip>
              <a:stretch>
                <a:fillRect l="0" t="-4308" r="0" b="-430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35239" y="4305446"/>
            <a:ext cx="6554974" cy="720010"/>
            <a:chOff x="0" y="0"/>
            <a:chExt cx="8739966" cy="9600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39966" cy="960014"/>
            </a:xfrm>
            <a:custGeom>
              <a:avLst/>
              <a:gdLst/>
              <a:ahLst/>
              <a:cxnLst/>
              <a:rect r="r" b="b" t="t" l="l"/>
              <a:pathLst>
                <a:path h="960014" w="8739966">
                  <a:moveTo>
                    <a:pt x="0" y="0"/>
                  </a:moveTo>
                  <a:lnTo>
                    <a:pt x="8739966" y="0"/>
                  </a:lnTo>
                  <a:lnTo>
                    <a:pt x="8739966" y="960014"/>
                  </a:lnTo>
                  <a:lnTo>
                    <a:pt x="0" y="9600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996" r="23494" b="-714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8739966" cy="960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49"/>
                </a:lnSpc>
              </a:pPr>
              <a:r>
                <a:rPr lang="en-US" sz="437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AI-powered doctor finder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29488" y="6693694"/>
            <a:ext cx="1371600" cy="14288"/>
            <a:chOff x="0" y="0"/>
            <a:chExt cx="182880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" cy="19050"/>
            </a:xfrm>
            <a:custGeom>
              <a:avLst/>
              <a:gdLst/>
              <a:ahLst/>
              <a:cxnLst/>
              <a:rect r="r" b="b" t="t" l="l"/>
              <a:pathLst>
                <a:path h="1905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8CA4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7259300" y="252190"/>
            <a:ext cx="776510" cy="776510"/>
          </a:xfrm>
          <a:custGeom>
            <a:avLst/>
            <a:gdLst/>
            <a:ahLst/>
            <a:cxnLst/>
            <a:rect r="r" b="b" t="t" l="l"/>
            <a:pathLst>
              <a:path h="776510" w="776510">
                <a:moveTo>
                  <a:pt x="0" y="0"/>
                </a:moveTo>
                <a:lnTo>
                  <a:pt x="776510" y="0"/>
                </a:lnTo>
                <a:lnTo>
                  <a:pt x="776510" y="776510"/>
                </a:lnTo>
                <a:lnTo>
                  <a:pt x="0" y="776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586912" y="6693694"/>
            <a:ext cx="1371600" cy="14288"/>
            <a:chOff x="0" y="0"/>
            <a:chExt cx="18288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" cy="19050"/>
            </a:xfrm>
            <a:custGeom>
              <a:avLst/>
              <a:gdLst/>
              <a:ahLst/>
              <a:cxnLst/>
              <a:rect r="r" b="b" t="t" l="l"/>
              <a:pathLst>
                <a:path h="1905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8CA4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87887" y="5427906"/>
            <a:ext cx="5713672" cy="1280075"/>
            <a:chOff x="0" y="0"/>
            <a:chExt cx="7618229" cy="17067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18229" cy="1706767"/>
            </a:xfrm>
            <a:custGeom>
              <a:avLst/>
              <a:gdLst/>
              <a:ahLst/>
              <a:cxnLst/>
              <a:rect r="r" b="b" t="t" l="l"/>
              <a:pathLst>
                <a:path h="1706767" w="7618229">
                  <a:moveTo>
                    <a:pt x="0" y="0"/>
                  </a:moveTo>
                  <a:lnTo>
                    <a:pt x="7618229" y="0"/>
                  </a:lnTo>
                  <a:lnTo>
                    <a:pt x="7618229" y="1706767"/>
                  </a:lnTo>
                  <a:lnTo>
                    <a:pt x="0" y="17067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014" r="10729" b="67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7618229" cy="1830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98"/>
                </a:lnSpc>
              </a:pPr>
              <a:r>
                <a:rPr lang="en-US" b="true" sz="3524">
                  <a:solidFill>
                    <a:srgbClr val="E6F4F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Sog'ligingiz uchun aqlli yo'l ko'rsatuvchi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06012" y="534976"/>
            <a:ext cx="6931289" cy="9217049"/>
          </a:xfrm>
          <a:custGeom>
            <a:avLst/>
            <a:gdLst/>
            <a:ahLst/>
            <a:cxnLst/>
            <a:rect r="r" b="b" t="t" l="l"/>
            <a:pathLst>
              <a:path h="9217049" w="6931289">
                <a:moveTo>
                  <a:pt x="0" y="0"/>
                </a:moveTo>
                <a:lnTo>
                  <a:pt x="6931289" y="0"/>
                </a:lnTo>
                <a:lnTo>
                  <a:pt x="6931289" y="9217048"/>
                </a:lnTo>
                <a:lnTo>
                  <a:pt x="0" y="92170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8" r="0" b="-108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22494" y="1984598"/>
            <a:ext cx="4283372" cy="4304835"/>
          </a:xfrm>
          <a:custGeom>
            <a:avLst/>
            <a:gdLst/>
            <a:ahLst/>
            <a:cxnLst/>
            <a:rect r="r" b="b" t="t" l="l"/>
            <a:pathLst>
              <a:path h="4304835" w="4283372">
                <a:moveTo>
                  <a:pt x="0" y="0"/>
                </a:moveTo>
                <a:lnTo>
                  <a:pt x="4283372" y="0"/>
                </a:lnTo>
                <a:lnTo>
                  <a:pt x="4283372" y="4304835"/>
                </a:lnTo>
                <a:lnTo>
                  <a:pt x="0" y="430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20835" y="9428136"/>
            <a:ext cx="647776" cy="647776"/>
          </a:xfrm>
          <a:custGeom>
            <a:avLst/>
            <a:gdLst/>
            <a:ahLst/>
            <a:cxnLst/>
            <a:rect r="r" b="b" t="t" l="l"/>
            <a:pathLst>
              <a:path h="647776" w="647776">
                <a:moveTo>
                  <a:pt x="0" y="0"/>
                </a:moveTo>
                <a:lnTo>
                  <a:pt x="647776" y="0"/>
                </a:lnTo>
                <a:lnTo>
                  <a:pt x="647776" y="647776"/>
                </a:lnTo>
                <a:lnTo>
                  <a:pt x="0" y="647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73691" y="1546448"/>
            <a:ext cx="7400181" cy="235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92"/>
              </a:lnSpc>
              <a:spcBef>
                <a:spcPct val="0"/>
              </a:spcBef>
            </a:pPr>
            <a:r>
              <a:rPr lang="en-US" b="true" sz="12623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MyDoctor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16293" y="9466845"/>
            <a:ext cx="2670125" cy="47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  <a:spcBef>
                <a:spcPct val="0"/>
              </a:spcBef>
            </a:pPr>
            <a:r>
              <a:rPr lang="en-US" sz="2524">
                <a:solidFill>
                  <a:srgbClr val="FDFDFC"/>
                </a:solidFill>
                <a:latin typeface="Quattrocento"/>
                <a:ea typeface="Quattrocento"/>
                <a:cs typeface="Quattrocento"/>
                <a:sym typeface="Quattrocento"/>
              </a:rPr>
              <a:t>www.mydoctor.uz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Sog'liqni saqlashda uchraydigan asosiy muammolar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69119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590724" y="2814638"/>
            <a:ext cx="1371600" cy="1371600"/>
            <a:chOff x="0" y="0"/>
            <a:chExt cx="1828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FF0000">
                <a:alpha val="3922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933624" y="3157538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57262" y="4529138"/>
            <a:ext cx="4643438" cy="1129665"/>
            <a:chOff x="0" y="0"/>
            <a:chExt cx="6191250" cy="15062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91250" cy="1506219"/>
            </a:xfrm>
            <a:custGeom>
              <a:avLst/>
              <a:gdLst/>
              <a:ahLst/>
              <a:cxnLst/>
              <a:rect r="r" b="b" t="t" l="l"/>
              <a:pathLst>
                <a:path h="1506219" w="6191250">
                  <a:moveTo>
                    <a:pt x="0" y="0"/>
                  </a:moveTo>
                  <a:lnTo>
                    <a:pt x="6191250" y="0"/>
                  </a:lnTo>
                  <a:lnTo>
                    <a:pt x="6191250" y="1506219"/>
                  </a:lnTo>
                  <a:lnTo>
                    <a:pt x="0" y="15062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20" r="0" b="-205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191250" cy="1534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Qaysi doktorga borishni bilmaydi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001702"/>
            <a:ext cx="4600575" cy="1482513"/>
            <a:chOff x="0" y="0"/>
            <a:chExt cx="6134100" cy="1976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34100" cy="1976684"/>
            </a:xfrm>
            <a:custGeom>
              <a:avLst/>
              <a:gdLst/>
              <a:ahLst/>
              <a:cxnLst/>
              <a:rect r="r" b="b" t="t" l="l"/>
              <a:pathLst>
                <a:path h="1976684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1976684"/>
                  </a:lnTo>
                  <a:lnTo>
                    <a:pt x="0" y="1976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62" r="0" b="-287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6134100" cy="2100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1"/>
                </a:lnSpc>
              </a:pPr>
              <a:r>
                <a:rPr lang="en-US" sz="25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Odamlar simptomlariga qaysi mutaxassis mos kelishini aniqlay olmaydi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436366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457981" y="2814638"/>
            <a:ext cx="1371600" cy="1371600"/>
            <a:chOff x="0" y="0"/>
            <a:chExt cx="182880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FF0000">
                <a:alpha val="392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00881" y="3157538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  <a:moveTo>
                    <a:pt x="414401" y="214249"/>
                  </a:moveTo>
                  <a:lnTo>
                    <a:pt x="414401" y="457200"/>
                  </a:lnTo>
                  <a:cubicBezTo>
                    <a:pt x="414401" y="471551"/>
                    <a:pt x="421513" y="484886"/>
                    <a:pt x="433451" y="492887"/>
                  </a:cubicBezTo>
                  <a:lnTo>
                    <a:pt x="604901" y="607187"/>
                  </a:lnTo>
                  <a:cubicBezTo>
                    <a:pt x="624586" y="620395"/>
                    <a:pt x="651129" y="615061"/>
                    <a:pt x="664337" y="595249"/>
                  </a:cubicBezTo>
                  <a:cubicBezTo>
                    <a:pt x="677545" y="575437"/>
                    <a:pt x="672211" y="549021"/>
                    <a:pt x="652399" y="535813"/>
                  </a:cubicBezTo>
                  <a:lnTo>
                    <a:pt x="499999" y="434340"/>
                  </a:lnTo>
                  <a:lnTo>
                    <a:pt x="499999" y="214249"/>
                  </a:lnTo>
                  <a:cubicBezTo>
                    <a:pt x="499999" y="190500"/>
                    <a:pt x="480949" y="171450"/>
                    <a:pt x="457200" y="171450"/>
                  </a:cubicBezTo>
                  <a:cubicBezTo>
                    <a:pt x="433451" y="171450"/>
                    <a:pt x="414401" y="190500"/>
                    <a:pt x="414401" y="214249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77434" y="4529138"/>
            <a:ext cx="4329112" cy="1129665"/>
            <a:chOff x="0" y="0"/>
            <a:chExt cx="5772150" cy="15062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72150" cy="1506219"/>
            </a:xfrm>
            <a:custGeom>
              <a:avLst/>
              <a:gdLst/>
              <a:ahLst/>
              <a:cxnLst/>
              <a:rect r="r" b="b" t="t" l="l"/>
              <a:pathLst>
                <a:path h="1506219" w="5772150">
                  <a:moveTo>
                    <a:pt x="0" y="0"/>
                  </a:moveTo>
                  <a:lnTo>
                    <a:pt x="5772150" y="0"/>
                  </a:lnTo>
                  <a:lnTo>
                    <a:pt x="5772150" y="1506219"/>
                  </a:lnTo>
                  <a:lnTo>
                    <a:pt x="0" y="15062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34" r="0" b="509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772150" cy="1534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Vaqt yo'q, noto'g'ri tanlovlar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46056" y="6029325"/>
            <a:ext cx="4600575" cy="949113"/>
            <a:chOff x="0" y="0"/>
            <a:chExt cx="6134100" cy="12654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34100" cy="1265484"/>
            </a:xfrm>
            <a:custGeom>
              <a:avLst/>
              <a:gdLst/>
              <a:ahLst/>
              <a:cxnLst/>
              <a:rect r="r" b="b" t="t" l="l"/>
              <a:pathLst>
                <a:path h="1265484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1265484"/>
                  </a:lnTo>
                  <a:lnTo>
                    <a:pt x="0" y="12654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40" r="0" b="-388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23825"/>
              <a:ext cx="6134100" cy="138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1"/>
                </a:lnSpc>
              </a:pPr>
              <a:r>
                <a:rPr lang="en-US" sz="25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Tezda doktor topish kerak, lekin qidirish vaqqti yo'q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2303843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4325448" y="2814638"/>
            <a:ext cx="1371600" cy="1371600"/>
            <a:chOff x="0" y="0"/>
            <a:chExt cx="182880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FF0000">
                <a:alpha val="3922"/>
              </a:srgbClr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4668348" y="3157538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825936" y="4529138"/>
            <a:ext cx="4371975" cy="1129665"/>
            <a:chOff x="0" y="0"/>
            <a:chExt cx="5829300" cy="15062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29300" cy="1506219"/>
            </a:xfrm>
            <a:custGeom>
              <a:avLst/>
              <a:gdLst/>
              <a:ahLst/>
              <a:cxnLst/>
              <a:rect r="r" b="b" t="t" l="l"/>
              <a:pathLst>
                <a:path h="1506219" w="5829300">
                  <a:moveTo>
                    <a:pt x="0" y="0"/>
                  </a:moveTo>
                  <a:lnTo>
                    <a:pt x="5829300" y="0"/>
                  </a:lnTo>
                  <a:lnTo>
                    <a:pt x="5829300" y="1506219"/>
                  </a:lnTo>
                  <a:lnTo>
                    <a:pt x="0" y="15062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73" r="0" b="43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829300" cy="1534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Sifatli tibbiy yo'naltirish yo'q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13418" y="6029325"/>
            <a:ext cx="4600575" cy="1507331"/>
            <a:chOff x="0" y="0"/>
            <a:chExt cx="6134100" cy="20097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34100" cy="2009775"/>
            </a:xfrm>
            <a:custGeom>
              <a:avLst/>
              <a:gdLst/>
              <a:ahLst/>
              <a:cxnLst/>
              <a:rect r="r" b="b" t="t" l="l"/>
              <a:pathLst>
                <a:path h="2009775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2009775"/>
                  </a:lnTo>
                  <a:lnTo>
                    <a:pt x="0" y="20097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08" r="0" b="1256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23825"/>
              <a:ext cx="6134100" cy="2133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1"/>
                </a:lnSpc>
              </a:pPr>
              <a:r>
                <a:rPr lang="en-US" sz="25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Professional tavsiya va yo'naltirish tizimi mavjud emas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8700" y="0"/>
            <a:ext cx="3379493" cy="1811655"/>
            <a:chOff x="0" y="0"/>
            <a:chExt cx="4505990" cy="24155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05990" cy="2415540"/>
            </a:xfrm>
            <a:custGeom>
              <a:avLst/>
              <a:gdLst/>
              <a:ahLst/>
              <a:cxnLst/>
              <a:rect r="r" b="b" t="t" l="l"/>
              <a:pathLst>
                <a:path h="2415540" w="4505990">
                  <a:moveTo>
                    <a:pt x="0" y="0"/>
                  </a:moveTo>
                  <a:lnTo>
                    <a:pt x="4505990" y="0"/>
                  </a:lnTo>
                  <a:lnTo>
                    <a:pt x="4505990" y="2415540"/>
                  </a:lnTo>
                  <a:lnTo>
                    <a:pt x="0" y="2415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13" r="14600" b="5003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23825"/>
              <a:ext cx="4505990" cy="2291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Muammo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MyDoctor </a:t>
              </a: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AI barcha muammolarni hal qiladi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06162"/>
            <a:ext cx="9508337" cy="6531976"/>
            <a:chOff x="0" y="0"/>
            <a:chExt cx="2504253" cy="17203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4253" cy="1720356"/>
            </a:xfrm>
            <a:custGeom>
              <a:avLst/>
              <a:gdLst/>
              <a:ahLst/>
              <a:cxnLst/>
              <a:rect r="r" b="b" t="t" l="l"/>
              <a:pathLst>
                <a:path h="1720356" w="2504253">
                  <a:moveTo>
                    <a:pt x="41525" y="0"/>
                  </a:moveTo>
                  <a:lnTo>
                    <a:pt x="2462728" y="0"/>
                  </a:lnTo>
                  <a:cubicBezTo>
                    <a:pt x="2485662" y="0"/>
                    <a:pt x="2504253" y="18592"/>
                    <a:pt x="2504253" y="41525"/>
                  </a:cubicBezTo>
                  <a:lnTo>
                    <a:pt x="2504253" y="1678830"/>
                  </a:lnTo>
                  <a:cubicBezTo>
                    <a:pt x="2504253" y="1689844"/>
                    <a:pt x="2499878" y="1700406"/>
                    <a:pt x="2492091" y="1708193"/>
                  </a:cubicBezTo>
                  <a:cubicBezTo>
                    <a:pt x="2484303" y="1715981"/>
                    <a:pt x="2473741" y="1720356"/>
                    <a:pt x="2462728" y="1720356"/>
                  </a:cubicBezTo>
                  <a:lnTo>
                    <a:pt x="41525" y="1720356"/>
                  </a:lnTo>
                  <a:cubicBezTo>
                    <a:pt x="18592" y="1720356"/>
                    <a:pt x="0" y="1701764"/>
                    <a:pt x="0" y="1678830"/>
                  </a:cubicBezTo>
                  <a:lnTo>
                    <a:pt x="0" y="41525"/>
                  </a:lnTo>
                  <a:cubicBezTo>
                    <a:pt x="0" y="30512"/>
                    <a:pt x="4375" y="19950"/>
                    <a:pt x="12163" y="12163"/>
                  </a:cubicBezTo>
                  <a:cubicBezTo>
                    <a:pt x="19950" y="4375"/>
                    <a:pt x="30512" y="0"/>
                    <a:pt x="41525" y="0"/>
                  </a:cubicBezTo>
                  <a:close/>
                </a:path>
              </a:pathLst>
            </a:custGeom>
            <a:solidFill>
              <a:srgbClr val="50A4C6">
                <a:alpha val="21961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504253" cy="1787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86075"/>
            <a:ext cx="1271588" cy="1271588"/>
            <a:chOff x="0" y="0"/>
            <a:chExt cx="12192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14438" y="3186112"/>
            <a:ext cx="671512" cy="671512"/>
          </a:xfrm>
          <a:custGeom>
            <a:avLst/>
            <a:gdLst/>
            <a:ahLst/>
            <a:cxnLst/>
            <a:rect r="r" b="b" t="t" l="l"/>
            <a:pathLst>
              <a:path h="671512" w="671512">
                <a:moveTo>
                  <a:pt x="0" y="0"/>
                </a:moveTo>
                <a:lnTo>
                  <a:pt x="671512" y="0"/>
                </a:lnTo>
                <a:lnTo>
                  <a:pt x="671512" y="671513"/>
                </a:lnTo>
                <a:lnTo>
                  <a:pt x="0" y="67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449808" y="2773436"/>
            <a:ext cx="8286750" cy="634365"/>
            <a:chOff x="0" y="0"/>
            <a:chExt cx="11049000" cy="845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49000" cy="845819"/>
            </a:xfrm>
            <a:custGeom>
              <a:avLst/>
              <a:gdLst/>
              <a:ahLst/>
              <a:cxnLst/>
              <a:rect r="r" b="b" t="t" l="l"/>
              <a:pathLst>
                <a:path h="845819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845819"/>
                  </a:lnTo>
                  <a:lnTo>
                    <a:pt x="0" y="845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98" r="0" b="-1905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1049000" cy="87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AI simptomni analiz qiladi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49808" y="3521869"/>
            <a:ext cx="8243888" cy="876430"/>
            <a:chOff x="0" y="0"/>
            <a:chExt cx="10991850" cy="11685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1850" cy="1168574"/>
            </a:xfrm>
            <a:custGeom>
              <a:avLst/>
              <a:gdLst/>
              <a:ahLst/>
              <a:cxnLst/>
              <a:rect r="r" b="b" t="t" l="l"/>
              <a:pathLst>
                <a:path h="1168574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1168574"/>
                  </a:lnTo>
                  <a:lnTo>
                    <a:pt x="0" y="11685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57" r="0" b="-10610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0991850" cy="125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24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Sun'iy intellekt foydalanuvchi simptomlarini tahlil qilib, kasallikni aniqlaydi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7966" y="5157788"/>
            <a:ext cx="1271588" cy="1271588"/>
            <a:chOff x="0" y="0"/>
            <a:chExt cx="12192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174552" y="5395912"/>
            <a:ext cx="658416" cy="752475"/>
          </a:xfrm>
          <a:custGeom>
            <a:avLst/>
            <a:gdLst/>
            <a:ahLst/>
            <a:cxnLst/>
            <a:rect r="r" b="b" t="t" l="l"/>
            <a:pathLst>
              <a:path h="752475" w="658416">
                <a:moveTo>
                  <a:pt x="0" y="0"/>
                </a:moveTo>
                <a:lnTo>
                  <a:pt x="658415" y="0"/>
                </a:lnTo>
                <a:lnTo>
                  <a:pt x="658415" y="752476"/>
                </a:lnTo>
                <a:lnTo>
                  <a:pt x="0" y="752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449808" y="4962327"/>
            <a:ext cx="7658100" cy="634365"/>
            <a:chOff x="0" y="0"/>
            <a:chExt cx="10210800" cy="8458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10800" cy="845819"/>
            </a:xfrm>
            <a:custGeom>
              <a:avLst/>
              <a:gdLst/>
              <a:ahLst/>
              <a:cxnLst/>
              <a:rect r="r" b="b" t="t" l="l"/>
              <a:pathLst>
                <a:path h="845819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845819"/>
                  </a:lnTo>
                  <a:lnTo>
                    <a:pt x="0" y="845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88" r="0" b="-1712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0210800" cy="87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Eng mos doktorni topadi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49808" y="5710992"/>
            <a:ext cx="7615238" cy="876430"/>
            <a:chOff x="0" y="0"/>
            <a:chExt cx="10153650" cy="11685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53650" cy="1168574"/>
            </a:xfrm>
            <a:custGeom>
              <a:avLst/>
              <a:gdLst/>
              <a:ahLst/>
              <a:cxnLst/>
              <a:rect r="r" b="b" t="t" l="l"/>
              <a:pathLst>
                <a:path h="1168574" w="10153650">
                  <a:moveTo>
                    <a:pt x="0" y="0"/>
                  </a:moveTo>
                  <a:lnTo>
                    <a:pt x="10153650" y="0"/>
                  </a:lnTo>
                  <a:lnTo>
                    <a:pt x="10153650" y="1168574"/>
                  </a:lnTo>
                  <a:lnTo>
                    <a:pt x="0" y="11685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81" r="0" b="-9212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0153650" cy="125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24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Mutaxassislik, tajriba va reyting asosida eng yaxshi moslikni tanlaydi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1404" y="7640241"/>
            <a:ext cx="637580" cy="850106"/>
            <a:chOff x="0" y="0"/>
            <a:chExt cx="428625" cy="571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127" y="0"/>
              <a:ext cx="428752" cy="574802"/>
            </a:xfrm>
            <a:custGeom>
              <a:avLst/>
              <a:gdLst/>
              <a:ahLst/>
              <a:cxnLst/>
              <a:rect r="r" b="b" t="t" l="l"/>
              <a:pathLst>
                <a:path h="574802" w="428752">
                  <a:moveTo>
                    <a:pt x="127" y="210566"/>
                  </a:moveTo>
                  <a:cubicBezTo>
                    <a:pt x="127" y="94234"/>
                    <a:pt x="96139" y="0"/>
                    <a:pt x="214376" y="0"/>
                  </a:cubicBezTo>
                  <a:cubicBezTo>
                    <a:pt x="332613" y="0"/>
                    <a:pt x="428752" y="94234"/>
                    <a:pt x="428752" y="210566"/>
                  </a:cubicBezTo>
                  <a:cubicBezTo>
                    <a:pt x="428752" y="343789"/>
                    <a:pt x="294640" y="503301"/>
                    <a:pt x="238506" y="564134"/>
                  </a:cubicBezTo>
                  <a:cubicBezTo>
                    <a:pt x="225298" y="578358"/>
                    <a:pt x="203327" y="578358"/>
                    <a:pt x="190119" y="564134"/>
                  </a:cubicBezTo>
                  <a:cubicBezTo>
                    <a:pt x="134239" y="503301"/>
                    <a:pt x="0" y="343662"/>
                    <a:pt x="0" y="210566"/>
                  </a:cubicBezTo>
                  <a:close/>
                  <a:moveTo>
                    <a:pt x="214376" y="285750"/>
                  </a:moveTo>
                  <a:cubicBezTo>
                    <a:pt x="253746" y="285750"/>
                    <a:pt x="285877" y="253746"/>
                    <a:pt x="285877" y="214249"/>
                  </a:cubicBezTo>
                  <a:cubicBezTo>
                    <a:pt x="285877" y="174752"/>
                    <a:pt x="253873" y="142875"/>
                    <a:pt x="214376" y="142875"/>
                  </a:cubicBezTo>
                  <a:cubicBezTo>
                    <a:pt x="174879" y="142875"/>
                    <a:pt x="143002" y="174879"/>
                    <a:pt x="143002" y="214249"/>
                  </a:cubicBezTo>
                  <a:cubicBezTo>
                    <a:pt x="143002" y="253619"/>
                    <a:pt x="175006" y="285750"/>
                    <a:pt x="214376" y="28575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428875" y="7149397"/>
            <a:ext cx="6715125" cy="634365"/>
            <a:chOff x="0" y="0"/>
            <a:chExt cx="8953500" cy="8458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53500" cy="845819"/>
            </a:xfrm>
            <a:custGeom>
              <a:avLst/>
              <a:gdLst/>
              <a:ahLst/>
              <a:cxnLst/>
              <a:rect r="r" b="b" t="t" l="l"/>
              <a:pathLst>
                <a:path h="845819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845819"/>
                  </a:lnTo>
                  <a:lnTo>
                    <a:pt x="0" y="845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24" r="0" b="-1422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8953500" cy="87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Eng yaqin joyni ko'rsatadi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428875" y="7898062"/>
            <a:ext cx="6672262" cy="876430"/>
            <a:chOff x="0" y="0"/>
            <a:chExt cx="8896350" cy="11685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96350" cy="1168574"/>
            </a:xfrm>
            <a:custGeom>
              <a:avLst/>
              <a:gdLst/>
              <a:ahLst/>
              <a:cxnLst/>
              <a:rect r="r" b="b" t="t" l="l"/>
              <a:pathLst>
                <a:path h="1168574" w="8896350">
                  <a:moveTo>
                    <a:pt x="0" y="0"/>
                  </a:moveTo>
                  <a:lnTo>
                    <a:pt x="8896350" y="0"/>
                  </a:lnTo>
                  <a:lnTo>
                    <a:pt x="8896350" y="1168574"/>
                  </a:lnTo>
                  <a:lnTo>
                    <a:pt x="0" y="11685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516" r="0" b="-711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8896350" cy="1254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24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Geolokatsiya orqali eng qulay va yaqin klinikalarni aniqlaydi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67966" y="7429500"/>
            <a:ext cx="1271588" cy="1271588"/>
            <a:chOff x="0" y="0"/>
            <a:chExt cx="12192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0249639" y="3243977"/>
            <a:ext cx="8038361" cy="5246370"/>
            <a:chOff x="0" y="0"/>
            <a:chExt cx="19050000" cy="12433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8"/>
              <a:stretch>
                <a:fillRect l="-6167" t="0" r="-6167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9"/>
              <a:stretch>
                <a:fillRect l="-301" t="0" r="-301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0" y="438150"/>
            <a:ext cx="5495567" cy="193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5"/>
              </a:lnSpc>
              <a:spcBef>
                <a:spcPct val="0"/>
              </a:spcBef>
            </a:pPr>
            <a:r>
              <a:rPr lang="en-US" b="true" sz="5400">
                <a:solidFill>
                  <a:srgbClr val="FDFDFC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Yechim</a:t>
            </a:r>
            <a:r>
              <a:rPr lang="en-US" b="true" sz="5400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oshi matni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8434" y="-134490"/>
            <a:ext cx="19180595" cy="10555979"/>
          </a:xfrm>
          <a:custGeom>
            <a:avLst/>
            <a:gdLst/>
            <a:ahLst/>
            <a:cxnLst/>
            <a:rect r="r" b="b" t="t" l="l"/>
            <a:pathLst>
              <a:path h="10555979" w="19180595">
                <a:moveTo>
                  <a:pt x="0" y="0"/>
                </a:moveTo>
                <a:lnTo>
                  <a:pt x="19180595" y="0"/>
                </a:lnTo>
                <a:lnTo>
                  <a:pt x="19180595" y="10555980"/>
                </a:lnTo>
                <a:lnTo>
                  <a:pt x="0" y="10555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1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112" y="-113505"/>
            <a:ext cx="18433112" cy="10400505"/>
          </a:xfrm>
          <a:custGeom>
            <a:avLst/>
            <a:gdLst/>
            <a:ahLst/>
            <a:cxnLst/>
            <a:rect r="r" b="b" t="t" l="l"/>
            <a:pathLst>
              <a:path h="10400505" w="18433112">
                <a:moveTo>
                  <a:pt x="0" y="0"/>
                </a:moveTo>
                <a:lnTo>
                  <a:pt x="18433112" y="0"/>
                </a:lnTo>
                <a:lnTo>
                  <a:pt x="18433112" y="10400505"/>
                </a:lnTo>
                <a:lnTo>
                  <a:pt x="0" y="10400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0" t="0" r="-102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61" r="0" b="-1245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4 qadamda doktor topish jarayoni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69119" y="3740944"/>
            <a:ext cx="3548062" cy="2719388"/>
          </a:xfrm>
          <a:custGeom>
            <a:avLst/>
            <a:gdLst/>
            <a:ahLst/>
            <a:cxnLst/>
            <a:rect r="r" b="b" t="t" l="l"/>
            <a:pathLst>
              <a:path h="2719388" w="3548062">
                <a:moveTo>
                  <a:pt x="0" y="0"/>
                </a:moveTo>
                <a:lnTo>
                  <a:pt x="3548062" y="0"/>
                </a:lnTo>
                <a:lnTo>
                  <a:pt x="3548062" y="2719387"/>
                </a:lnTo>
                <a:lnTo>
                  <a:pt x="0" y="2719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85055" y="4100512"/>
            <a:ext cx="914400" cy="914400"/>
            <a:chOff x="0" y="0"/>
            <a:chExt cx="12192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92236" y="4386262"/>
            <a:ext cx="300038" cy="342900"/>
            <a:chOff x="0" y="0"/>
            <a:chExt cx="40005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4224" y="7112"/>
              <a:ext cx="371602" cy="450215"/>
            </a:xfrm>
            <a:custGeom>
              <a:avLst/>
              <a:gdLst/>
              <a:ahLst/>
              <a:cxnLst/>
              <a:rect r="r" b="b" t="t" l="l"/>
              <a:pathLst>
                <a:path h="450215" w="371602">
                  <a:moveTo>
                    <a:pt x="185801" y="214376"/>
                  </a:moveTo>
                  <a:cubicBezTo>
                    <a:pt x="244983" y="214376"/>
                    <a:pt x="292989" y="166370"/>
                    <a:pt x="292989" y="107188"/>
                  </a:cubicBezTo>
                  <a:cubicBezTo>
                    <a:pt x="292989" y="48006"/>
                    <a:pt x="244983" y="0"/>
                    <a:pt x="185801" y="0"/>
                  </a:cubicBezTo>
                  <a:cubicBezTo>
                    <a:pt x="126619" y="0"/>
                    <a:pt x="78613" y="48006"/>
                    <a:pt x="78613" y="107188"/>
                  </a:cubicBezTo>
                  <a:cubicBezTo>
                    <a:pt x="78613" y="166370"/>
                    <a:pt x="126619" y="214376"/>
                    <a:pt x="185801" y="214376"/>
                  </a:cubicBezTo>
                  <a:close/>
                  <a:moveTo>
                    <a:pt x="159258" y="264414"/>
                  </a:moveTo>
                  <a:cubicBezTo>
                    <a:pt x="71247" y="264414"/>
                    <a:pt x="0" y="335661"/>
                    <a:pt x="0" y="423672"/>
                  </a:cubicBezTo>
                  <a:cubicBezTo>
                    <a:pt x="0" y="438277"/>
                    <a:pt x="11938" y="450215"/>
                    <a:pt x="26543" y="450215"/>
                  </a:cubicBezTo>
                  <a:lnTo>
                    <a:pt x="345059" y="450215"/>
                  </a:lnTo>
                  <a:cubicBezTo>
                    <a:pt x="359664" y="450215"/>
                    <a:pt x="371602" y="438277"/>
                    <a:pt x="371602" y="423672"/>
                  </a:cubicBezTo>
                  <a:cubicBezTo>
                    <a:pt x="371602" y="335661"/>
                    <a:pt x="300355" y="264414"/>
                    <a:pt x="212344" y="264414"/>
                  </a:cubicBezTo>
                  <a:lnTo>
                    <a:pt x="159258" y="264414"/>
                  </a:ln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5459" y="4897676"/>
            <a:ext cx="2971800" cy="691673"/>
            <a:chOff x="0" y="0"/>
            <a:chExt cx="3962400" cy="922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62400" cy="922231"/>
            </a:xfrm>
            <a:custGeom>
              <a:avLst/>
              <a:gdLst/>
              <a:ahLst/>
              <a:cxnLst/>
              <a:rect r="r" b="b" t="t" l="l"/>
              <a:pathLst>
                <a:path h="922231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922231"/>
                  </a:lnTo>
                  <a:lnTo>
                    <a:pt x="0" y="922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99" r="0" b="-126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962400" cy="988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2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User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1538" y="5757862"/>
            <a:ext cx="2943225" cy="359614"/>
            <a:chOff x="0" y="0"/>
            <a:chExt cx="3924300" cy="4794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24300" cy="479485"/>
            </a:xfrm>
            <a:custGeom>
              <a:avLst/>
              <a:gdLst/>
              <a:ahLst/>
              <a:cxnLst/>
              <a:rect r="r" b="b" t="t" l="l"/>
              <a:pathLst>
                <a:path h="479485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97" r="0" b="-1071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3924300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31"/>
                </a:lnSpc>
              </a:pPr>
              <a:r>
                <a:rPr lang="en-US" sz="21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Simptom yozadi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98759" y="4886325"/>
            <a:ext cx="428625" cy="428625"/>
            <a:chOff x="0" y="0"/>
            <a:chExt cx="571500" cy="57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71311"/>
              <a:ext cx="571436" cy="428752"/>
            </a:xfrm>
            <a:custGeom>
              <a:avLst/>
              <a:gdLst/>
              <a:ahLst/>
              <a:cxnLst/>
              <a:rect r="r" b="b" t="t" l="l"/>
              <a:pathLst>
                <a:path h="428752" w="571436">
                  <a:moveTo>
                    <a:pt x="560959" y="239712"/>
                  </a:moveTo>
                  <a:cubicBezTo>
                    <a:pt x="574929" y="225742"/>
                    <a:pt x="574929" y="203136"/>
                    <a:pt x="560959" y="189166"/>
                  </a:cubicBezTo>
                  <a:lnTo>
                    <a:pt x="382397" y="10477"/>
                  </a:lnTo>
                  <a:cubicBezTo>
                    <a:pt x="368427" y="-3493"/>
                    <a:pt x="345821" y="-3493"/>
                    <a:pt x="331851" y="10477"/>
                  </a:cubicBezTo>
                  <a:cubicBezTo>
                    <a:pt x="317881" y="24447"/>
                    <a:pt x="317881" y="47053"/>
                    <a:pt x="331851" y="61023"/>
                  </a:cubicBezTo>
                  <a:lnTo>
                    <a:pt x="449453" y="178625"/>
                  </a:lnTo>
                  <a:lnTo>
                    <a:pt x="35687" y="178625"/>
                  </a:lnTo>
                  <a:cubicBezTo>
                    <a:pt x="16002" y="178752"/>
                    <a:pt x="0" y="194627"/>
                    <a:pt x="0" y="214439"/>
                  </a:cubicBezTo>
                  <a:cubicBezTo>
                    <a:pt x="0" y="234251"/>
                    <a:pt x="16002" y="250126"/>
                    <a:pt x="35687" y="250126"/>
                  </a:cubicBezTo>
                  <a:lnTo>
                    <a:pt x="449453" y="250126"/>
                  </a:lnTo>
                  <a:lnTo>
                    <a:pt x="331851" y="367728"/>
                  </a:lnTo>
                  <a:cubicBezTo>
                    <a:pt x="317881" y="381698"/>
                    <a:pt x="317881" y="404304"/>
                    <a:pt x="331851" y="418274"/>
                  </a:cubicBezTo>
                  <a:cubicBezTo>
                    <a:pt x="345821" y="432244"/>
                    <a:pt x="368427" y="432244"/>
                    <a:pt x="382397" y="418274"/>
                  </a:cubicBezTo>
                  <a:lnTo>
                    <a:pt x="560959" y="239839"/>
                  </a:lnTo>
                  <a:close/>
                </a:path>
              </a:pathLst>
            </a:custGeom>
            <a:solidFill>
              <a:srgbClr val="008CA4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103609" y="3740944"/>
            <a:ext cx="3548062" cy="2719388"/>
          </a:xfrm>
          <a:custGeom>
            <a:avLst/>
            <a:gdLst/>
            <a:ahLst/>
            <a:cxnLst/>
            <a:rect r="r" b="b" t="t" l="l"/>
            <a:pathLst>
              <a:path h="2719388" w="3548062">
                <a:moveTo>
                  <a:pt x="0" y="0"/>
                </a:moveTo>
                <a:lnTo>
                  <a:pt x="3548063" y="0"/>
                </a:lnTo>
                <a:lnTo>
                  <a:pt x="3548063" y="2719387"/>
                </a:lnTo>
                <a:lnTo>
                  <a:pt x="0" y="271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419555" y="4100512"/>
            <a:ext cx="914400" cy="914400"/>
            <a:chOff x="0" y="0"/>
            <a:chExt cx="12192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6662442" y="4386262"/>
            <a:ext cx="428625" cy="342900"/>
          </a:xfrm>
          <a:custGeom>
            <a:avLst/>
            <a:gdLst/>
            <a:ahLst/>
            <a:cxnLst/>
            <a:rect r="r" b="b" t="t" l="l"/>
            <a:pathLst>
              <a:path h="342900" w="428625">
                <a:moveTo>
                  <a:pt x="0" y="0"/>
                </a:moveTo>
                <a:lnTo>
                  <a:pt x="428625" y="0"/>
                </a:lnTo>
                <a:lnTo>
                  <a:pt x="4286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348211" y="4969114"/>
            <a:ext cx="2971800" cy="691673"/>
            <a:chOff x="0" y="0"/>
            <a:chExt cx="3962400" cy="9222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62400" cy="922231"/>
            </a:xfrm>
            <a:custGeom>
              <a:avLst/>
              <a:gdLst/>
              <a:ahLst/>
              <a:cxnLst/>
              <a:rect r="r" b="b" t="t" l="l"/>
              <a:pathLst>
                <a:path h="922231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922231"/>
                  </a:lnTo>
                  <a:lnTo>
                    <a:pt x="0" y="922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99" r="0" b="-1263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3962400" cy="988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2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06038" y="5757862"/>
            <a:ext cx="2943225" cy="359614"/>
            <a:chOff x="0" y="0"/>
            <a:chExt cx="3924300" cy="4794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24300" cy="479485"/>
            </a:xfrm>
            <a:custGeom>
              <a:avLst/>
              <a:gdLst/>
              <a:ahLst/>
              <a:cxnLst/>
              <a:rect r="r" b="b" t="t" l="l"/>
              <a:pathLst>
                <a:path h="479485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97" r="0" b="-10714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3924300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31"/>
                </a:lnSpc>
              </a:pPr>
              <a:r>
                <a:rPr lang="en-US" sz="21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Analiz qiladi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33259" y="4886325"/>
            <a:ext cx="428625" cy="428625"/>
            <a:chOff x="0" y="0"/>
            <a:chExt cx="571500" cy="571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71311"/>
              <a:ext cx="571436" cy="428752"/>
            </a:xfrm>
            <a:custGeom>
              <a:avLst/>
              <a:gdLst/>
              <a:ahLst/>
              <a:cxnLst/>
              <a:rect r="r" b="b" t="t" l="l"/>
              <a:pathLst>
                <a:path h="428752" w="571436">
                  <a:moveTo>
                    <a:pt x="560959" y="239712"/>
                  </a:moveTo>
                  <a:cubicBezTo>
                    <a:pt x="574929" y="225742"/>
                    <a:pt x="574929" y="203136"/>
                    <a:pt x="560959" y="189166"/>
                  </a:cubicBezTo>
                  <a:lnTo>
                    <a:pt x="382397" y="10477"/>
                  </a:lnTo>
                  <a:cubicBezTo>
                    <a:pt x="368427" y="-3493"/>
                    <a:pt x="345821" y="-3493"/>
                    <a:pt x="331851" y="10477"/>
                  </a:cubicBezTo>
                  <a:cubicBezTo>
                    <a:pt x="317881" y="24447"/>
                    <a:pt x="317881" y="47053"/>
                    <a:pt x="331851" y="61023"/>
                  </a:cubicBezTo>
                  <a:lnTo>
                    <a:pt x="449453" y="178625"/>
                  </a:lnTo>
                  <a:lnTo>
                    <a:pt x="35687" y="178625"/>
                  </a:lnTo>
                  <a:cubicBezTo>
                    <a:pt x="16002" y="178752"/>
                    <a:pt x="0" y="194627"/>
                    <a:pt x="0" y="214439"/>
                  </a:cubicBezTo>
                  <a:cubicBezTo>
                    <a:pt x="0" y="234251"/>
                    <a:pt x="16002" y="250126"/>
                    <a:pt x="35687" y="250126"/>
                  </a:cubicBezTo>
                  <a:lnTo>
                    <a:pt x="449453" y="250126"/>
                  </a:lnTo>
                  <a:lnTo>
                    <a:pt x="331851" y="367728"/>
                  </a:lnTo>
                  <a:cubicBezTo>
                    <a:pt x="317881" y="381698"/>
                    <a:pt x="317881" y="404304"/>
                    <a:pt x="331851" y="418274"/>
                  </a:cubicBezTo>
                  <a:cubicBezTo>
                    <a:pt x="345821" y="432244"/>
                    <a:pt x="368427" y="432244"/>
                    <a:pt x="382397" y="418274"/>
                  </a:cubicBezTo>
                  <a:lnTo>
                    <a:pt x="560959" y="239839"/>
                  </a:lnTo>
                  <a:close/>
                </a:path>
              </a:pathLst>
            </a:custGeom>
            <a:solidFill>
              <a:srgbClr val="008CA4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9638109" y="3740944"/>
            <a:ext cx="3548062" cy="2719388"/>
          </a:xfrm>
          <a:custGeom>
            <a:avLst/>
            <a:gdLst/>
            <a:ahLst/>
            <a:cxnLst/>
            <a:rect r="r" b="b" t="t" l="l"/>
            <a:pathLst>
              <a:path h="2719388" w="3548062">
                <a:moveTo>
                  <a:pt x="0" y="0"/>
                </a:moveTo>
                <a:lnTo>
                  <a:pt x="3548063" y="0"/>
                </a:lnTo>
                <a:lnTo>
                  <a:pt x="3548063" y="2719387"/>
                </a:lnTo>
                <a:lnTo>
                  <a:pt x="0" y="2719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0954045" y="4100512"/>
            <a:ext cx="914400" cy="914400"/>
            <a:chOff x="0" y="0"/>
            <a:chExt cx="121920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1196933" y="4386262"/>
            <a:ext cx="428625" cy="342900"/>
          </a:xfrm>
          <a:custGeom>
            <a:avLst/>
            <a:gdLst/>
            <a:ahLst/>
            <a:cxnLst/>
            <a:rect r="r" b="b" t="t" l="l"/>
            <a:pathLst>
              <a:path h="342900" w="428625">
                <a:moveTo>
                  <a:pt x="0" y="0"/>
                </a:moveTo>
                <a:lnTo>
                  <a:pt x="428625" y="0"/>
                </a:lnTo>
                <a:lnTo>
                  <a:pt x="4286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926241" y="4969114"/>
            <a:ext cx="2971800" cy="691673"/>
            <a:chOff x="0" y="0"/>
            <a:chExt cx="3962400" cy="9222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62400" cy="922231"/>
            </a:xfrm>
            <a:custGeom>
              <a:avLst/>
              <a:gdLst/>
              <a:ahLst/>
              <a:cxnLst/>
              <a:rect r="r" b="b" t="t" l="l"/>
              <a:pathLst>
                <a:path h="922231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922231"/>
                  </a:lnTo>
                  <a:lnTo>
                    <a:pt x="0" y="922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99" r="0" b="-126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3962400" cy="988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2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System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940528" y="5757862"/>
            <a:ext cx="2943225" cy="359614"/>
            <a:chOff x="0" y="0"/>
            <a:chExt cx="3924300" cy="4794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24300" cy="479485"/>
            </a:xfrm>
            <a:custGeom>
              <a:avLst/>
              <a:gdLst/>
              <a:ahLst/>
              <a:cxnLst/>
              <a:rect r="r" b="b" t="t" l="l"/>
              <a:pathLst>
                <a:path h="479485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97" r="0" b="-10714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3924300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31"/>
                </a:lnSpc>
              </a:pPr>
              <a:r>
                <a:rPr lang="en-US" sz="21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Doktor topadi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67750" y="4886325"/>
            <a:ext cx="428625" cy="428625"/>
            <a:chOff x="0" y="0"/>
            <a:chExt cx="571500" cy="571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71311"/>
              <a:ext cx="571436" cy="428752"/>
            </a:xfrm>
            <a:custGeom>
              <a:avLst/>
              <a:gdLst/>
              <a:ahLst/>
              <a:cxnLst/>
              <a:rect r="r" b="b" t="t" l="l"/>
              <a:pathLst>
                <a:path h="428752" w="571436">
                  <a:moveTo>
                    <a:pt x="560959" y="239712"/>
                  </a:moveTo>
                  <a:cubicBezTo>
                    <a:pt x="574929" y="225742"/>
                    <a:pt x="574929" y="203136"/>
                    <a:pt x="560959" y="189166"/>
                  </a:cubicBezTo>
                  <a:lnTo>
                    <a:pt x="382397" y="10477"/>
                  </a:lnTo>
                  <a:cubicBezTo>
                    <a:pt x="368427" y="-3493"/>
                    <a:pt x="345821" y="-3493"/>
                    <a:pt x="331851" y="10477"/>
                  </a:cubicBezTo>
                  <a:cubicBezTo>
                    <a:pt x="317881" y="24447"/>
                    <a:pt x="317881" y="47053"/>
                    <a:pt x="331851" y="61023"/>
                  </a:cubicBezTo>
                  <a:lnTo>
                    <a:pt x="449453" y="178625"/>
                  </a:lnTo>
                  <a:lnTo>
                    <a:pt x="35687" y="178625"/>
                  </a:lnTo>
                  <a:cubicBezTo>
                    <a:pt x="16002" y="178752"/>
                    <a:pt x="0" y="194627"/>
                    <a:pt x="0" y="214439"/>
                  </a:cubicBezTo>
                  <a:cubicBezTo>
                    <a:pt x="0" y="234251"/>
                    <a:pt x="16002" y="250126"/>
                    <a:pt x="35687" y="250126"/>
                  </a:cubicBezTo>
                  <a:lnTo>
                    <a:pt x="449453" y="250126"/>
                  </a:lnTo>
                  <a:lnTo>
                    <a:pt x="331851" y="367728"/>
                  </a:lnTo>
                  <a:cubicBezTo>
                    <a:pt x="317881" y="381698"/>
                    <a:pt x="317881" y="404304"/>
                    <a:pt x="331851" y="418274"/>
                  </a:cubicBezTo>
                  <a:cubicBezTo>
                    <a:pt x="345821" y="432244"/>
                    <a:pt x="368427" y="432244"/>
                    <a:pt x="382397" y="418274"/>
                  </a:cubicBezTo>
                  <a:lnTo>
                    <a:pt x="560959" y="239839"/>
                  </a:lnTo>
                  <a:close/>
                </a:path>
              </a:pathLst>
            </a:custGeom>
            <a:solidFill>
              <a:srgbClr val="008CA4"/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4172600" y="3740944"/>
            <a:ext cx="3548062" cy="2719388"/>
          </a:xfrm>
          <a:custGeom>
            <a:avLst/>
            <a:gdLst/>
            <a:ahLst/>
            <a:cxnLst/>
            <a:rect r="r" b="b" t="t" l="l"/>
            <a:pathLst>
              <a:path h="2719388" w="3548062">
                <a:moveTo>
                  <a:pt x="0" y="0"/>
                </a:moveTo>
                <a:lnTo>
                  <a:pt x="3548062" y="0"/>
                </a:lnTo>
                <a:lnTo>
                  <a:pt x="3548062" y="2719387"/>
                </a:lnTo>
                <a:lnTo>
                  <a:pt x="0" y="27193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5488545" y="4100512"/>
            <a:ext cx="914400" cy="914400"/>
            <a:chOff x="0" y="0"/>
            <a:chExt cx="121920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FB200">
                <a:alpha val="902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774295" y="4386262"/>
            <a:ext cx="342900" cy="342900"/>
            <a:chOff x="0" y="0"/>
            <a:chExt cx="45720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457200"/>
                  </a:moveTo>
                  <a:cubicBezTo>
                    <a:pt x="354711" y="457200"/>
                    <a:pt x="457200" y="354711"/>
                    <a:pt x="457200" y="228600"/>
                  </a:cubicBezTo>
                  <a:cubicBezTo>
                    <a:pt x="457200" y="102489"/>
                    <a:pt x="354711" y="0"/>
                    <a:pt x="228600" y="0"/>
                  </a:cubicBezTo>
                  <a:cubicBezTo>
                    <a:pt x="102489" y="0"/>
                    <a:pt x="0" y="102489"/>
                    <a:pt x="0" y="228600"/>
                  </a:cubicBezTo>
                  <a:cubicBezTo>
                    <a:pt x="0" y="354711"/>
                    <a:pt x="102489" y="457200"/>
                    <a:pt x="228600" y="457200"/>
                  </a:cubicBezTo>
                  <a:close/>
                  <a:moveTo>
                    <a:pt x="303911" y="189992"/>
                  </a:moveTo>
                  <a:lnTo>
                    <a:pt x="232537" y="304292"/>
                  </a:lnTo>
                  <a:cubicBezTo>
                    <a:pt x="228727" y="310261"/>
                    <a:pt x="222377" y="314071"/>
                    <a:pt x="215265" y="314325"/>
                  </a:cubicBezTo>
                  <a:cubicBezTo>
                    <a:pt x="208153" y="314579"/>
                    <a:pt x="201422" y="311404"/>
                    <a:pt x="197231" y="305689"/>
                  </a:cubicBezTo>
                  <a:lnTo>
                    <a:pt x="154432" y="248539"/>
                  </a:lnTo>
                  <a:cubicBezTo>
                    <a:pt x="147320" y="239014"/>
                    <a:pt x="149225" y="225679"/>
                    <a:pt x="158750" y="218567"/>
                  </a:cubicBezTo>
                  <a:cubicBezTo>
                    <a:pt x="168275" y="211455"/>
                    <a:pt x="181610" y="213360"/>
                    <a:pt x="188722" y="222885"/>
                  </a:cubicBezTo>
                  <a:lnTo>
                    <a:pt x="212852" y="255016"/>
                  </a:lnTo>
                  <a:lnTo>
                    <a:pt x="267716" y="167259"/>
                  </a:lnTo>
                  <a:cubicBezTo>
                    <a:pt x="273939" y="157226"/>
                    <a:pt x="287147" y="154178"/>
                    <a:pt x="297307" y="160528"/>
                  </a:cubicBezTo>
                  <a:cubicBezTo>
                    <a:pt x="307467" y="166878"/>
                    <a:pt x="310388" y="179959"/>
                    <a:pt x="304038" y="190119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460741" y="5097701"/>
            <a:ext cx="2971800" cy="691673"/>
            <a:chOff x="0" y="0"/>
            <a:chExt cx="3962400" cy="922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62400" cy="922231"/>
            </a:xfrm>
            <a:custGeom>
              <a:avLst/>
              <a:gdLst/>
              <a:ahLst/>
              <a:cxnLst/>
              <a:rect r="r" b="b" t="t" l="l"/>
              <a:pathLst>
                <a:path h="922231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922231"/>
                  </a:lnTo>
                  <a:lnTo>
                    <a:pt x="0" y="922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99" r="0" b="-126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3962400" cy="988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2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Result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475028" y="5757862"/>
            <a:ext cx="2943225" cy="359614"/>
            <a:chOff x="0" y="0"/>
            <a:chExt cx="3924300" cy="4794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24300" cy="479485"/>
            </a:xfrm>
            <a:custGeom>
              <a:avLst/>
              <a:gdLst/>
              <a:ahLst/>
              <a:cxnLst/>
              <a:rect r="r" b="b" t="t" l="l"/>
              <a:pathLst>
                <a:path h="479485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97" r="0" b="-10714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85725"/>
              <a:ext cx="3924300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31"/>
                </a:lnSpc>
              </a:pPr>
              <a:r>
                <a:rPr lang="en-US" sz="21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Userga chiqadi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69119" y="7141369"/>
            <a:ext cx="17149762" cy="1176338"/>
          </a:xfrm>
          <a:custGeom>
            <a:avLst/>
            <a:gdLst/>
            <a:ahLst/>
            <a:cxnLst/>
            <a:rect r="r" b="b" t="t" l="l"/>
            <a:pathLst>
              <a:path h="1176338" w="17149762">
                <a:moveTo>
                  <a:pt x="0" y="0"/>
                </a:moveTo>
                <a:lnTo>
                  <a:pt x="17149762" y="0"/>
                </a:lnTo>
                <a:lnTo>
                  <a:pt x="17149762" y="1176337"/>
                </a:lnTo>
                <a:lnTo>
                  <a:pt x="0" y="11763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5144614" y="7586662"/>
            <a:ext cx="250031" cy="285750"/>
            <a:chOff x="0" y="0"/>
            <a:chExt cx="333375" cy="381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-26" y="-11872"/>
              <a:ext cx="333427" cy="404745"/>
            </a:xfrm>
            <a:custGeom>
              <a:avLst/>
              <a:gdLst/>
              <a:ahLst/>
              <a:cxnLst/>
              <a:rect r="r" b="b" t="t" l="l"/>
              <a:pathLst>
                <a:path h="404745" w="333427">
                  <a:moveTo>
                    <a:pt x="252121" y="4506"/>
                  </a:moveTo>
                  <a:cubicBezTo>
                    <a:pt x="261011" y="10856"/>
                    <a:pt x="264313" y="22540"/>
                    <a:pt x="260249" y="32573"/>
                  </a:cubicBezTo>
                  <a:lnTo>
                    <a:pt x="201956" y="178623"/>
                  </a:lnTo>
                  <a:lnTo>
                    <a:pt x="309652" y="178623"/>
                  </a:lnTo>
                  <a:cubicBezTo>
                    <a:pt x="319685" y="178623"/>
                    <a:pt x="328575" y="184846"/>
                    <a:pt x="332004" y="194371"/>
                  </a:cubicBezTo>
                  <a:cubicBezTo>
                    <a:pt x="335433" y="203896"/>
                    <a:pt x="332512" y="214437"/>
                    <a:pt x="324892" y="220787"/>
                  </a:cubicBezTo>
                  <a:lnTo>
                    <a:pt x="110516" y="399222"/>
                  </a:lnTo>
                  <a:cubicBezTo>
                    <a:pt x="102134" y="406207"/>
                    <a:pt x="90069" y="406588"/>
                    <a:pt x="81306" y="400238"/>
                  </a:cubicBezTo>
                  <a:cubicBezTo>
                    <a:pt x="72543" y="393888"/>
                    <a:pt x="69114" y="382204"/>
                    <a:pt x="73178" y="372171"/>
                  </a:cubicBezTo>
                  <a:lnTo>
                    <a:pt x="131471" y="226248"/>
                  </a:lnTo>
                  <a:lnTo>
                    <a:pt x="23775" y="226248"/>
                  </a:lnTo>
                  <a:cubicBezTo>
                    <a:pt x="13742" y="226248"/>
                    <a:pt x="4852" y="220025"/>
                    <a:pt x="1423" y="210500"/>
                  </a:cubicBezTo>
                  <a:cubicBezTo>
                    <a:pt x="-2006" y="200975"/>
                    <a:pt x="915" y="190434"/>
                    <a:pt x="8535" y="184084"/>
                  </a:cubicBezTo>
                  <a:lnTo>
                    <a:pt x="222911" y="5522"/>
                  </a:lnTo>
                  <a:cubicBezTo>
                    <a:pt x="231293" y="-1463"/>
                    <a:pt x="243358" y="-1844"/>
                    <a:pt x="252121" y="4506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619674" y="7529512"/>
            <a:ext cx="1214438" cy="400050"/>
            <a:chOff x="0" y="0"/>
            <a:chExt cx="1619250" cy="533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19250" cy="533400"/>
            </a:xfrm>
            <a:custGeom>
              <a:avLst/>
              <a:gdLst/>
              <a:ahLst/>
              <a:cxnLst/>
              <a:rect r="r" b="b" t="t" l="l"/>
              <a:pathLst>
                <a:path h="533400" w="1619250">
                  <a:moveTo>
                    <a:pt x="0" y="0"/>
                  </a:moveTo>
                  <a:lnTo>
                    <a:pt x="1619250" y="0"/>
                  </a:lnTo>
                  <a:lnTo>
                    <a:pt x="1619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1" r="0" b="-915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16192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&lt; 5 soniya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392438" y="7500938"/>
            <a:ext cx="14288" cy="457200"/>
            <a:chOff x="0" y="0"/>
            <a:chExt cx="1905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050" cy="609600"/>
            </a:xfrm>
            <a:custGeom>
              <a:avLst/>
              <a:gdLst/>
              <a:ahLst/>
              <a:cxnLst/>
              <a:rect r="r" b="b" t="t" l="l"/>
              <a:pathLst>
                <a:path h="609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8146104" y="7586662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0" y="0"/>
                </a:moveTo>
                <a:lnTo>
                  <a:pt x="250031" y="0"/>
                </a:lnTo>
                <a:lnTo>
                  <a:pt x="250031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8621163" y="7529512"/>
            <a:ext cx="1400175" cy="400050"/>
            <a:chOff x="0" y="0"/>
            <a:chExt cx="1866900" cy="53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66900" cy="533400"/>
            </a:xfrm>
            <a:custGeom>
              <a:avLst/>
              <a:gdLst/>
              <a:ahLst/>
              <a:cxnLst/>
              <a:rect r="r" b="b" t="t" l="l"/>
              <a:pathLst>
                <a:path h="533400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76200"/>
              <a:ext cx="18669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95% aniqlik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576322" y="7500938"/>
            <a:ext cx="14288" cy="457200"/>
            <a:chOff x="0" y="0"/>
            <a:chExt cx="1905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050" cy="609600"/>
            </a:xfrm>
            <a:custGeom>
              <a:avLst/>
              <a:gdLst/>
              <a:ahLst/>
              <a:cxnLst/>
              <a:rect r="r" b="b" t="t" l="l"/>
              <a:pathLst>
                <a:path h="609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11276409" y="7586662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8" y="0"/>
                </a:lnTo>
                <a:lnTo>
                  <a:pt x="35718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1805047" y="7529512"/>
            <a:ext cx="1514475" cy="400050"/>
            <a:chOff x="0" y="0"/>
            <a:chExt cx="2019300" cy="533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19300" cy="533400"/>
            </a:xfrm>
            <a:custGeom>
              <a:avLst/>
              <a:gdLst/>
              <a:ahLst/>
              <a:cxnLst/>
              <a:rect r="r" b="b" t="t" l="l"/>
              <a:pathLst>
                <a:path h="5334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64" r="0" b="-2376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20193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24/7 ishlaydi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864175" y="372808"/>
            <a:ext cx="6226893" cy="94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5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Bu qanday ishlaydi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2981" y="337185"/>
            <a:ext cx="7008189" cy="1154430"/>
            <a:chOff x="0" y="0"/>
            <a:chExt cx="9344252" cy="1539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44251" cy="1539240"/>
            </a:xfrm>
            <a:custGeom>
              <a:avLst/>
              <a:gdLst/>
              <a:ahLst/>
              <a:cxnLst/>
              <a:rect r="r" b="b" t="t" l="l"/>
              <a:pathLst>
                <a:path h="1539240" w="9344251">
                  <a:moveTo>
                    <a:pt x="0" y="0"/>
                  </a:moveTo>
                  <a:lnTo>
                    <a:pt x="9344251" y="0"/>
                  </a:lnTo>
                  <a:lnTo>
                    <a:pt x="9344251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01" r="39043" b="-18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9344252" cy="1415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Asosiy xususiyatlar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Asosiy funksiyalar va imkoniyatlar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9119" y="2340769"/>
            <a:ext cx="8405812" cy="3562350"/>
          </a:xfrm>
          <a:custGeom>
            <a:avLst/>
            <a:gdLst/>
            <a:ahLst/>
            <a:cxnLst/>
            <a:rect r="r" b="b" t="t" l="l"/>
            <a:pathLst>
              <a:path h="3562350" w="8405812">
                <a:moveTo>
                  <a:pt x="0" y="0"/>
                </a:moveTo>
                <a:lnTo>
                  <a:pt x="8405812" y="0"/>
                </a:lnTo>
                <a:lnTo>
                  <a:pt x="8405812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08419" y="2465756"/>
            <a:ext cx="1183537" cy="1183537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32287" y="2760343"/>
            <a:ext cx="742955" cy="594364"/>
          </a:xfrm>
          <a:custGeom>
            <a:avLst/>
            <a:gdLst/>
            <a:ahLst/>
            <a:cxnLst/>
            <a:rect r="r" b="b" t="t" l="l"/>
            <a:pathLst>
              <a:path h="594364" w="742955">
                <a:moveTo>
                  <a:pt x="0" y="0"/>
                </a:moveTo>
                <a:lnTo>
                  <a:pt x="742955" y="0"/>
                </a:lnTo>
                <a:lnTo>
                  <a:pt x="742955" y="594364"/>
                </a:lnTo>
                <a:lnTo>
                  <a:pt x="0" y="5943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060848" y="2547271"/>
            <a:ext cx="1711177" cy="1020508"/>
            <a:chOff x="0" y="0"/>
            <a:chExt cx="2281570" cy="13606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1570" cy="1360678"/>
            </a:xfrm>
            <a:custGeom>
              <a:avLst/>
              <a:gdLst/>
              <a:ahLst/>
              <a:cxnLst/>
              <a:rect r="r" b="b" t="t" l="l"/>
              <a:pathLst>
                <a:path h="1360678" w="2281570">
                  <a:moveTo>
                    <a:pt x="0" y="0"/>
                  </a:moveTo>
                  <a:lnTo>
                    <a:pt x="2281570" y="0"/>
                  </a:lnTo>
                  <a:lnTo>
                    <a:pt x="2281570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8" r="25689" b="533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1570" cy="1398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AI Chat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3853578"/>
            <a:ext cx="7586662" cy="882234"/>
            <a:chOff x="0" y="0"/>
            <a:chExt cx="10115550" cy="11763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15550" cy="1176313"/>
            </a:xfrm>
            <a:custGeom>
              <a:avLst/>
              <a:gdLst/>
              <a:ahLst/>
              <a:cxnLst/>
              <a:rect r="r" b="b" t="t" l="l"/>
              <a:pathLst>
                <a:path h="1176313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1176313"/>
                  </a:lnTo>
                  <a:lnTo>
                    <a:pt x="0" y="117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84" r="0" b="-1153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10115550" cy="1290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5"/>
                </a:lnSpc>
              </a:pPr>
              <a:r>
                <a:rPr lang="en-US" sz="23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Sun'iy intellekt bilan suhbat orqali simptomlarni tahlil qilish va doktorga yo`naltirish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2988" y="5022056"/>
            <a:ext cx="1285875" cy="400050"/>
            <a:chOff x="0" y="0"/>
            <a:chExt cx="171450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145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14500">
                  <a:moveTo>
                    <a:pt x="266700" y="0"/>
                  </a:moveTo>
                  <a:lnTo>
                    <a:pt x="1447800" y="0"/>
                  </a:lnTo>
                  <a:cubicBezTo>
                    <a:pt x="1594993" y="0"/>
                    <a:pt x="1714500" y="119507"/>
                    <a:pt x="1714500" y="266700"/>
                  </a:cubicBezTo>
                  <a:cubicBezTo>
                    <a:pt x="1714500" y="413893"/>
                    <a:pt x="1594993" y="533400"/>
                    <a:pt x="14478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92981" y="5019675"/>
            <a:ext cx="1385888" cy="400050"/>
            <a:chOff x="0" y="0"/>
            <a:chExt cx="184785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4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478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008CA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Gemini API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47182" y="5022056"/>
            <a:ext cx="685800" cy="400050"/>
            <a:chOff x="0" y="0"/>
            <a:chExt cx="9144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33400"/>
            </a:xfrm>
            <a:custGeom>
              <a:avLst/>
              <a:gdLst/>
              <a:ahLst/>
              <a:cxnLst/>
              <a:rect r="r" b="b" t="t" l="l"/>
              <a:pathLst>
                <a:path h="533400" w="914400">
                  <a:moveTo>
                    <a:pt x="266700" y="0"/>
                  </a:moveTo>
                  <a:lnTo>
                    <a:pt x="647700" y="0"/>
                  </a:lnTo>
                  <a:cubicBezTo>
                    <a:pt x="794893" y="0"/>
                    <a:pt x="914400" y="119507"/>
                    <a:pt x="914400" y="266700"/>
                  </a:cubicBezTo>
                  <a:cubicBezTo>
                    <a:pt x="914400" y="413893"/>
                    <a:pt x="794893" y="533400"/>
                    <a:pt x="6477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288624" y="4964412"/>
            <a:ext cx="1002916" cy="510575"/>
            <a:chOff x="0" y="0"/>
            <a:chExt cx="104775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7750" cy="533400"/>
            </a:xfrm>
            <a:custGeom>
              <a:avLst/>
              <a:gdLst/>
              <a:ahLst/>
              <a:cxnLst/>
              <a:rect r="r" b="b" t="t" l="l"/>
              <a:pathLst>
                <a:path h="533400" w="1047750">
                  <a:moveTo>
                    <a:pt x="0" y="0"/>
                  </a:moveTo>
                  <a:lnTo>
                    <a:pt x="1047750" y="0"/>
                  </a:lnTo>
                  <a:lnTo>
                    <a:pt x="1047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477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008CA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NLP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313069" y="2340769"/>
            <a:ext cx="8405812" cy="3562350"/>
          </a:xfrm>
          <a:custGeom>
            <a:avLst/>
            <a:gdLst/>
            <a:ahLst/>
            <a:cxnLst/>
            <a:rect r="r" b="b" t="t" l="l"/>
            <a:pathLst>
              <a:path h="3562350" w="8405812">
                <a:moveTo>
                  <a:pt x="0" y="0"/>
                </a:moveTo>
                <a:lnTo>
                  <a:pt x="8405812" y="0"/>
                </a:lnTo>
                <a:lnTo>
                  <a:pt x="8405812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652369" y="2465756"/>
            <a:ext cx="1183537" cy="1183537"/>
            <a:chOff x="0" y="0"/>
            <a:chExt cx="121920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9828014" y="2724626"/>
            <a:ext cx="832247" cy="665797"/>
          </a:xfrm>
          <a:custGeom>
            <a:avLst/>
            <a:gdLst/>
            <a:ahLst/>
            <a:cxnLst/>
            <a:rect r="r" b="b" t="t" l="l"/>
            <a:pathLst>
              <a:path h="665797" w="832247">
                <a:moveTo>
                  <a:pt x="0" y="0"/>
                </a:moveTo>
                <a:lnTo>
                  <a:pt x="832247" y="0"/>
                </a:lnTo>
                <a:lnTo>
                  <a:pt x="832247" y="665798"/>
                </a:lnTo>
                <a:lnTo>
                  <a:pt x="0" y="6657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693156" y="2628785"/>
            <a:ext cx="5337544" cy="1020508"/>
            <a:chOff x="0" y="0"/>
            <a:chExt cx="7116725" cy="13606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16725" cy="1360678"/>
            </a:xfrm>
            <a:custGeom>
              <a:avLst/>
              <a:gdLst/>
              <a:ahLst/>
              <a:cxnLst/>
              <a:rect r="r" b="b" t="t" l="l"/>
              <a:pathLst>
                <a:path h="1360678" w="7116725">
                  <a:moveTo>
                    <a:pt x="0" y="0"/>
                  </a:moveTo>
                  <a:lnTo>
                    <a:pt x="7116725" y="0"/>
                  </a:lnTo>
                  <a:lnTo>
                    <a:pt x="7116725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57" r="52353" b="290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116725" cy="1398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Joylashuvga asoslangan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86938" y="3853578"/>
            <a:ext cx="7586662" cy="882234"/>
            <a:chOff x="0" y="0"/>
            <a:chExt cx="10115550" cy="117631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15550" cy="1176313"/>
            </a:xfrm>
            <a:custGeom>
              <a:avLst/>
              <a:gdLst/>
              <a:ahLst/>
              <a:cxnLst/>
              <a:rect r="r" b="b" t="t" l="l"/>
              <a:pathLst>
                <a:path h="1176313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1176313"/>
                  </a:lnTo>
                  <a:lnTo>
                    <a:pt x="0" y="117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84" r="0" b="-1153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14300"/>
              <a:ext cx="10115550" cy="1290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5"/>
                </a:lnSpc>
              </a:pPr>
              <a:r>
                <a:rPr lang="en-US" sz="23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Geolokatsiya orqali eng yaqin va qulay klinikalarni aniqlash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86938" y="5022056"/>
            <a:ext cx="700088" cy="400050"/>
            <a:chOff x="0" y="0"/>
            <a:chExt cx="933450" cy="533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3450" cy="533400"/>
            </a:xfrm>
            <a:custGeom>
              <a:avLst/>
              <a:gdLst/>
              <a:ahLst/>
              <a:cxnLst/>
              <a:rect r="r" b="b" t="t" l="l"/>
              <a:pathLst>
                <a:path h="533400" w="933450">
                  <a:moveTo>
                    <a:pt x="266700" y="0"/>
                  </a:moveTo>
                  <a:lnTo>
                    <a:pt x="666750" y="0"/>
                  </a:lnTo>
                  <a:cubicBezTo>
                    <a:pt x="813943" y="0"/>
                    <a:pt x="933450" y="119507"/>
                    <a:pt x="933450" y="266700"/>
                  </a:cubicBezTo>
                  <a:cubicBezTo>
                    <a:pt x="933450" y="413893"/>
                    <a:pt x="813943" y="533400"/>
                    <a:pt x="66675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736931" y="5018484"/>
            <a:ext cx="800100" cy="400050"/>
            <a:chOff x="0" y="0"/>
            <a:chExt cx="1066800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6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668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008CA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GPS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594629" y="5022056"/>
            <a:ext cx="1200150" cy="400050"/>
            <a:chOff x="0" y="0"/>
            <a:chExt cx="1600200" cy="533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002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00200">
                  <a:moveTo>
                    <a:pt x="266700" y="0"/>
                  </a:moveTo>
                  <a:lnTo>
                    <a:pt x="1333500" y="0"/>
                  </a:lnTo>
                  <a:cubicBezTo>
                    <a:pt x="1480693" y="0"/>
                    <a:pt x="1600200" y="119507"/>
                    <a:pt x="1600200" y="266700"/>
                  </a:cubicBezTo>
                  <a:cubicBezTo>
                    <a:pt x="1600200" y="413893"/>
                    <a:pt x="1480693" y="533400"/>
                    <a:pt x="13335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544623" y="5029200"/>
            <a:ext cx="1300162" cy="400050"/>
            <a:chOff x="0" y="0"/>
            <a:chExt cx="173355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33550" cy="533400"/>
            </a:xfrm>
            <a:custGeom>
              <a:avLst/>
              <a:gdLst/>
              <a:ahLst/>
              <a:cxnLst/>
              <a:rect r="r" b="b" t="t" l="l"/>
              <a:pathLst>
                <a:path h="533400" w="1733550">
                  <a:moveTo>
                    <a:pt x="0" y="0"/>
                  </a:moveTo>
                  <a:lnTo>
                    <a:pt x="1733550" y="0"/>
                  </a:lnTo>
                  <a:lnTo>
                    <a:pt x="1733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7335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008CA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Real-time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569119" y="6234112"/>
            <a:ext cx="8405812" cy="3562350"/>
          </a:xfrm>
          <a:custGeom>
            <a:avLst/>
            <a:gdLst/>
            <a:ahLst/>
            <a:cxnLst/>
            <a:rect r="r" b="b" t="t" l="l"/>
            <a:pathLst>
              <a:path h="3562350" w="8405812">
                <a:moveTo>
                  <a:pt x="0" y="0"/>
                </a:moveTo>
                <a:lnTo>
                  <a:pt x="8405812" y="0"/>
                </a:lnTo>
                <a:lnTo>
                  <a:pt x="8405812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934645" y="6398419"/>
            <a:ext cx="1138237" cy="1138237"/>
            <a:chOff x="0" y="0"/>
            <a:chExt cx="121920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166222" y="6650831"/>
            <a:ext cx="675084" cy="600075"/>
          </a:xfrm>
          <a:custGeom>
            <a:avLst/>
            <a:gdLst/>
            <a:ahLst/>
            <a:cxnLst/>
            <a:rect r="r" b="b" t="t" l="l"/>
            <a:pathLst>
              <a:path h="600075" w="675084">
                <a:moveTo>
                  <a:pt x="0" y="0"/>
                </a:moveTo>
                <a:lnTo>
                  <a:pt x="675084" y="0"/>
                </a:lnTo>
                <a:lnTo>
                  <a:pt x="675084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3060848" y="6434138"/>
            <a:ext cx="4573729" cy="1033462"/>
            <a:chOff x="0" y="0"/>
            <a:chExt cx="6098305" cy="13779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98305" cy="1377950"/>
            </a:xfrm>
            <a:custGeom>
              <a:avLst/>
              <a:gdLst/>
              <a:ahLst/>
              <a:cxnLst/>
              <a:rect r="r" b="b" t="t" l="l"/>
              <a:pathLst>
                <a:path h="1377950" w="6098305">
                  <a:moveTo>
                    <a:pt x="0" y="0"/>
                  </a:moveTo>
                  <a:lnTo>
                    <a:pt x="6098305" y="0"/>
                  </a:lnTo>
                  <a:lnTo>
                    <a:pt x="6098305" y="1377950"/>
                  </a:lnTo>
                  <a:lnTo>
                    <a:pt x="0" y="1377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72" r="50956" b="3558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098305" cy="141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Shifokorlar reytingi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2988" y="7777321"/>
            <a:ext cx="7586662" cy="882234"/>
            <a:chOff x="0" y="0"/>
            <a:chExt cx="10115550" cy="117631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15550" cy="1176313"/>
            </a:xfrm>
            <a:custGeom>
              <a:avLst/>
              <a:gdLst/>
              <a:ahLst/>
              <a:cxnLst/>
              <a:rect r="r" b="b" t="t" l="l"/>
              <a:pathLst>
                <a:path h="1176313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1176313"/>
                  </a:lnTo>
                  <a:lnTo>
                    <a:pt x="0" y="117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84" r="0" b="-11533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14300"/>
              <a:ext cx="10115550" cy="1290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5"/>
                </a:lnSpc>
              </a:pPr>
              <a:r>
                <a:rPr lang="en-US" sz="23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Bemorlar baholari va sharhlari asosida sifatli doktorlarni tanlash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42988" y="8915400"/>
            <a:ext cx="1071562" cy="400050"/>
            <a:chOff x="0" y="0"/>
            <a:chExt cx="1428750" cy="533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28750" cy="533400"/>
            </a:xfrm>
            <a:custGeom>
              <a:avLst/>
              <a:gdLst/>
              <a:ahLst/>
              <a:cxnLst/>
              <a:rect r="r" b="b" t="t" l="l"/>
              <a:pathLst>
                <a:path h="533400" w="1428750">
                  <a:moveTo>
                    <a:pt x="266700" y="0"/>
                  </a:moveTo>
                  <a:lnTo>
                    <a:pt x="1162050" y="0"/>
                  </a:lnTo>
                  <a:cubicBezTo>
                    <a:pt x="1309243" y="0"/>
                    <a:pt x="1428750" y="119507"/>
                    <a:pt x="1428750" y="266700"/>
                  </a:cubicBezTo>
                  <a:cubicBezTo>
                    <a:pt x="1428750" y="413893"/>
                    <a:pt x="1309243" y="533400"/>
                    <a:pt x="116205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92981" y="8913019"/>
            <a:ext cx="1171575" cy="400050"/>
            <a:chOff x="0" y="0"/>
            <a:chExt cx="156210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62100" cy="533400"/>
            </a:xfrm>
            <a:custGeom>
              <a:avLst/>
              <a:gdLst/>
              <a:ahLst/>
              <a:cxnLst/>
              <a:rect r="r" b="b" t="t" l="l"/>
              <a:pathLst>
                <a:path h="533400" w="1562100">
                  <a:moveTo>
                    <a:pt x="0" y="0"/>
                  </a:moveTo>
                  <a:lnTo>
                    <a:pt x="1562100" y="0"/>
                  </a:lnTo>
                  <a:lnTo>
                    <a:pt x="1562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3" r="0" b="-706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5621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FB2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Reviews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228183" y="8915400"/>
            <a:ext cx="1343025" cy="400050"/>
            <a:chOff x="0" y="0"/>
            <a:chExt cx="1790700" cy="533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907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90700">
                  <a:moveTo>
                    <a:pt x="266700" y="0"/>
                  </a:moveTo>
                  <a:lnTo>
                    <a:pt x="1524000" y="0"/>
                  </a:lnTo>
                  <a:cubicBezTo>
                    <a:pt x="1671193" y="0"/>
                    <a:pt x="1790700" y="119507"/>
                    <a:pt x="1790700" y="266700"/>
                  </a:cubicBezTo>
                  <a:cubicBezTo>
                    <a:pt x="1790700" y="413893"/>
                    <a:pt x="1671193" y="533400"/>
                    <a:pt x="15240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2157079" y="8922544"/>
            <a:ext cx="1443038" cy="400050"/>
            <a:chOff x="0" y="0"/>
            <a:chExt cx="1924050" cy="533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24050" cy="533400"/>
            </a:xfrm>
            <a:custGeom>
              <a:avLst/>
              <a:gdLst/>
              <a:ahLst/>
              <a:cxnLst/>
              <a:rect r="r" b="b" t="t" l="l"/>
              <a:pathLst>
                <a:path h="533400" w="1924050">
                  <a:moveTo>
                    <a:pt x="0" y="0"/>
                  </a:moveTo>
                  <a:lnTo>
                    <a:pt x="1924050" y="0"/>
                  </a:lnTo>
                  <a:lnTo>
                    <a:pt x="1924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5" r="0" b="-2028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9240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FB2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5★ System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9313069" y="6234112"/>
            <a:ext cx="8405812" cy="3562350"/>
          </a:xfrm>
          <a:custGeom>
            <a:avLst/>
            <a:gdLst/>
            <a:ahLst/>
            <a:cxnLst/>
            <a:rect r="r" b="b" t="t" l="l"/>
            <a:pathLst>
              <a:path h="3562350" w="8405812">
                <a:moveTo>
                  <a:pt x="0" y="0"/>
                </a:moveTo>
                <a:lnTo>
                  <a:pt x="8405812" y="0"/>
                </a:lnTo>
                <a:lnTo>
                  <a:pt x="8405812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9652369" y="6398419"/>
            <a:ext cx="1138237" cy="1138237"/>
            <a:chOff x="0" y="0"/>
            <a:chExt cx="121920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9879806" y="6603206"/>
            <a:ext cx="728662" cy="728662"/>
          </a:xfrm>
          <a:custGeom>
            <a:avLst/>
            <a:gdLst/>
            <a:ahLst/>
            <a:cxnLst/>
            <a:rect r="r" b="b" t="t" l="l"/>
            <a:pathLst>
              <a:path h="728662" w="728662">
                <a:moveTo>
                  <a:pt x="0" y="0"/>
                </a:moveTo>
                <a:lnTo>
                  <a:pt x="728663" y="0"/>
                </a:lnTo>
                <a:lnTo>
                  <a:pt x="728663" y="728663"/>
                </a:lnTo>
                <a:lnTo>
                  <a:pt x="0" y="7286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2238406" y="6450806"/>
            <a:ext cx="2096941" cy="1033462"/>
            <a:chOff x="0" y="0"/>
            <a:chExt cx="2795921" cy="13779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795921" cy="1377950"/>
            </a:xfrm>
            <a:custGeom>
              <a:avLst/>
              <a:gdLst/>
              <a:ahLst/>
              <a:cxnLst/>
              <a:rect r="r" b="b" t="t" l="l"/>
              <a:pathLst>
                <a:path h="1377950" w="2795921">
                  <a:moveTo>
                    <a:pt x="0" y="0"/>
                  </a:moveTo>
                  <a:lnTo>
                    <a:pt x="2795921" y="0"/>
                  </a:lnTo>
                  <a:lnTo>
                    <a:pt x="2795921" y="1377950"/>
                  </a:lnTo>
                  <a:lnTo>
                    <a:pt x="0" y="1377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03" r="27095" b="4905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795921" cy="141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Premium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86938" y="7736681"/>
            <a:ext cx="7586662" cy="882234"/>
            <a:chOff x="0" y="0"/>
            <a:chExt cx="10115550" cy="117631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115550" cy="1176313"/>
            </a:xfrm>
            <a:custGeom>
              <a:avLst/>
              <a:gdLst/>
              <a:ahLst/>
              <a:cxnLst/>
              <a:rect r="r" b="b" t="t" l="l"/>
              <a:pathLst>
                <a:path h="1176313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1176313"/>
                  </a:lnTo>
                  <a:lnTo>
                    <a:pt x="0" y="117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84" r="0" b="-11533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14300"/>
              <a:ext cx="10115550" cy="1290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5"/>
                </a:lnSpc>
              </a:pPr>
              <a:r>
                <a:rPr lang="en-US" sz="23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Qo'shimcha funksiyalar: tezkor navbat, video konsultatsiya, saqlangan tahlillar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786938" y="8915400"/>
            <a:ext cx="1214438" cy="400050"/>
            <a:chOff x="0" y="0"/>
            <a:chExt cx="1619250" cy="533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19250" cy="533400"/>
            </a:xfrm>
            <a:custGeom>
              <a:avLst/>
              <a:gdLst/>
              <a:ahLst/>
              <a:cxnLst/>
              <a:rect r="r" b="b" t="t" l="l"/>
              <a:pathLst>
                <a:path h="533400" w="1619250">
                  <a:moveTo>
                    <a:pt x="266700" y="0"/>
                  </a:moveTo>
                  <a:lnTo>
                    <a:pt x="1352550" y="0"/>
                  </a:lnTo>
                  <a:cubicBezTo>
                    <a:pt x="1499743" y="0"/>
                    <a:pt x="1619250" y="119507"/>
                    <a:pt x="1619250" y="266700"/>
                  </a:cubicBezTo>
                  <a:cubicBezTo>
                    <a:pt x="1619250" y="413893"/>
                    <a:pt x="1499743" y="533400"/>
                    <a:pt x="135255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736931" y="8922544"/>
            <a:ext cx="1314450" cy="400050"/>
            <a:chOff x="0" y="0"/>
            <a:chExt cx="1752600" cy="533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526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7526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FB2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Freemium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116123" y="8915400"/>
            <a:ext cx="628650" cy="400050"/>
            <a:chOff x="0" y="0"/>
            <a:chExt cx="838200" cy="533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38200" cy="533400"/>
            </a:xfrm>
            <a:custGeom>
              <a:avLst/>
              <a:gdLst/>
              <a:ahLst/>
              <a:cxnLst/>
              <a:rect r="r" b="b" t="t" l="l"/>
              <a:pathLst>
                <a:path h="533400" w="838200">
                  <a:moveTo>
                    <a:pt x="266700" y="0"/>
                  </a:moveTo>
                  <a:lnTo>
                    <a:pt x="571500" y="0"/>
                  </a:lnTo>
                  <a:cubicBezTo>
                    <a:pt x="718693" y="0"/>
                    <a:pt x="838200" y="119507"/>
                    <a:pt x="838200" y="266700"/>
                  </a:cubicBezTo>
                  <a:cubicBezTo>
                    <a:pt x="838200" y="413893"/>
                    <a:pt x="718693" y="533400"/>
                    <a:pt x="571500" y="533400"/>
                  </a:cubicBezTo>
                  <a:lnTo>
                    <a:pt x="266700" y="533400"/>
                  </a:lnTo>
                  <a:cubicBezTo>
                    <a:pt x="119507" y="533400"/>
                    <a:pt x="0" y="413893"/>
                    <a:pt x="0" y="266700"/>
                  </a:cubicBezTo>
                  <a:cubicBezTo>
                    <a:pt x="0" y="119507"/>
                    <a:pt x="119507" y="0"/>
                    <a:pt x="2667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066116" y="8915400"/>
            <a:ext cx="728662" cy="400050"/>
            <a:chOff x="0" y="0"/>
            <a:chExt cx="971550" cy="533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71550" cy="533400"/>
            </a:xfrm>
            <a:custGeom>
              <a:avLst/>
              <a:gdLst/>
              <a:ahLst/>
              <a:cxnLst/>
              <a:rect r="r" b="b" t="t" l="l"/>
              <a:pathLst>
                <a:path h="533400" w="971550">
                  <a:moveTo>
                    <a:pt x="0" y="0"/>
                  </a:moveTo>
                  <a:lnTo>
                    <a:pt x="971550" y="0"/>
                  </a:lnTo>
                  <a:lnTo>
                    <a:pt x="971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441" t="0" r="-20441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97155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FB2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71500"/>
            <a:ext cx="2157412" cy="685800"/>
            <a:chOff x="0" y="0"/>
            <a:chExt cx="287655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76550" cy="914400"/>
            </a:xfrm>
            <a:custGeom>
              <a:avLst/>
              <a:gdLst/>
              <a:ahLst/>
              <a:cxnLst/>
              <a:rect r="r" b="b" t="t" l="l"/>
              <a:pathLst>
                <a:path h="914400" w="2876550">
                  <a:moveTo>
                    <a:pt x="0" y="0"/>
                  </a:moveTo>
                  <a:lnTo>
                    <a:pt x="2876550" y="0"/>
                  </a:lnTo>
                  <a:lnTo>
                    <a:pt x="28765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6" r="0" b="-112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287655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Demo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Haqiqiy foydalanuvchi tajribasi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9119" y="2226469"/>
            <a:ext cx="11377612" cy="3633788"/>
          </a:xfrm>
          <a:custGeom>
            <a:avLst/>
            <a:gdLst/>
            <a:ahLst/>
            <a:cxnLst/>
            <a:rect r="r" b="b" t="t" l="l"/>
            <a:pathLst>
              <a:path h="3633788" w="11377612">
                <a:moveTo>
                  <a:pt x="0" y="0"/>
                </a:moveTo>
                <a:lnTo>
                  <a:pt x="11377612" y="0"/>
                </a:lnTo>
                <a:lnTo>
                  <a:pt x="11377612" y="3633787"/>
                </a:lnTo>
                <a:lnTo>
                  <a:pt x="0" y="3633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85800" y="2343150"/>
            <a:ext cx="757238" cy="757238"/>
            <a:chOff x="0" y="0"/>
            <a:chExt cx="762000" cy="76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228600" y="0"/>
                  </a:moveTo>
                  <a:lnTo>
                    <a:pt x="533400" y="0"/>
                  </a:lnTo>
                  <a:cubicBezTo>
                    <a:pt x="659511" y="0"/>
                    <a:pt x="762000" y="102489"/>
                    <a:pt x="762000" y="228600"/>
                  </a:cubicBezTo>
                  <a:lnTo>
                    <a:pt x="762000" y="533400"/>
                  </a:lnTo>
                  <a:cubicBezTo>
                    <a:pt x="762000" y="659511"/>
                    <a:pt x="659511" y="762000"/>
                    <a:pt x="533400" y="762000"/>
                  </a:cubicBezTo>
                  <a:lnTo>
                    <a:pt x="228600" y="762000"/>
                  </a:lnTo>
                  <a:cubicBezTo>
                    <a:pt x="102489" y="762000"/>
                    <a:pt x="0" y="659511"/>
                    <a:pt x="0" y="533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19745" y="2523331"/>
            <a:ext cx="446484" cy="396875"/>
          </a:xfrm>
          <a:custGeom>
            <a:avLst/>
            <a:gdLst/>
            <a:ahLst/>
            <a:cxnLst/>
            <a:rect r="r" b="b" t="t" l="l"/>
            <a:pathLst>
              <a:path h="396875" w="446484">
                <a:moveTo>
                  <a:pt x="0" y="0"/>
                </a:moveTo>
                <a:lnTo>
                  <a:pt x="446485" y="0"/>
                </a:lnTo>
                <a:lnTo>
                  <a:pt x="44648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13669" y="2364406"/>
            <a:ext cx="3498446" cy="793131"/>
            <a:chOff x="0" y="0"/>
            <a:chExt cx="4664594" cy="10575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64594" cy="1057508"/>
            </a:xfrm>
            <a:custGeom>
              <a:avLst/>
              <a:gdLst/>
              <a:ahLst/>
              <a:cxnLst/>
              <a:rect r="r" b="b" t="t" l="l"/>
              <a:pathLst>
                <a:path h="1057508" w="4664594">
                  <a:moveTo>
                    <a:pt x="0" y="0"/>
                  </a:moveTo>
                  <a:lnTo>
                    <a:pt x="4664594" y="0"/>
                  </a:lnTo>
                  <a:lnTo>
                    <a:pt x="4664594" y="1057508"/>
                  </a:lnTo>
                  <a:lnTo>
                    <a:pt x="0" y="10575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9" r="35473" b="1932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664594" cy="1124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91"/>
                </a:lnSpc>
              </a:pPr>
              <a:r>
                <a:rPr lang="en-US" sz="30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AI Chat Interface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0112" y="3328988"/>
            <a:ext cx="10744200" cy="1028700"/>
            <a:chOff x="0" y="0"/>
            <a:chExt cx="1432560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25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325600">
                  <a:moveTo>
                    <a:pt x="76200" y="0"/>
                  </a:moveTo>
                  <a:lnTo>
                    <a:pt x="14097000" y="0"/>
                  </a:lnTo>
                  <a:cubicBezTo>
                    <a:pt x="14223112" y="0"/>
                    <a:pt x="14325600" y="102489"/>
                    <a:pt x="14325600" y="228600"/>
                  </a:cubicBezTo>
                  <a:lnTo>
                    <a:pt x="14325600" y="1143000"/>
                  </a:lnTo>
                  <a:cubicBezTo>
                    <a:pt x="14325600" y="1269111"/>
                    <a:pt x="14223112" y="1371600"/>
                    <a:pt x="14097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>
                <a:alpha val="784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00112" y="3328988"/>
            <a:ext cx="57150" cy="1028700"/>
            <a:chOff x="0" y="0"/>
            <a:chExt cx="762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64419" y="3433816"/>
            <a:ext cx="10472738" cy="295221"/>
            <a:chOff x="0" y="0"/>
            <a:chExt cx="13963650" cy="3936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63650" cy="393628"/>
            </a:xfrm>
            <a:custGeom>
              <a:avLst/>
              <a:gdLst/>
              <a:ahLst/>
              <a:cxnLst/>
              <a:rect r="r" b="b" t="t" l="l"/>
              <a:pathLst>
                <a:path h="393628" w="13963650">
                  <a:moveTo>
                    <a:pt x="0" y="0"/>
                  </a:moveTo>
                  <a:lnTo>
                    <a:pt x="13963650" y="0"/>
                  </a:lnTo>
                  <a:lnTo>
                    <a:pt x="13963650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2820" r="0" b="-63961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3963650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User: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57275" y="3778884"/>
            <a:ext cx="10487025" cy="407353"/>
            <a:chOff x="0" y="0"/>
            <a:chExt cx="13982700" cy="5431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982700" cy="543137"/>
            </a:xfrm>
            <a:custGeom>
              <a:avLst/>
              <a:gdLst/>
              <a:ahLst/>
              <a:cxnLst/>
              <a:rect r="r" b="b" t="t" l="l"/>
              <a:pathLst>
                <a:path h="543137" w="13982700">
                  <a:moveTo>
                    <a:pt x="0" y="0"/>
                  </a:moveTo>
                  <a:lnTo>
                    <a:pt x="13982700" y="0"/>
                  </a:lnTo>
                  <a:lnTo>
                    <a:pt x="13982700" y="543137"/>
                  </a:lnTo>
                  <a:lnTo>
                    <a:pt x="0" y="5431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540" r="0" b="-44371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3982700" cy="628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24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Mening boshim og'rib, isitmam bor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0112" y="4529138"/>
            <a:ext cx="10744200" cy="1028700"/>
            <a:chOff x="0" y="0"/>
            <a:chExt cx="143256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325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325600">
                  <a:moveTo>
                    <a:pt x="76200" y="0"/>
                  </a:moveTo>
                  <a:lnTo>
                    <a:pt x="14097000" y="0"/>
                  </a:lnTo>
                  <a:cubicBezTo>
                    <a:pt x="14223112" y="0"/>
                    <a:pt x="14325600" y="102489"/>
                    <a:pt x="14325600" y="228600"/>
                  </a:cubicBezTo>
                  <a:lnTo>
                    <a:pt x="14325600" y="1143000"/>
                  </a:lnTo>
                  <a:cubicBezTo>
                    <a:pt x="14325600" y="1269111"/>
                    <a:pt x="14223112" y="1371600"/>
                    <a:pt x="14097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B200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00112" y="4529138"/>
            <a:ext cx="57150" cy="1028700"/>
            <a:chOff x="0" y="0"/>
            <a:chExt cx="762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B20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28700" y="4633912"/>
            <a:ext cx="10472738" cy="295221"/>
            <a:chOff x="0" y="0"/>
            <a:chExt cx="13963650" cy="3936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963650" cy="393628"/>
            </a:xfrm>
            <a:custGeom>
              <a:avLst/>
              <a:gdLst/>
              <a:ahLst/>
              <a:cxnLst/>
              <a:rect r="r" b="b" t="t" l="l"/>
              <a:pathLst>
                <a:path h="393628" w="13963650">
                  <a:moveTo>
                    <a:pt x="0" y="0"/>
                  </a:moveTo>
                  <a:lnTo>
                    <a:pt x="13963650" y="0"/>
                  </a:lnTo>
                  <a:lnTo>
                    <a:pt x="13963650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2820" r="0" b="-63961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3963650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AI: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5043488"/>
            <a:ext cx="10487025" cy="407353"/>
            <a:chOff x="0" y="0"/>
            <a:chExt cx="13982700" cy="54313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982700" cy="543137"/>
            </a:xfrm>
            <a:custGeom>
              <a:avLst/>
              <a:gdLst/>
              <a:ahLst/>
              <a:cxnLst/>
              <a:rect r="r" b="b" t="t" l="l"/>
              <a:pathLst>
                <a:path h="543137" w="13982700">
                  <a:moveTo>
                    <a:pt x="0" y="0"/>
                  </a:moveTo>
                  <a:lnTo>
                    <a:pt x="13982700" y="0"/>
                  </a:lnTo>
                  <a:lnTo>
                    <a:pt x="13982700" y="543137"/>
                  </a:lnTo>
                  <a:lnTo>
                    <a:pt x="0" y="5431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540" r="0" b="-44371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13982700" cy="628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2499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Sizga terapevt yoki nevropatolog kerak. Eng yaqin doktorlar: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569119" y="6084094"/>
            <a:ext cx="11377612" cy="3633788"/>
          </a:xfrm>
          <a:custGeom>
            <a:avLst/>
            <a:gdLst/>
            <a:ahLst/>
            <a:cxnLst/>
            <a:rect r="r" b="b" t="t" l="l"/>
            <a:pathLst>
              <a:path h="3633788" w="11377612">
                <a:moveTo>
                  <a:pt x="0" y="0"/>
                </a:moveTo>
                <a:lnTo>
                  <a:pt x="11377612" y="0"/>
                </a:lnTo>
                <a:lnTo>
                  <a:pt x="11377612" y="3633787"/>
                </a:lnTo>
                <a:lnTo>
                  <a:pt x="0" y="3633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673894" y="6203156"/>
            <a:ext cx="754856" cy="754856"/>
            <a:chOff x="0" y="0"/>
            <a:chExt cx="762000" cy="762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228600" y="0"/>
                  </a:moveTo>
                  <a:lnTo>
                    <a:pt x="533400" y="0"/>
                  </a:lnTo>
                  <a:cubicBezTo>
                    <a:pt x="659511" y="0"/>
                    <a:pt x="762000" y="102489"/>
                    <a:pt x="762000" y="228600"/>
                  </a:cubicBezTo>
                  <a:lnTo>
                    <a:pt x="762000" y="533400"/>
                  </a:lnTo>
                  <a:cubicBezTo>
                    <a:pt x="762000" y="659511"/>
                    <a:pt x="659511" y="762000"/>
                    <a:pt x="533400" y="762000"/>
                  </a:cubicBezTo>
                  <a:lnTo>
                    <a:pt x="228600" y="762000"/>
                  </a:lnTo>
                  <a:cubicBezTo>
                    <a:pt x="102489" y="762000"/>
                    <a:pt x="0" y="659511"/>
                    <a:pt x="0" y="533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858441" y="6387703"/>
            <a:ext cx="385762" cy="385762"/>
          </a:xfrm>
          <a:custGeom>
            <a:avLst/>
            <a:gdLst/>
            <a:ahLst/>
            <a:cxnLst/>
            <a:rect r="r" b="b" t="t" l="l"/>
            <a:pathLst>
              <a:path h="385762" w="385762">
                <a:moveTo>
                  <a:pt x="0" y="0"/>
                </a:moveTo>
                <a:lnTo>
                  <a:pt x="385762" y="0"/>
                </a:lnTo>
                <a:lnTo>
                  <a:pt x="385762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785938" y="6117431"/>
            <a:ext cx="2312582" cy="926306"/>
            <a:chOff x="0" y="0"/>
            <a:chExt cx="3083443" cy="12350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83443" cy="1235075"/>
            </a:xfrm>
            <a:custGeom>
              <a:avLst/>
              <a:gdLst/>
              <a:ahLst/>
              <a:cxnLst/>
              <a:rect r="r" b="b" t="t" l="l"/>
              <a:pathLst>
                <a:path h="1235075" w="3083443">
                  <a:moveTo>
                    <a:pt x="0" y="0"/>
                  </a:moveTo>
                  <a:lnTo>
                    <a:pt x="3083443" y="0"/>
                  </a:lnTo>
                  <a:lnTo>
                    <a:pt x="3083443" y="1235075"/>
                  </a:lnTo>
                  <a:lnTo>
                    <a:pt x="0" y="1235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3" r="33893" b="462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3083443" cy="1301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91"/>
                </a:lnSpc>
              </a:pPr>
              <a:r>
                <a:rPr lang="en-US" sz="304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Doctor List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71538" y="7186612"/>
            <a:ext cx="10772775" cy="971550"/>
            <a:chOff x="0" y="0"/>
            <a:chExt cx="14363700" cy="1295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3637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4363700">
                  <a:moveTo>
                    <a:pt x="152400" y="0"/>
                  </a:moveTo>
                  <a:lnTo>
                    <a:pt x="14211300" y="0"/>
                  </a:lnTo>
                  <a:cubicBezTo>
                    <a:pt x="14295501" y="0"/>
                    <a:pt x="14363700" y="68199"/>
                    <a:pt x="14363700" y="152400"/>
                  </a:cubicBezTo>
                  <a:lnTo>
                    <a:pt x="14363700" y="1143000"/>
                  </a:lnTo>
                  <a:cubicBezTo>
                    <a:pt x="14363700" y="1227201"/>
                    <a:pt x="14295501" y="1295400"/>
                    <a:pt x="14211300" y="1295400"/>
                  </a:cubicBezTo>
                  <a:lnTo>
                    <a:pt x="152400" y="1295400"/>
                  </a:lnTo>
                  <a:cubicBezTo>
                    <a:pt x="68199" y="1295400"/>
                    <a:pt x="0" y="1227201"/>
                    <a:pt x="0" y="11430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8CA4">
                <a:alpha val="784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42988" y="7386638"/>
            <a:ext cx="571500" cy="571500"/>
            <a:chOff x="0" y="0"/>
            <a:chExt cx="762000" cy="762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228725" y="7558088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5" y="0"/>
                </a:lnTo>
                <a:lnTo>
                  <a:pt x="2000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785938" y="7195452"/>
            <a:ext cx="2312582" cy="648386"/>
            <a:chOff x="0" y="0"/>
            <a:chExt cx="3083443" cy="86451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83443" cy="864514"/>
            </a:xfrm>
            <a:custGeom>
              <a:avLst/>
              <a:gdLst/>
              <a:ahLst/>
              <a:cxnLst/>
              <a:rect r="r" b="b" t="t" l="l"/>
              <a:pathLst>
                <a:path h="864514" w="3083443">
                  <a:moveTo>
                    <a:pt x="0" y="0"/>
                  </a:moveTo>
                  <a:lnTo>
                    <a:pt x="3083443" y="0"/>
                  </a:lnTo>
                  <a:lnTo>
                    <a:pt x="3083443" y="864514"/>
                  </a:lnTo>
                  <a:lnTo>
                    <a:pt x="0" y="864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57" r="32658" b="2675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85725"/>
              <a:ext cx="3083443" cy="950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Dr. Karimov A.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85938" y="7753377"/>
            <a:ext cx="1676954" cy="295221"/>
            <a:chOff x="0" y="0"/>
            <a:chExt cx="2235939" cy="3936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35939" cy="393628"/>
            </a:xfrm>
            <a:custGeom>
              <a:avLst/>
              <a:gdLst/>
              <a:ahLst/>
              <a:cxnLst/>
              <a:rect r="r" b="b" t="t" l="l"/>
              <a:pathLst>
                <a:path h="393628" w="2235939">
                  <a:moveTo>
                    <a:pt x="0" y="0"/>
                  </a:moveTo>
                  <a:lnTo>
                    <a:pt x="2235939" y="0"/>
                  </a:lnTo>
                  <a:lnTo>
                    <a:pt x="2235939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47" r="7984" b="-5023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235939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Terapevt • 4.9★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598500" y="7558088"/>
            <a:ext cx="938656" cy="359614"/>
            <a:chOff x="0" y="0"/>
            <a:chExt cx="1251541" cy="47948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51541" cy="479485"/>
            </a:xfrm>
            <a:custGeom>
              <a:avLst/>
              <a:gdLst/>
              <a:ahLst/>
              <a:cxnLst/>
              <a:rect r="r" b="b" t="t" l="l"/>
              <a:pathLst>
                <a:path h="479485" w="1251541">
                  <a:moveTo>
                    <a:pt x="0" y="0"/>
                  </a:moveTo>
                  <a:lnTo>
                    <a:pt x="1251541" y="0"/>
                  </a:lnTo>
                  <a:lnTo>
                    <a:pt x="1251541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17" t="0" r="15076" b="46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85725"/>
              <a:ext cx="1251541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1.2 km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71538" y="8272462"/>
            <a:ext cx="10772775" cy="971550"/>
            <a:chOff x="0" y="0"/>
            <a:chExt cx="14363700" cy="129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3637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4363700">
                  <a:moveTo>
                    <a:pt x="152400" y="0"/>
                  </a:moveTo>
                  <a:lnTo>
                    <a:pt x="14211300" y="0"/>
                  </a:lnTo>
                  <a:cubicBezTo>
                    <a:pt x="14295501" y="0"/>
                    <a:pt x="14363700" y="68199"/>
                    <a:pt x="14363700" y="152400"/>
                  </a:cubicBezTo>
                  <a:lnTo>
                    <a:pt x="14363700" y="1143000"/>
                  </a:lnTo>
                  <a:cubicBezTo>
                    <a:pt x="14363700" y="1227201"/>
                    <a:pt x="14295501" y="1295400"/>
                    <a:pt x="14211300" y="1295400"/>
                  </a:cubicBezTo>
                  <a:lnTo>
                    <a:pt x="152400" y="1295400"/>
                  </a:lnTo>
                  <a:cubicBezTo>
                    <a:pt x="68199" y="1295400"/>
                    <a:pt x="0" y="1227201"/>
                    <a:pt x="0" y="11430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E6F4F6">
                <a:alpha val="0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42988" y="8472488"/>
            <a:ext cx="571500" cy="571500"/>
            <a:chOff x="0" y="0"/>
            <a:chExt cx="762000" cy="762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E6F4F6">
                <a:alpha val="784"/>
              </a:srgbClr>
            </a:solidFill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1228725" y="8643938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5" y="0"/>
                </a:lnTo>
                <a:lnTo>
                  <a:pt x="2000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830129" y="8386762"/>
            <a:ext cx="2483368" cy="407353"/>
            <a:chOff x="0" y="0"/>
            <a:chExt cx="3311157" cy="54313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311157" cy="543137"/>
            </a:xfrm>
            <a:custGeom>
              <a:avLst/>
              <a:gdLst/>
              <a:ahLst/>
              <a:cxnLst/>
              <a:rect r="r" b="b" t="t" l="l"/>
              <a:pathLst>
                <a:path h="543137" w="3311157">
                  <a:moveTo>
                    <a:pt x="0" y="0"/>
                  </a:moveTo>
                  <a:lnTo>
                    <a:pt x="3311157" y="0"/>
                  </a:lnTo>
                  <a:lnTo>
                    <a:pt x="3311157" y="543137"/>
                  </a:lnTo>
                  <a:lnTo>
                    <a:pt x="0" y="5431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05" r="23481" b="-3298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85725"/>
              <a:ext cx="3311157" cy="628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Dr. Rahimova N.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830129" y="8794116"/>
            <a:ext cx="2095279" cy="295221"/>
            <a:chOff x="0" y="0"/>
            <a:chExt cx="2793705" cy="3936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93705" cy="393628"/>
            </a:xfrm>
            <a:custGeom>
              <a:avLst/>
              <a:gdLst/>
              <a:ahLst/>
              <a:cxnLst/>
              <a:rect r="r" b="b" t="t" l="l"/>
              <a:pathLst>
                <a:path h="393628" w="2793705">
                  <a:moveTo>
                    <a:pt x="0" y="0"/>
                  </a:moveTo>
                  <a:lnTo>
                    <a:pt x="2793705" y="0"/>
                  </a:lnTo>
                  <a:lnTo>
                    <a:pt x="2793705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079" r="9990" b="-7287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793705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Nevropatolog • 4.7★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580870" y="8578431"/>
            <a:ext cx="992005" cy="359614"/>
            <a:chOff x="0" y="0"/>
            <a:chExt cx="1322674" cy="4794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22674" cy="479485"/>
            </a:xfrm>
            <a:custGeom>
              <a:avLst/>
              <a:gdLst/>
              <a:ahLst/>
              <a:cxnLst/>
              <a:rect r="r" b="b" t="t" l="l"/>
              <a:pathLst>
                <a:path h="479485" w="1322674">
                  <a:moveTo>
                    <a:pt x="0" y="0"/>
                  </a:moveTo>
                  <a:lnTo>
                    <a:pt x="1322674" y="0"/>
                  </a:lnTo>
                  <a:lnTo>
                    <a:pt x="1322674" y="479485"/>
                  </a:lnTo>
                  <a:lnTo>
                    <a:pt x="0" y="47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62" t="0" r="16763" b="464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85725"/>
              <a:ext cx="1322674" cy="565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199" b="true">
                  <a:solidFill>
                    <a:srgbClr val="E6F4F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2.5 km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2743841" y="736630"/>
            <a:ext cx="4314424" cy="9021069"/>
          </a:xfrm>
          <a:custGeom>
            <a:avLst/>
            <a:gdLst/>
            <a:ahLst/>
            <a:cxnLst/>
            <a:rect r="r" b="b" t="t" l="l"/>
            <a:pathLst>
              <a:path h="9021069" w="4314424">
                <a:moveTo>
                  <a:pt x="0" y="0"/>
                </a:moveTo>
                <a:lnTo>
                  <a:pt x="4314424" y="0"/>
                </a:lnTo>
                <a:lnTo>
                  <a:pt x="4314424" y="9021068"/>
                </a:lnTo>
                <a:lnTo>
                  <a:pt x="0" y="902106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71500"/>
            <a:ext cx="5114925" cy="685800"/>
            <a:chOff x="0" y="0"/>
            <a:chExt cx="68199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19900" cy="914400"/>
            </a:xfrm>
            <a:custGeom>
              <a:avLst/>
              <a:gdLst/>
              <a:ahLst/>
              <a:cxnLst/>
              <a:rect r="r" b="b" t="t" l="l"/>
              <a:pathLst>
                <a:path h="914400" w="6819900">
                  <a:moveTo>
                    <a:pt x="0" y="0"/>
                  </a:moveTo>
                  <a:lnTo>
                    <a:pt x="6819900" y="0"/>
                  </a:lnTo>
                  <a:lnTo>
                    <a:pt x="6819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25" r="0" b="-953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681990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Business Model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Monetizatsiya strategiyasi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9119" y="2340769"/>
            <a:ext cx="8348662" cy="3519488"/>
          </a:xfrm>
          <a:custGeom>
            <a:avLst/>
            <a:gdLst/>
            <a:ahLst/>
            <a:cxnLst/>
            <a:rect r="r" b="b" t="t" l="l"/>
            <a:pathLst>
              <a:path h="3519488" w="8348662">
                <a:moveTo>
                  <a:pt x="0" y="0"/>
                </a:moveTo>
                <a:lnTo>
                  <a:pt x="8348662" y="0"/>
                </a:lnTo>
                <a:lnTo>
                  <a:pt x="8348662" y="3519487"/>
                </a:lnTo>
                <a:lnTo>
                  <a:pt x="0" y="35194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4394" y="2578160"/>
            <a:ext cx="1271587" cy="1271587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11115" y="2924881"/>
            <a:ext cx="578146" cy="578146"/>
          </a:xfrm>
          <a:custGeom>
            <a:avLst/>
            <a:gdLst/>
            <a:ahLst/>
            <a:cxnLst/>
            <a:rect r="r" b="b" t="t" l="l"/>
            <a:pathLst>
              <a:path h="578146" w="578146">
                <a:moveTo>
                  <a:pt x="0" y="0"/>
                </a:moveTo>
                <a:lnTo>
                  <a:pt x="578145" y="0"/>
                </a:lnTo>
                <a:lnTo>
                  <a:pt x="578145" y="578146"/>
                </a:lnTo>
                <a:lnTo>
                  <a:pt x="0" y="578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944887" y="2703700"/>
            <a:ext cx="3237282" cy="1020508"/>
            <a:chOff x="0" y="0"/>
            <a:chExt cx="4316377" cy="13606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6376" cy="1360678"/>
            </a:xfrm>
            <a:custGeom>
              <a:avLst/>
              <a:gdLst/>
              <a:ahLst/>
              <a:cxnLst/>
              <a:rect r="r" b="b" t="t" l="l"/>
              <a:pathLst>
                <a:path h="1360678" w="4316376">
                  <a:moveTo>
                    <a:pt x="0" y="0"/>
                  </a:moveTo>
                  <a:lnTo>
                    <a:pt x="4316376" y="0"/>
                  </a:lnTo>
                  <a:lnTo>
                    <a:pt x="4316376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03" r="15703" b="254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316377" cy="138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Freemium Model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2988" y="4150274"/>
            <a:ext cx="7529512" cy="1068481"/>
            <a:chOff x="0" y="0"/>
            <a:chExt cx="10039350" cy="14246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39350" cy="1424641"/>
            </a:xfrm>
            <a:custGeom>
              <a:avLst/>
              <a:gdLst/>
              <a:ahLst/>
              <a:cxnLst/>
              <a:rect r="r" b="b" t="t" l="l"/>
              <a:pathLst>
                <a:path h="1424641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1424641"/>
                  </a:lnTo>
                  <a:lnTo>
                    <a:pt x="0" y="1424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20" r="0" b="-5669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42875"/>
              <a:ext cx="10039350" cy="1567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Bepul asosiy funksiyalar + to'lovli premium imkoniyatlar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69119" y="6198394"/>
            <a:ext cx="8348662" cy="3519488"/>
          </a:xfrm>
          <a:custGeom>
            <a:avLst/>
            <a:gdLst/>
            <a:ahLst/>
            <a:cxnLst/>
            <a:rect r="r" b="b" t="t" l="l"/>
            <a:pathLst>
              <a:path h="3519488" w="8348662">
                <a:moveTo>
                  <a:pt x="0" y="0"/>
                </a:moveTo>
                <a:lnTo>
                  <a:pt x="8348662" y="0"/>
                </a:lnTo>
                <a:lnTo>
                  <a:pt x="8348662" y="3519487"/>
                </a:lnTo>
                <a:lnTo>
                  <a:pt x="0" y="35194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64394" y="6398543"/>
            <a:ext cx="1236345" cy="1236345"/>
            <a:chOff x="0" y="0"/>
            <a:chExt cx="12192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078600" y="6657634"/>
            <a:ext cx="807933" cy="718163"/>
          </a:xfrm>
          <a:custGeom>
            <a:avLst/>
            <a:gdLst/>
            <a:ahLst/>
            <a:cxnLst/>
            <a:rect r="r" b="b" t="t" l="l"/>
            <a:pathLst>
              <a:path h="718163" w="807933">
                <a:moveTo>
                  <a:pt x="0" y="0"/>
                </a:moveTo>
                <a:lnTo>
                  <a:pt x="807933" y="0"/>
                </a:lnTo>
                <a:lnTo>
                  <a:pt x="807933" y="718163"/>
                </a:lnTo>
                <a:lnTo>
                  <a:pt x="0" y="718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944887" y="6506461"/>
            <a:ext cx="4396232" cy="1020508"/>
            <a:chOff x="0" y="0"/>
            <a:chExt cx="5861642" cy="13606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61642" cy="1360678"/>
            </a:xfrm>
            <a:custGeom>
              <a:avLst/>
              <a:gdLst/>
              <a:ahLst/>
              <a:cxnLst/>
              <a:rect r="r" b="b" t="t" l="l"/>
              <a:pathLst>
                <a:path h="1360678" w="5861642">
                  <a:moveTo>
                    <a:pt x="0" y="0"/>
                  </a:moveTo>
                  <a:lnTo>
                    <a:pt x="5861642" y="0"/>
                  </a:lnTo>
                  <a:lnTo>
                    <a:pt x="5861642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0" r="19726" b="1021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861642" cy="138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Premium Subscription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2988" y="8128540"/>
            <a:ext cx="7529512" cy="1068481"/>
            <a:chOff x="0" y="0"/>
            <a:chExt cx="10039350" cy="14246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39350" cy="1424641"/>
            </a:xfrm>
            <a:custGeom>
              <a:avLst/>
              <a:gdLst/>
              <a:ahLst/>
              <a:cxnLst/>
              <a:rect r="r" b="b" t="t" l="l"/>
              <a:pathLst>
                <a:path h="1424641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1424641"/>
                  </a:lnTo>
                  <a:lnTo>
                    <a:pt x="0" y="1424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863" r="0" b="-767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42875"/>
              <a:ext cx="10039350" cy="1567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Oylik/yillik obuna: tezkor navbat, video konsultatsiya, saqlangan tahlillar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370219" y="2340769"/>
            <a:ext cx="8348662" cy="3519488"/>
          </a:xfrm>
          <a:custGeom>
            <a:avLst/>
            <a:gdLst/>
            <a:ahLst/>
            <a:cxnLst/>
            <a:rect r="r" b="b" t="t" l="l"/>
            <a:pathLst>
              <a:path h="3519488" w="8348662">
                <a:moveTo>
                  <a:pt x="0" y="0"/>
                </a:moveTo>
                <a:lnTo>
                  <a:pt x="8348662" y="0"/>
                </a:lnTo>
                <a:lnTo>
                  <a:pt x="8348662" y="3519487"/>
                </a:lnTo>
                <a:lnTo>
                  <a:pt x="0" y="35194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657350" y="2578160"/>
            <a:ext cx="1287875" cy="1287875"/>
            <a:chOff x="0" y="0"/>
            <a:chExt cx="121920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9963745" y="2884556"/>
            <a:ext cx="675084" cy="675084"/>
          </a:xfrm>
          <a:custGeom>
            <a:avLst/>
            <a:gdLst/>
            <a:ahLst/>
            <a:cxnLst/>
            <a:rect r="r" b="b" t="t" l="l"/>
            <a:pathLst>
              <a:path h="675084" w="675084">
                <a:moveTo>
                  <a:pt x="0" y="0"/>
                </a:moveTo>
                <a:lnTo>
                  <a:pt x="675085" y="0"/>
                </a:lnTo>
                <a:lnTo>
                  <a:pt x="675085" y="675084"/>
                </a:lnTo>
                <a:lnTo>
                  <a:pt x="0" y="6750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802475" y="2711844"/>
            <a:ext cx="3024299" cy="1020508"/>
            <a:chOff x="0" y="0"/>
            <a:chExt cx="4032399" cy="13606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32399" cy="1360678"/>
            </a:xfrm>
            <a:custGeom>
              <a:avLst/>
              <a:gdLst/>
              <a:ahLst/>
              <a:cxnLst/>
              <a:rect r="r" b="b" t="t" l="l"/>
              <a:pathLst>
                <a:path h="1360678" w="4032399">
                  <a:moveTo>
                    <a:pt x="0" y="0"/>
                  </a:moveTo>
                  <a:lnTo>
                    <a:pt x="4032399" y="0"/>
                  </a:lnTo>
                  <a:lnTo>
                    <a:pt x="4032399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6" r="17798" b="3013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032399" cy="138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Paid Promotion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44088" y="4150274"/>
            <a:ext cx="7529512" cy="1068481"/>
            <a:chOff x="0" y="0"/>
            <a:chExt cx="10039350" cy="142464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39350" cy="1424641"/>
            </a:xfrm>
            <a:custGeom>
              <a:avLst/>
              <a:gdLst/>
              <a:ahLst/>
              <a:cxnLst/>
              <a:rect r="r" b="b" t="t" l="l"/>
              <a:pathLst>
                <a:path h="1424641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1424641"/>
                  </a:lnTo>
                  <a:lnTo>
                    <a:pt x="0" y="1424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20" r="0" b="-566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42875"/>
              <a:ext cx="10039350" cy="1567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Klinikalar va doktorlar uchun pullik reklama va ko'rsatish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9355931" y="6198394"/>
            <a:ext cx="8348662" cy="3519488"/>
          </a:xfrm>
          <a:custGeom>
            <a:avLst/>
            <a:gdLst/>
            <a:ahLst/>
            <a:cxnLst/>
            <a:rect r="r" b="b" t="t" l="l"/>
            <a:pathLst>
              <a:path h="3519488" w="8348662">
                <a:moveTo>
                  <a:pt x="0" y="0"/>
                </a:moveTo>
                <a:lnTo>
                  <a:pt x="8348663" y="0"/>
                </a:lnTo>
                <a:lnTo>
                  <a:pt x="8348663" y="3519487"/>
                </a:lnTo>
                <a:lnTo>
                  <a:pt x="0" y="35194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9647444" y="6337106"/>
            <a:ext cx="1297781" cy="1297781"/>
            <a:chOff x="0" y="0"/>
            <a:chExt cx="121920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304800" y="0"/>
                  </a:moveTo>
                  <a:lnTo>
                    <a:pt x="914400" y="0"/>
                  </a:lnTo>
                  <a:cubicBezTo>
                    <a:pt x="1082675" y="0"/>
                    <a:pt x="1219200" y="136525"/>
                    <a:pt x="1219200" y="304800"/>
                  </a:cubicBezTo>
                  <a:lnTo>
                    <a:pt x="1219200" y="914400"/>
                  </a:lnTo>
                  <a:cubicBezTo>
                    <a:pt x="1219200" y="1082675"/>
                    <a:pt x="1082675" y="1219200"/>
                    <a:pt x="914400" y="1219200"/>
                  </a:cubicBezTo>
                  <a:lnTo>
                    <a:pt x="304800" y="1219200"/>
                  </a:lnTo>
                  <a:cubicBezTo>
                    <a:pt x="136525" y="1219200"/>
                    <a:pt x="0" y="1082675"/>
                    <a:pt x="0" y="9144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E6F4F6">
                <a:alpha val="784"/>
              </a:srgbClr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9863242" y="6601026"/>
            <a:ext cx="866184" cy="769942"/>
          </a:xfrm>
          <a:custGeom>
            <a:avLst/>
            <a:gdLst/>
            <a:ahLst/>
            <a:cxnLst/>
            <a:rect r="r" b="b" t="t" l="l"/>
            <a:pathLst>
              <a:path h="769942" w="866184">
                <a:moveTo>
                  <a:pt x="0" y="0"/>
                </a:moveTo>
                <a:lnTo>
                  <a:pt x="866185" y="0"/>
                </a:lnTo>
                <a:lnTo>
                  <a:pt x="866185" y="769942"/>
                </a:lnTo>
                <a:lnTo>
                  <a:pt x="0" y="7699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1802475" y="6468599"/>
            <a:ext cx="4075926" cy="1034796"/>
            <a:chOff x="0" y="0"/>
            <a:chExt cx="5434568" cy="13797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34568" cy="1379728"/>
            </a:xfrm>
            <a:custGeom>
              <a:avLst/>
              <a:gdLst/>
              <a:ahLst/>
              <a:cxnLst/>
              <a:rect r="r" b="b" t="t" l="l"/>
              <a:pathLst>
                <a:path h="1379728" w="5434568">
                  <a:moveTo>
                    <a:pt x="0" y="0"/>
                  </a:moveTo>
                  <a:lnTo>
                    <a:pt x="5434568" y="0"/>
                  </a:lnTo>
                  <a:lnTo>
                    <a:pt x="5434568" y="1379728"/>
                  </a:lnTo>
                  <a:lnTo>
                    <a:pt x="0" y="13797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62" r="17975" b="1495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434568" cy="1408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Future: Telemedicine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79794" y="8128540"/>
            <a:ext cx="7529512" cy="1068481"/>
            <a:chOff x="0" y="0"/>
            <a:chExt cx="10039350" cy="142464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39350" cy="1424641"/>
            </a:xfrm>
            <a:custGeom>
              <a:avLst/>
              <a:gdLst/>
              <a:ahLst/>
              <a:cxnLst/>
              <a:rect r="r" b="b" t="t" l="l"/>
              <a:pathLst>
                <a:path h="1424641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1424641"/>
                  </a:lnTo>
                  <a:lnTo>
                    <a:pt x="0" y="1424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20" r="0" b="-566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42875"/>
              <a:ext cx="10039350" cy="1567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Onlayn konsultatsiyalar va telemedicina integratsiyasi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2443162" cy="1154430"/>
            <a:chOff x="0" y="0"/>
            <a:chExt cx="3257550" cy="1539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57550" cy="1539240"/>
            </a:xfrm>
            <a:custGeom>
              <a:avLst/>
              <a:gdLst/>
              <a:ahLst/>
              <a:cxnLst/>
              <a:rect r="r" b="b" t="t" l="l"/>
              <a:pathLst>
                <a:path h="1539240" w="3257550">
                  <a:moveTo>
                    <a:pt x="0" y="0"/>
                  </a:moveTo>
                  <a:lnTo>
                    <a:pt x="3257550" y="0"/>
                  </a:lnTo>
                  <a:lnTo>
                    <a:pt x="325755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33" r="0" b="290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3257550" cy="1415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Impact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85900"/>
            <a:ext cx="16944975" cy="416071"/>
            <a:chOff x="0" y="0"/>
            <a:chExt cx="22593300" cy="5547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93300" cy="554762"/>
            </a:xfrm>
            <a:custGeom>
              <a:avLst/>
              <a:gdLst/>
              <a:ahLst/>
              <a:cxnLst/>
              <a:rect r="r" b="b" t="t" l="l"/>
              <a:pathLst>
                <a:path h="554762" w="22593300">
                  <a:moveTo>
                    <a:pt x="0" y="0"/>
                  </a:moveTo>
                  <a:lnTo>
                    <a:pt x="22593300" y="0"/>
                  </a:lnTo>
                  <a:lnTo>
                    <a:pt x="22593300" y="554762"/>
                  </a:lnTo>
                  <a:lnTo>
                    <a:pt x="0" y="554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475" r="0" b="-7416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593300" cy="621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Jamiyatga ta'sir va foydasi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9119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590724" y="2814638"/>
            <a:ext cx="1371600" cy="1371600"/>
            <a:chOff x="0" y="0"/>
            <a:chExt cx="1828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933624" y="3157538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  <a:moveTo>
                    <a:pt x="414401" y="214249"/>
                  </a:moveTo>
                  <a:lnTo>
                    <a:pt x="414401" y="457200"/>
                  </a:lnTo>
                  <a:cubicBezTo>
                    <a:pt x="414401" y="471551"/>
                    <a:pt x="421513" y="484886"/>
                    <a:pt x="433451" y="492887"/>
                  </a:cubicBezTo>
                  <a:lnTo>
                    <a:pt x="604901" y="607187"/>
                  </a:lnTo>
                  <a:cubicBezTo>
                    <a:pt x="624586" y="620395"/>
                    <a:pt x="651129" y="615061"/>
                    <a:pt x="664337" y="595249"/>
                  </a:cubicBezTo>
                  <a:cubicBezTo>
                    <a:pt x="677545" y="575437"/>
                    <a:pt x="672211" y="549021"/>
                    <a:pt x="652399" y="535813"/>
                  </a:cubicBezTo>
                  <a:lnTo>
                    <a:pt x="499999" y="434340"/>
                  </a:lnTo>
                  <a:lnTo>
                    <a:pt x="499999" y="214249"/>
                  </a:lnTo>
                  <a:cubicBezTo>
                    <a:pt x="499999" y="190500"/>
                    <a:pt x="480949" y="171450"/>
                    <a:pt x="457200" y="171450"/>
                  </a:cubicBezTo>
                  <a:cubicBezTo>
                    <a:pt x="433451" y="171450"/>
                    <a:pt x="414401" y="190500"/>
                    <a:pt x="414401" y="214249"/>
                  </a:cubicBezTo>
                  <a:close/>
                </a:path>
              </a:pathLst>
            </a:custGeom>
            <a:solidFill>
              <a:srgbClr val="008CA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59215" y="4243388"/>
            <a:ext cx="2796695" cy="1236583"/>
            <a:chOff x="0" y="0"/>
            <a:chExt cx="3728927" cy="1648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28927" cy="1648777"/>
            </a:xfrm>
            <a:custGeom>
              <a:avLst/>
              <a:gdLst/>
              <a:ahLst/>
              <a:cxnLst/>
              <a:rect r="r" b="b" t="t" l="l"/>
              <a:pathLst>
                <a:path h="1648777" w="3728927">
                  <a:moveTo>
                    <a:pt x="0" y="0"/>
                  </a:moveTo>
                  <a:lnTo>
                    <a:pt x="3728927" y="0"/>
                  </a:lnTo>
                  <a:lnTo>
                    <a:pt x="3728927" y="1648777"/>
                  </a:lnTo>
                  <a:lnTo>
                    <a:pt x="0" y="1648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01" r="8554" b="389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728927" cy="1648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Vaqt Tejaydi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8694" y="5272088"/>
            <a:ext cx="4600575" cy="2357438"/>
            <a:chOff x="0" y="0"/>
            <a:chExt cx="6134100" cy="3143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34100" cy="3143250"/>
            </a:xfrm>
            <a:custGeom>
              <a:avLst/>
              <a:gdLst/>
              <a:ahLst/>
              <a:cxnLst/>
              <a:rect r="r" b="b" t="t" l="l"/>
              <a:pathLst>
                <a:path h="314325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3143250"/>
                  </a:lnTo>
                  <a:lnTo>
                    <a:pt x="0" y="3143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5" t="0" r="-1574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42875"/>
              <a:ext cx="6134100" cy="328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Doktor qidirish va navbat kutish vaqtini 70% ga qisqartiradi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2988" y="7979569"/>
            <a:ext cx="4471988" cy="14288"/>
            <a:chOff x="0" y="0"/>
            <a:chExt cx="5962650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62650" cy="19050"/>
            </a:xfrm>
            <a:custGeom>
              <a:avLst/>
              <a:gdLst/>
              <a:ahLst/>
              <a:cxnLst/>
              <a:rect r="r" b="b" t="t" l="l"/>
              <a:pathLst>
                <a:path h="19050" w="5962650">
                  <a:moveTo>
                    <a:pt x="0" y="0"/>
                  </a:moveTo>
                  <a:lnTo>
                    <a:pt x="5962650" y="0"/>
                  </a:lnTo>
                  <a:lnTo>
                    <a:pt x="596265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8329612"/>
            <a:ext cx="4729162" cy="571500"/>
            <a:chOff x="0" y="0"/>
            <a:chExt cx="6305550" cy="76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05550" cy="762000"/>
            </a:xfrm>
            <a:custGeom>
              <a:avLst/>
              <a:gdLst/>
              <a:ahLst/>
              <a:cxnLst/>
              <a:rect r="r" b="b" t="t" l="l"/>
              <a:pathLst>
                <a:path h="76200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238" r="0" b="-11123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630555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70%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2981" y="8958263"/>
            <a:ext cx="4572000" cy="425193"/>
            <a:chOff x="0" y="0"/>
            <a:chExt cx="6096000" cy="5669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566924"/>
            </a:xfrm>
            <a:custGeom>
              <a:avLst/>
              <a:gdLst/>
              <a:ahLst/>
              <a:cxnLst/>
              <a:rect r="r" b="b" t="t" l="l"/>
              <a:pathLst>
                <a:path h="5669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66924"/>
                  </a:lnTo>
                  <a:lnTo>
                    <a:pt x="0" y="566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15" r="0" b="-1431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6096000" cy="643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07"/>
                </a:lnSpc>
              </a:pPr>
              <a:r>
                <a:rPr lang="en-US" sz="25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vaqt tejash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436366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8457981" y="2814638"/>
            <a:ext cx="1371600" cy="1371600"/>
            <a:chOff x="0" y="0"/>
            <a:chExt cx="1828800" cy="1828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FFB200">
                <a:alpha val="3922"/>
              </a:srgbClr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8800881" y="3157538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845941" y="4243388"/>
            <a:ext cx="4640780" cy="1236583"/>
            <a:chOff x="0" y="0"/>
            <a:chExt cx="6187707" cy="16487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87707" cy="1648777"/>
            </a:xfrm>
            <a:custGeom>
              <a:avLst/>
              <a:gdLst/>
              <a:ahLst/>
              <a:cxnLst/>
              <a:rect r="r" b="b" t="t" l="l"/>
              <a:pathLst>
                <a:path h="1648777" w="6187707">
                  <a:moveTo>
                    <a:pt x="0" y="0"/>
                  </a:moveTo>
                  <a:lnTo>
                    <a:pt x="6187707" y="0"/>
                  </a:lnTo>
                  <a:lnTo>
                    <a:pt x="6187707" y="1648777"/>
                  </a:lnTo>
                  <a:lnTo>
                    <a:pt x="0" y="1648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39" r="12565" b="1526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187707" cy="1648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Sog'liqni Yaxshilaydi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81648" y="5479971"/>
            <a:ext cx="4600575" cy="2357438"/>
            <a:chOff x="0" y="0"/>
            <a:chExt cx="6134100" cy="3143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34100" cy="3143250"/>
            </a:xfrm>
            <a:custGeom>
              <a:avLst/>
              <a:gdLst/>
              <a:ahLst/>
              <a:cxnLst/>
              <a:rect r="r" b="b" t="t" l="l"/>
              <a:pathLst>
                <a:path h="314325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3143250"/>
                  </a:lnTo>
                  <a:lnTo>
                    <a:pt x="0" y="3143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5" t="0" r="-1574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42875"/>
              <a:ext cx="6134100" cy="328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To'g'ri doktor tanlash orqali davolanish samaradorligi oshadi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10235" y="7979569"/>
            <a:ext cx="4471988" cy="14288"/>
            <a:chOff x="0" y="0"/>
            <a:chExt cx="5962650" cy="190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62650" cy="19050"/>
            </a:xfrm>
            <a:custGeom>
              <a:avLst/>
              <a:gdLst/>
              <a:ahLst/>
              <a:cxnLst/>
              <a:rect r="r" b="b" t="t" l="l"/>
              <a:pathLst>
                <a:path h="19050" w="5962650">
                  <a:moveTo>
                    <a:pt x="0" y="0"/>
                  </a:moveTo>
                  <a:lnTo>
                    <a:pt x="5962650" y="0"/>
                  </a:lnTo>
                  <a:lnTo>
                    <a:pt x="596265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200">
                <a:alpha val="9020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781648" y="8329612"/>
            <a:ext cx="4729162" cy="571500"/>
            <a:chOff x="0" y="0"/>
            <a:chExt cx="6305550" cy="762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05550" cy="762000"/>
            </a:xfrm>
            <a:custGeom>
              <a:avLst/>
              <a:gdLst/>
              <a:ahLst/>
              <a:cxnLst/>
              <a:rect r="r" b="b" t="t" l="l"/>
              <a:pathLst>
                <a:path h="76200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238" r="0" b="-11123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38100"/>
              <a:ext cx="630555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FFB2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95%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60229" y="8958263"/>
            <a:ext cx="4572000" cy="425193"/>
            <a:chOff x="0" y="0"/>
            <a:chExt cx="6096000" cy="5669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566924"/>
            </a:xfrm>
            <a:custGeom>
              <a:avLst/>
              <a:gdLst/>
              <a:ahLst/>
              <a:cxnLst/>
              <a:rect r="r" b="b" t="t" l="l"/>
              <a:pathLst>
                <a:path h="5669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66924"/>
                  </a:lnTo>
                  <a:lnTo>
                    <a:pt x="0" y="566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15" r="0" b="-14312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6096000" cy="643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07"/>
                </a:lnSpc>
              </a:pPr>
              <a:r>
                <a:rPr lang="en-US" sz="25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mamnunlik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2303843" y="2340769"/>
            <a:ext cx="5419725" cy="7377112"/>
          </a:xfrm>
          <a:custGeom>
            <a:avLst/>
            <a:gdLst/>
            <a:ahLst/>
            <a:cxnLst/>
            <a:rect r="r" b="b" t="t" l="l"/>
            <a:pathLst>
              <a:path h="7377112" w="5419725">
                <a:moveTo>
                  <a:pt x="0" y="0"/>
                </a:moveTo>
                <a:lnTo>
                  <a:pt x="5419725" y="0"/>
                </a:lnTo>
                <a:lnTo>
                  <a:pt x="5419725" y="7377112"/>
                </a:lnTo>
                <a:lnTo>
                  <a:pt x="0" y="7377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4325448" y="2814638"/>
            <a:ext cx="1371600" cy="1371600"/>
            <a:chOff x="0" y="0"/>
            <a:chExt cx="1828800" cy="1828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914400" y="0"/>
                  </a:moveTo>
                  <a:cubicBezTo>
                    <a:pt x="1419098" y="0"/>
                    <a:pt x="1828800" y="409702"/>
                    <a:pt x="1828800" y="914400"/>
                  </a:cubicBezTo>
                  <a:cubicBezTo>
                    <a:pt x="1828800" y="1419098"/>
                    <a:pt x="1419098" y="1828800"/>
                    <a:pt x="914400" y="1828800"/>
                  </a:cubicBezTo>
                  <a:cubicBezTo>
                    <a:pt x="409702" y="1828800"/>
                    <a:pt x="0" y="1419098"/>
                    <a:pt x="0" y="914400"/>
                  </a:cubicBezTo>
                  <a:cubicBezTo>
                    <a:pt x="0" y="409702"/>
                    <a:pt x="409702" y="0"/>
                    <a:pt x="914400" y="0"/>
                  </a:cubicBezTo>
                  <a:close/>
                </a:path>
              </a:pathLst>
            </a:custGeom>
            <a:solidFill>
              <a:srgbClr val="008CA4">
                <a:alpha val="3922"/>
              </a:srgbClr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4668348" y="3157538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3725601" y="4500562"/>
            <a:ext cx="2810983" cy="722233"/>
            <a:chOff x="0" y="0"/>
            <a:chExt cx="3747977" cy="96297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47977" cy="962977"/>
            </a:xfrm>
            <a:custGeom>
              <a:avLst/>
              <a:gdLst/>
              <a:ahLst/>
              <a:cxnLst/>
              <a:rect r="r" b="b" t="t" l="l"/>
              <a:pathLst>
                <a:path h="962977" w="3747977">
                  <a:moveTo>
                    <a:pt x="0" y="0"/>
                  </a:moveTo>
                  <a:lnTo>
                    <a:pt x="3747977" y="0"/>
                  </a:lnTo>
                  <a:lnTo>
                    <a:pt x="3747977" y="962977"/>
                  </a:lnTo>
                  <a:lnTo>
                    <a:pt x="0" y="9629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74" r="8510" b="-499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747977" cy="962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Kengaytirish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713418" y="5272088"/>
            <a:ext cx="4600575" cy="2357438"/>
            <a:chOff x="0" y="0"/>
            <a:chExt cx="6134100" cy="31432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134100" cy="3143250"/>
            </a:xfrm>
            <a:custGeom>
              <a:avLst/>
              <a:gdLst/>
              <a:ahLst/>
              <a:cxnLst/>
              <a:rect r="r" b="b" t="t" l="l"/>
              <a:pathLst>
                <a:path h="314325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3143250"/>
                  </a:lnTo>
                  <a:lnTo>
                    <a:pt x="0" y="3143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5" t="0" r="-1574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42875"/>
              <a:ext cx="6134100" cy="328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45"/>
                </a:lnSpc>
              </a:pPr>
              <a:r>
                <a:rPr lang="en-US" sz="2824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Global miqyosda kengaytirish imkoniyati va potensiali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777711" y="7979569"/>
            <a:ext cx="4471988" cy="14288"/>
            <a:chOff x="0" y="0"/>
            <a:chExt cx="5962650" cy="19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62650" cy="19050"/>
            </a:xfrm>
            <a:custGeom>
              <a:avLst/>
              <a:gdLst/>
              <a:ahLst/>
              <a:cxnLst/>
              <a:rect r="r" b="b" t="t" l="l"/>
              <a:pathLst>
                <a:path h="19050" w="5962650">
                  <a:moveTo>
                    <a:pt x="0" y="0"/>
                  </a:moveTo>
                  <a:lnTo>
                    <a:pt x="5962650" y="0"/>
                  </a:lnTo>
                  <a:lnTo>
                    <a:pt x="596265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CA4">
                <a:alpha val="9020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649124" y="8329612"/>
            <a:ext cx="4729162" cy="571500"/>
            <a:chOff x="0" y="0"/>
            <a:chExt cx="6305550" cy="762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05550" cy="762000"/>
            </a:xfrm>
            <a:custGeom>
              <a:avLst/>
              <a:gdLst/>
              <a:ahLst/>
              <a:cxnLst/>
              <a:rect r="r" b="b" t="t" l="l"/>
              <a:pathLst>
                <a:path h="76200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238" r="0" b="-11123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38100"/>
              <a:ext cx="630555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∞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727705" y="8958263"/>
            <a:ext cx="4572000" cy="425193"/>
            <a:chOff x="0" y="0"/>
            <a:chExt cx="6096000" cy="5669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96000" cy="566924"/>
            </a:xfrm>
            <a:custGeom>
              <a:avLst/>
              <a:gdLst/>
              <a:ahLst/>
              <a:cxnLst/>
              <a:rect r="r" b="b" t="t" l="l"/>
              <a:pathLst>
                <a:path h="5669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66924"/>
                  </a:lnTo>
                  <a:lnTo>
                    <a:pt x="0" y="566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915" r="0" b="-14312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6096000" cy="643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07"/>
                </a:lnSpc>
              </a:pPr>
              <a:r>
                <a:rPr lang="en-US" sz="2574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potensial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4055864"/>
            <a:ext cx="10404872" cy="10404872"/>
          </a:xfrm>
          <a:custGeom>
            <a:avLst/>
            <a:gdLst/>
            <a:ahLst/>
            <a:cxnLst/>
            <a:rect r="r" b="b" t="t" l="l"/>
            <a:pathLst>
              <a:path h="10404872" w="10404872">
                <a:moveTo>
                  <a:pt x="10404872" y="0"/>
                </a:moveTo>
                <a:lnTo>
                  <a:pt x="0" y="0"/>
                </a:lnTo>
                <a:lnTo>
                  <a:pt x="0" y="10404872"/>
                </a:lnTo>
                <a:lnTo>
                  <a:pt x="10404872" y="10404872"/>
                </a:lnTo>
                <a:lnTo>
                  <a:pt x="104048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883128" y="-3782870"/>
            <a:ext cx="10404872" cy="10404872"/>
          </a:xfrm>
          <a:custGeom>
            <a:avLst/>
            <a:gdLst/>
            <a:ahLst/>
            <a:cxnLst/>
            <a:rect r="r" b="b" t="t" l="l"/>
            <a:pathLst>
              <a:path h="10404872" w="10404872">
                <a:moveTo>
                  <a:pt x="0" y="10404872"/>
                </a:moveTo>
                <a:lnTo>
                  <a:pt x="10404872" y="10404872"/>
                </a:lnTo>
                <a:lnTo>
                  <a:pt x="10404872" y="0"/>
                </a:lnTo>
                <a:lnTo>
                  <a:pt x="0" y="0"/>
                </a:lnTo>
                <a:lnTo>
                  <a:pt x="0" y="104048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47118" y="572126"/>
            <a:ext cx="174714" cy="1048285"/>
            <a:chOff x="0" y="0"/>
            <a:chExt cx="152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175692" y="484408"/>
            <a:ext cx="1161422" cy="1223720"/>
          </a:xfrm>
          <a:custGeom>
            <a:avLst/>
            <a:gdLst/>
            <a:ahLst/>
            <a:cxnLst/>
            <a:rect r="r" b="b" t="t" l="l"/>
            <a:pathLst>
              <a:path h="1223720" w="1161422">
                <a:moveTo>
                  <a:pt x="0" y="0"/>
                </a:moveTo>
                <a:lnTo>
                  <a:pt x="1161421" y="0"/>
                </a:lnTo>
                <a:lnTo>
                  <a:pt x="1161421" y="1223720"/>
                </a:lnTo>
                <a:lnTo>
                  <a:pt x="0" y="1223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917" y="2677286"/>
            <a:ext cx="3340285" cy="5583093"/>
            <a:chOff x="0" y="0"/>
            <a:chExt cx="879746" cy="14704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03952" y="2677286"/>
            <a:ext cx="3340285" cy="5583093"/>
            <a:chOff x="0" y="0"/>
            <a:chExt cx="879746" cy="14704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73858" y="2677286"/>
            <a:ext cx="3340285" cy="5583093"/>
            <a:chOff x="0" y="0"/>
            <a:chExt cx="879746" cy="1470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032394" y="2677286"/>
            <a:ext cx="3340285" cy="5583093"/>
            <a:chOff x="0" y="0"/>
            <a:chExt cx="879746" cy="1470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59648" y="2677286"/>
            <a:ext cx="3340285" cy="5583093"/>
            <a:chOff x="0" y="0"/>
            <a:chExt cx="879746" cy="14704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9746" cy="1470444"/>
            </a:xfrm>
            <a:custGeom>
              <a:avLst/>
              <a:gdLst/>
              <a:ahLst/>
              <a:cxnLst/>
              <a:rect r="r" b="b" t="t" l="l"/>
              <a:pathLst>
                <a:path h="1470444" w="879746">
                  <a:moveTo>
                    <a:pt x="118205" y="0"/>
                  </a:moveTo>
                  <a:lnTo>
                    <a:pt x="761541" y="0"/>
                  </a:lnTo>
                  <a:cubicBezTo>
                    <a:pt x="792891" y="0"/>
                    <a:pt x="822957" y="12454"/>
                    <a:pt x="845124" y="34621"/>
                  </a:cubicBezTo>
                  <a:cubicBezTo>
                    <a:pt x="867292" y="56789"/>
                    <a:pt x="879746" y="86855"/>
                    <a:pt x="879746" y="118205"/>
                  </a:cubicBezTo>
                  <a:lnTo>
                    <a:pt x="879746" y="1352239"/>
                  </a:lnTo>
                  <a:cubicBezTo>
                    <a:pt x="879746" y="1417522"/>
                    <a:pt x="826824" y="1470444"/>
                    <a:pt x="761541" y="1470444"/>
                  </a:cubicBezTo>
                  <a:lnTo>
                    <a:pt x="118205" y="1470444"/>
                  </a:lnTo>
                  <a:cubicBezTo>
                    <a:pt x="86855" y="1470444"/>
                    <a:pt x="56789" y="1457991"/>
                    <a:pt x="34621" y="1435823"/>
                  </a:cubicBezTo>
                  <a:cubicBezTo>
                    <a:pt x="12454" y="1413655"/>
                    <a:pt x="0" y="1383589"/>
                    <a:pt x="0" y="1352239"/>
                  </a:cubicBezTo>
                  <a:lnTo>
                    <a:pt x="0" y="118205"/>
                  </a:lnTo>
                  <a:cubicBezTo>
                    <a:pt x="0" y="86855"/>
                    <a:pt x="12454" y="56789"/>
                    <a:pt x="34621" y="34621"/>
                  </a:cubicBezTo>
                  <a:cubicBezTo>
                    <a:pt x="56789" y="12454"/>
                    <a:pt x="86855" y="0"/>
                    <a:pt x="118205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79746" cy="1527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2029" y="2909068"/>
            <a:ext cx="1912061" cy="191206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7609" r="0" b="-7016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618063" y="2909068"/>
            <a:ext cx="1912061" cy="19120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666" r="0" b="-1666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44098" y="2909068"/>
            <a:ext cx="1912061" cy="191206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6666" r="0" b="-1666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70133" y="2909068"/>
            <a:ext cx="1912061" cy="191206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6777" r="0" b="-16777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496168" y="2909068"/>
            <a:ext cx="1912061" cy="191206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-33333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534475" y="347792"/>
            <a:ext cx="2853926" cy="131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7"/>
              </a:lnSpc>
              <a:spcBef>
                <a:spcPct val="0"/>
              </a:spcBef>
            </a:pPr>
            <a:r>
              <a:rPr lang="en-US" b="true" sz="74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Mind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14429" y="5212611"/>
            <a:ext cx="971401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Daler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14498" y="5212611"/>
            <a:ext cx="3340285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G`ayrat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32394" y="5212611"/>
            <a:ext cx="3340285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Og`abek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77479" y="5212611"/>
            <a:ext cx="3340285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Diyorbek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8392" y="5212611"/>
            <a:ext cx="3340285" cy="5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Lazizbek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68173" y="5770467"/>
            <a:ext cx="3340285" cy="181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Fullstack developer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Prompt engeener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3 yillik tajriba</a:t>
            </a:r>
          </a:p>
          <a:p>
            <a:pPr algn="ctr">
              <a:lnSpc>
                <a:spcPts val="3671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3914498" y="5770467"/>
            <a:ext cx="3340285" cy="227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Cybersecurity engeener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Vibe coder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Presentation maker</a:t>
            </a:r>
          </a:p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1 yilik tajriba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023692" y="5770467"/>
            <a:ext cx="3340285" cy="13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AI engeener</a:t>
            </a:r>
          </a:p>
          <a:p>
            <a:pPr algn="ctr">
              <a:lnSpc>
                <a:spcPts val="3671"/>
              </a:lnSpc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Designer UI/UX</a:t>
            </a:r>
          </a:p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2 yillik tajriba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77479" y="5770467"/>
            <a:ext cx="3340285" cy="44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Biznes menejer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8867" y="5770467"/>
            <a:ext cx="3340285" cy="44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sz="25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Biznes analitik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www.shutterstock.com/cae7efbc8471f7f64cf107024d185561ebf45b46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-10268" t="0" r="-10268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90000"/>
                  </a:srgbClr>
                </a:gs>
                <a:gs pos="100000">
                  <a:srgbClr val="008CA4">
                    <a:alpha val="30000"/>
                  </a:srgbClr>
                </a:gs>
              </a:gsLst>
              <a:lin ang="3638535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454579" y="1512094"/>
            <a:ext cx="3376612" cy="776288"/>
          </a:xfrm>
          <a:custGeom>
            <a:avLst/>
            <a:gdLst/>
            <a:ahLst/>
            <a:cxnLst/>
            <a:rect r="r" b="b" t="t" l="l"/>
            <a:pathLst>
              <a:path h="776288" w="3376612">
                <a:moveTo>
                  <a:pt x="0" y="0"/>
                </a:moveTo>
                <a:lnTo>
                  <a:pt x="3376613" y="0"/>
                </a:lnTo>
                <a:lnTo>
                  <a:pt x="3376613" y="776287"/>
                </a:lnTo>
                <a:lnTo>
                  <a:pt x="0" y="776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49867" y="17573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278492" y="1700212"/>
            <a:ext cx="2257425" cy="400050"/>
            <a:chOff x="0" y="0"/>
            <a:chExt cx="300990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099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951" r="0" b="-599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30099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b="true" sz="2025" spc="102">
                  <a:solidFill>
                    <a:srgbClr val="FFB2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CALL TO ACTION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4832" y="2451497"/>
            <a:ext cx="9609840" cy="1440656"/>
            <a:chOff x="0" y="0"/>
            <a:chExt cx="12813120" cy="19208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13120" cy="1920875"/>
            </a:xfrm>
            <a:custGeom>
              <a:avLst/>
              <a:gdLst/>
              <a:ahLst/>
              <a:cxnLst/>
              <a:rect r="r" b="b" t="t" l="l"/>
              <a:pathLst>
                <a:path h="1920875" w="12813120">
                  <a:moveTo>
                    <a:pt x="0" y="0"/>
                  </a:moveTo>
                  <a:lnTo>
                    <a:pt x="12813120" y="0"/>
                  </a:lnTo>
                  <a:lnTo>
                    <a:pt x="12813120" y="1920875"/>
                  </a:lnTo>
                  <a:lnTo>
                    <a:pt x="0" y="192087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8897" r="8713" b="-484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52400"/>
              <a:ext cx="128131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750" b="true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Try My Doctor Today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743325" y="3736200"/>
            <a:ext cx="10801350" cy="892950"/>
            <a:chOff x="0" y="0"/>
            <a:chExt cx="14401800" cy="1190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01800" cy="1190600"/>
            </a:xfrm>
            <a:custGeom>
              <a:avLst/>
              <a:gdLst/>
              <a:ahLst/>
              <a:cxnLst/>
              <a:rect r="r" b="b" t="t" l="l"/>
              <a:pathLst>
                <a:path h="119060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1190600"/>
                  </a:lnTo>
                  <a:lnTo>
                    <a:pt x="0" y="1190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0095" r="0" b="-1612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401800" cy="12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Sog'lig'ingizni AI bilan boshqaring. Eng yaxshi doktor bir necha soniyada!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67079" y="5086350"/>
            <a:ext cx="2286000" cy="2286000"/>
            <a:chOff x="0" y="0"/>
            <a:chExt cx="3048000" cy="304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304800" y="0"/>
                  </a:moveTo>
                  <a:lnTo>
                    <a:pt x="2743200" y="0"/>
                  </a:lnTo>
                  <a:cubicBezTo>
                    <a:pt x="2911475" y="0"/>
                    <a:pt x="3048000" y="136525"/>
                    <a:pt x="3048000" y="304800"/>
                  </a:cubicBezTo>
                  <a:lnTo>
                    <a:pt x="3048000" y="2743200"/>
                  </a:lnTo>
                  <a:cubicBezTo>
                    <a:pt x="3048000" y="2911475"/>
                    <a:pt x="2911475" y="3048000"/>
                    <a:pt x="2743200" y="3048000"/>
                  </a:cubicBezTo>
                  <a:lnTo>
                    <a:pt x="304800" y="3048000"/>
                  </a:lnTo>
                  <a:cubicBezTo>
                    <a:pt x="136525" y="3048000"/>
                    <a:pt x="0" y="2911475"/>
                    <a:pt x="0" y="2743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E6F4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95679" y="5314950"/>
            <a:ext cx="1828800" cy="1828800"/>
            <a:chOff x="0" y="0"/>
            <a:chExt cx="2438400" cy="243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228600" y="0"/>
                  </a:moveTo>
                  <a:lnTo>
                    <a:pt x="2209800" y="0"/>
                  </a:lnTo>
                  <a:cubicBezTo>
                    <a:pt x="2335911" y="0"/>
                    <a:pt x="2438400" y="102489"/>
                    <a:pt x="2438400" y="228600"/>
                  </a:cubicBezTo>
                  <a:lnTo>
                    <a:pt x="2438400" y="2209800"/>
                  </a:lnTo>
                  <a:cubicBezTo>
                    <a:pt x="2438400" y="2335911"/>
                    <a:pt x="2335911" y="2438400"/>
                    <a:pt x="2209800" y="2438400"/>
                  </a:cubicBezTo>
                  <a:lnTo>
                    <a:pt x="228600" y="2438400"/>
                  </a:lnTo>
                  <a:cubicBezTo>
                    <a:pt x="102489" y="2438400"/>
                    <a:pt x="0" y="2335911"/>
                    <a:pt x="0" y="2209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008CA4">
                <a:alpha val="784"/>
              </a:srgbClr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7035032" y="5800725"/>
            <a:ext cx="750094" cy="857250"/>
          </a:xfrm>
          <a:custGeom>
            <a:avLst/>
            <a:gdLst/>
            <a:ahLst/>
            <a:cxnLst/>
            <a:rect r="r" b="b" t="t" l="l"/>
            <a:pathLst>
              <a:path h="857250" w="750094">
                <a:moveTo>
                  <a:pt x="0" y="0"/>
                </a:moveTo>
                <a:lnTo>
                  <a:pt x="750093" y="0"/>
                </a:lnTo>
                <a:lnTo>
                  <a:pt x="750093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010279" y="5372100"/>
            <a:ext cx="3143250" cy="400050"/>
            <a:chOff x="0" y="0"/>
            <a:chExt cx="419100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91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4191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Demo link: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0279" y="5886450"/>
            <a:ext cx="3186112" cy="457200"/>
            <a:chOff x="0" y="0"/>
            <a:chExt cx="424815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48150" cy="609600"/>
            </a:xfrm>
            <a:custGeom>
              <a:avLst/>
              <a:gdLst/>
              <a:ahLst/>
              <a:cxnLst/>
              <a:rect r="r" b="b" t="t" l="l"/>
              <a:pathLst>
                <a:path h="609600" w="4248150">
                  <a:moveTo>
                    <a:pt x="0" y="0"/>
                  </a:moveTo>
                  <a:lnTo>
                    <a:pt x="4248150" y="0"/>
                  </a:lnTo>
                  <a:lnTo>
                    <a:pt x="42481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5786" r="0" b="-8578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4815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mydoctor</a:t>
              </a:r>
              <a:r>
                <a:rPr lang="en-US" sz="2700" b="true">
                  <a:solidFill>
                    <a:srgbClr val="008CA4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.uz/demo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10279" y="6229350"/>
            <a:ext cx="3283153" cy="742950"/>
            <a:chOff x="0" y="0"/>
            <a:chExt cx="4377538" cy="990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77537" cy="990600"/>
            </a:xfrm>
            <a:custGeom>
              <a:avLst/>
              <a:gdLst/>
              <a:ahLst/>
              <a:cxnLst/>
              <a:rect r="r" b="b" t="t" l="l"/>
              <a:pathLst>
                <a:path h="990600" w="4377537">
                  <a:moveTo>
                    <a:pt x="0" y="0"/>
                  </a:moveTo>
                  <a:lnTo>
                    <a:pt x="4377537" y="0"/>
                  </a:lnTo>
                  <a:lnTo>
                    <a:pt x="4377537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5513" r="4261" b="-935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4377538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8F8F8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Yoki QR code ni skanerlang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6000379" y="8055769"/>
            <a:ext cx="2962275" cy="719138"/>
          </a:xfrm>
          <a:custGeom>
            <a:avLst/>
            <a:gdLst/>
            <a:ahLst/>
            <a:cxnLst/>
            <a:rect r="r" b="b" t="t" l="l"/>
            <a:pathLst>
              <a:path h="719138" w="2962275">
                <a:moveTo>
                  <a:pt x="0" y="0"/>
                </a:moveTo>
                <a:lnTo>
                  <a:pt x="2962275" y="0"/>
                </a:lnTo>
                <a:lnTo>
                  <a:pt x="2962275" y="719137"/>
                </a:lnTo>
                <a:lnTo>
                  <a:pt x="0" y="7191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395666" y="8286750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816847" y="8243888"/>
            <a:ext cx="2066039" cy="342900"/>
            <a:chOff x="0" y="0"/>
            <a:chExt cx="2754719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54719" cy="457200"/>
            </a:xfrm>
            <a:custGeom>
              <a:avLst/>
              <a:gdLst/>
              <a:ahLst/>
              <a:cxnLst/>
              <a:rect r="r" b="b" t="t" l="l"/>
              <a:pathLst>
                <a:path h="457200" w="2754719">
                  <a:moveTo>
                    <a:pt x="0" y="0"/>
                  </a:moveTo>
                  <a:lnTo>
                    <a:pt x="2754719" y="0"/>
                  </a:lnTo>
                  <a:lnTo>
                    <a:pt x="2754719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6355" r="9408" b="-563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2754719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hello@mydoctor.uz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302582" y="8055769"/>
            <a:ext cx="2990850" cy="719138"/>
          </a:xfrm>
          <a:custGeom>
            <a:avLst/>
            <a:gdLst/>
            <a:ahLst/>
            <a:cxnLst/>
            <a:rect r="r" b="b" t="t" l="l"/>
            <a:pathLst>
              <a:path h="719138" w="2990850">
                <a:moveTo>
                  <a:pt x="0" y="0"/>
                </a:moveTo>
                <a:lnTo>
                  <a:pt x="2990850" y="0"/>
                </a:lnTo>
                <a:lnTo>
                  <a:pt x="2990850" y="719137"/>
                </a:lnTo>
                <a:lnTo>
                  <a:pt x="0" y="7191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697869" y="8286750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097919" y="8243888"/>
            <a:ext cx="1885950" cy="342900"/>
            <a:chOff x="0" y="0"/>
            <a:chExt cx="2514600" cy="45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14600" cy="457200"/>
            </a:xfrm>
            <a:custGeom>
              <a:avLst/>
              <a:gdLst/>
              <a:ahLst/>
              <a:cxnLst/>
              <a:rect r="r" b="b" t="t" l="l"/>
              <a:pathLst>
                <a:path h="457200" w="2514600">
                  <a:moveTo>
                    <a:pt x="0" y="0"/>
                  </a:moveTo>
                  <a:lnTo>
                    <a:pt x="2514600" y="0"/>
                  </a:lnTo>
                  <a:lnTo>
                    <a:pt x="2514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25146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E6F4F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+998 77 077 70 07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0"/>
            <a:ext cx="18297525" cy="10287000"/>
          </a:xfrm>
          <a:custGeom>
            <a:avLst/>
            <a:gdLst/>
            <a:ahLst/>
            <a:cxnLst/>
            <a:rect r="r" b="b" t="t" l="l"/>
            <a:pathLst>
              <a:path h="10287000" w="18297525">
                <a:moveTo>
                  <a:pt x="0" y="0"/>
                </a:moveTo>
                <a:lnTo>
                  <a:pt x="18297525" y="0"/>
                </a:lnTo>
                <a:lnTo>
                  <a:pt x="18297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81340" y="2148580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7"/>
                </a:lnTo>
                <a:lnTo>
                  <a:pt x="0" y="575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31251" y="3075607"/>
            <a:ext cx="3896553" cy="3896553"/>
          </a:xfrm>
          <a:custGeom>
            <a:avLst/>
            <a:gdLst/>
            <a:ahLst/>
            <a:cxnLst/>
            <a:rect r="r" b="b" t="t" l="l"/>
            <a:pathLst>
              <a:path h="3896553" w="3896553">
                <a:moveTo>
                  <a:pt x="0" y="0"/>
                </a:moveTo>
                <a:lnTo>
                  <a:pt x="3896553" y="0"/>
                </a:lnTo>
                <a:lnTo>
                  <a:pt x="3896553" y="3896553"/>
                </a:lnTo>
                <a:lnTo>
                  <a:pt x="0" y="3896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18132" y="2405513"/>
            <a:ext cx="9320153" cy="5236741"/>
          </a:xfrm>
          <a:custGeom>
            <a:avLst/>
            <a:gdLst/>
            <a:ahLst/>
            <a:cxnLst/>
            <a:rect r="r" b="b" t="t" l="l"/>
            <a:pathLst>
              <a:path h="5236741" w="9320153">
                <a:moveTo>
                  <a:pt x="0" y="0"/>
                </a:moveTo>
                <a:lnTo>
                  <a:pt x="9320152" y="0"/>
                </a:lnTo>
                <a:lnTo>
                  <a:pt x="9320152" y="5236741"/>
                </a:lnTo>
                <a:lnTo>
                  <a:pt x="0" y="5236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55747" y="354148"/>
            <a:ext cx="172953" cy="1037720"/>
            <a:chOff x="0" y="0"/>
            <a:chExt cx="1524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225657" y="498679"/>
            <a:ext cx="1871021" cy="1649900"/>
          </a:xfrm>
          <a:custGeom>
            <a:avLst/>
            <a:gdLst/>
            <a:ahLst/>
            <a:cxnLst/>
            <a:rect r="r" b="b" t="t" l="l"/>
            <a:pathLst>
              <a:path h="1649900" w="1871021">
                <a:moveTo>
                  <a:pt x="0" y="0"/>
                </a:moveTo>
                <a:lnTo>
                  <a:pt x="1871021" y="0"/>
                </a:lnTo>
                <a:lnTo>
                  <a:pt x="1871021" y="1649901"/>
                </a:lnTo>
                <a:lnTo>
                  <a:pt x="0" y="16499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58149" y="219580"/>
            <a:ext cx="11934158" cy="2601291"/>
            <a:chOff x="0" y="0"/>
            <a:chExt cx="15912211" cy="346838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15912211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0560"/>
                </a:lnSpc>
                <a:spcBef>
                  <a:spcPct val="0"/>
                </a:spcBef>
              </a:pPr>
              <a:r>
                <a:rPr lang="en-US" b="true" sz="8800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Bizning Hamkorlarimiz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956029"/>
              <a:ext cx="13360394" cy="1512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29292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Bular bizning loyihamizni qo`llab quvvatlashga tayyor bo`lgan klinikalar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04792" y="7784887"/>
            <a:ext cx="9468892" cy="80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1"/>
              </a:lnSpc>
              <a:spcBef>
                <a:spcPct val="0"/>
              </a:spcBef>
            </a:pPr>
            <a:r>
              <a:rPr lang="en-US" sz="4549">
                <a:solidFill>
                  <a:srgbClr val="292929"/>
                </a:solidFill>
                <a:latin typeface="Quattrocento"/>
                <a:ea typeface="Quattrocento"/>
                <a:cs typeface="Quattrocento"/>
                <a:sym typeface="Quattrocento"/>
              </a:rPr>
              <a:t>Sog`lom hayot - biz bilan boshlanadi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DAHFlsNDwr0</dc:identifier>
  <dcterms:modified xsi:type="dcterms:W3CDTF">2011-08-01T06:04:30Z</dcterms:modified>
  <cp:revision>1</cp:revision>
  <dc:title>MyDoctor</dc:title>
</cp:coreProperties>
</file>