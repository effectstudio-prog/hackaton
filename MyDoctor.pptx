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9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Quattrocento" charset="1" panose="02020502030000000404"/>
      <p:regular r:id="rId22"/>
    </p:embeddedFont>
    <p:embeddedFont>
      <p:font typeface="Quattrocento Bold" charset="1" panose="02020802030000000404"/>
      <p:regular r:id="rId23"/>
    </p:embeddedFont>
    <p:embeddedFont>
      <p:font typeface="Literata Bold" charset="1" panose="000000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notesMasters/notesMaster1.xml" Type="http://schemas.openxmlformats.org/officeDocument/2006/relationships/notesMaster"/><Relationship Id="rId2" Target="presProps.xml" Type="http://schemas.openxmlformats.org/officeDocument/2006/relationships/presProps"/><Relationship Id="rId20" Target="theme/theme2.xml" Type="http://schemas.openxmlformats.org/officeDocument/2006/relationships/theme"/><Relationship Id="rId21" Target="notesSlides/notesSlide1.xml" Type="http://schemas.openxmlformats.org/officeDocument/2006/relationships/notes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Slides/notesSlide2.xml" Type="http://schemas.openxmlformats.org/officeDocument/2006/relationships/notesSlide"/><Relationship Id="rId25" Target="fonts/font25.fntdata" Type="http://schemas.openxmlformats.org/officeDocument/2006/relationships/font"/><Relationship Id="rId26" Target="notesSlides/notesSlide3.xml" Type="http://schemas.openxmlformats.org/officeDocument/2006/relationships/notesSlide"/><Relationship Id="rId27" Target="notesSlides/notesSlide4.xml" Type="http://schemas.openxmlformats.org/officeDocument/2006/relationships/notesSlide"/><Relationship Id="rId28" Target="notesSlides/notesSlide5.xml" Type="http://schemas.openxmlformats.org/officeDocument/2006/relationships/notesSlide"/><Relationship Id="rId29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7.xml" Type="http://schemas.openxmlformats.org/officeDocument/2006/relationships/notesSlide"/><Relationship Id="rId31" Target="notesSlides/notesSlide8.xml" Type="http://schemas.openxmlformats.org/officeDocument/2006/relationships/notesSlide"/><Relationship Id="rId32" Target="notesSlides/notesSlide9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sv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Relationship Id="rId9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jpe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jpe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20.jpe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svg" Type="http://schemas.openxmlformats.org/officeDocument/2006/relationships/image"/><Relationship Id="rId12" Target="../media/image33.png" Type="http://schemas.openxmlformats.org/officeDocument/2006/relationships/image"/><Relationship Id="rId13" Target="../media/image34.svg" Type="http://schemas.openxmlformats.org/officeDocument/2006/relationships/image"/><Relationship Id="rId14" Target="../media/image35.png" Type="http://schemas.openxmlformats.org/officeDocument/2006/relationships/image"/><Relationship Id="rId15" Target="../media/image36.svg" Type="http://schemas.openxmlformats.org/officeDocument/2006/relationships/image"/><Relationship Id="rId16" Target="../media/image37.png" Type="http://schemas.openxmlformats.org/officeDocument/2006/relationships/image"/><Relationship Id="rId17" Target="../media/image38.svg" Type="http://schemas.openxmlformats.org/officeDocument/2006/relationships/image"/><Relationship Id="rId18" Target="../media/image39.png" Type="http://schemas.openxmlformats.org/officeDocument/2006/relationships/image"/><Relationship Id="rId19" Target="../media/image40.sv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2.jpe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7.png" Type="http://schemas.openxmlformats.org/officeDocument/2006/relationships/image"/><Relationship Id="rId11" Target="../media/image48.svg" Type="http://schemas.openxmlformats.org/officeDocument/2006/relationships/image"/><Relationship Id="rId12" Target="../media/image49.png" Type="http://schemas.openxmlformats.org/officeDocument/2006/relationships/image"/><Relationship Id="rId13" Target="../media/image50.svg" Type="http://schemas.openxmlformats.org/officeDocument/2006/relationships/image"/><Relationship Id="rId14" Target="../media/image51.png" Type="http://schemas.openxmlformats.org/officeDocument/2006/relationships/image"/><Relationship Id="rId15" Target="../media/image52.sv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2.jpeg" Type="http://schemas.openxmlformats.org/officeDocument/2006/relationships/image"/><Relationship Id="rId4" Target="../media/image41.png" Type="http://schemas.openxmlformats.org/officeDocument/2006/relationships/image"/><Relationship Id="rId5" Target="../media/image42.svg" Type="http://schemas.openxmlformats.org/officeDocument/2006/relationships/image"/><Relationship Id="rId6" Target="../media/image43.png" Type="http://schemas.openxmlformats.org/officeDocument/2006/relationships/image"/><Relationship Id="rId7" Target="../media/image44.svg" Type="http://schemas.openxmlformats.org/officeDocument/2006/relationships/image"/><Relationship Id="rId8" Target="../media/image45.png" Type="http://schemas.openxmlformats.org/officeDocument/2006/relationships/image"/><Relationship Id="rId9" Target="../media/image4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9.png" Type="http://schemas.openxmlformats.org/officeDocument/2006/relationships/image"/><Relationship Id="rId11" Target="../media/image60.svg" Type="http://schemas.openxmlformats.org/officeDocument/2006/relationships/image"/><Relationship Id="rId12" Target="../media/image61.png" Type="http://schemas.openxmlformats.org/officeDocument/2006/relationships/image"/><Relationship Id="rId13" Target="../media/image62.svg" Type="http://schemas.openxmlformats.org/officeDocument/2006/relationships/image"/><Relationship Id="rId14" Target="../media/image63.jpeg" Type="http://schemas.openxmlformats.org/officeDocument/2006/relationships/image"/><Relationship Id="rId2" Target="../notesSlides/notesSlide6.xml" Type="http://schemas.openxmlformats.org/officeDocument/2006/relationships/notesSlide"/><Relationship Id="rId3" Target="../media/image2.jpeg" Type="http://schemas.openxmlformats.org/officeDocument/2006/relationships/image"/><Relationship Id="rId4" Target="../media/image53.png" Type="http://schemas.openxmlformats.org/officeDocument/2006/relationships/image"/><Relationship Id="rId5" Target="../media/image54.svg" Type="http://schemas.openxmlformats.org/officeDocument/2006/relationships/image"/><Relationship Id="rId6" Target="../media/image55.png" Type="http://schemas.openxmlformats.org/officeDocument/2006/relationships/image"/><Relationship Id="rId7" Target="../media/image56.svg" Type="http://schemas.openxmlformats.org/officeDocument/2006/relationships/image"/><Relationship Id="rId8" Target="../media/image57.png" Type="http://schemas.openxmlformats.org/officeDocument/2006/relationships/image"/><Relationship Id="rId9" Target="../media/image5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0.png" Type="http://schemas.openxmlformats.org/officeDocument/2006/relationships/image"/><Relationship Id="rId11" Target="../media/image71.svg" Type="http://schemas.openxmlformats.org/officeDocument/2006/relationships/image"/><Relationship Id="rId12" Target="../media/image72.png" Type="http://schemas.openxmlformats.org/officeDocument/2006/relationships/image"/><Relationship Id="rId13" Target="../media/image73.svg" Type="http://schemas.openxmlformats.org/officeDocument/2006/relationships/image"/><Relationship Id="rId14" Target="../media/image74.png" Type="http://schemas.openxmlformats.org/officeDocument/2006/relationships/image"/><Relationship Id="rId15" Target="../media/image75.svg" Type="http://schemas.openxmlformats.org/officeDocument/2006/relationships/image"/><Relationship Id="rId16" Target="../media/image76.png" Type="http://schemas.openxmlformats.org/officeDocument/2006/relationships/image"/><Relationship Id="rId17" Target="../media/image77.svg" Type="http://schemas.openxmlformats.org/officeDocument/2006/relationships/image"/><Relationship Id="rId2" Target="../notesSlides/notesSlide7.xml" Type="http://schemas.openxmlformats.org/officeDocument/2006/relationships/notesSlide"/><Relationship Id="rId3" Target="../media/image2.jpeg" Type="http://schemas.openxmlformats.org/officeDocument/2006/relationships/image"/><Relationship Id="rId4" Target="../media/image64.png" Type="http://schemas.openxmlformats.org/officeDocument/2006/relationships/image"/><Relationship Id="rId5" Target="../media/image65.svg" Type="http://schemas.openxmlformats.org/officeDocument/2006/relationships/image"/><Relationship Id="rId6" Target="../media/image66.png" Type="http://schemas.openxmlformats.org/officeDocument/2006/relationships/image"/><Relationship Id="rId7" Target="../media/image67.svg" Type="http://schemas.openxmlformats.org/officeDocument/2006/relationships/image"/><Relationship Id="rId8" Target="../media/image68.png" Type="http://schemas.openxmlformats.org/officeDocument/2006/relationships/image"/><Relationship Id="rId9" Target="../media/image69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4.png" Type="http://schemas.openxmlformats.org/officeDocument/2006/relationships/image"/><Relationship Id="rId11" Target="../media/image85.svg" Type="http://schemas.openxmlformats.org/officeDocument/2006/relationships/image"/><Relationship Id="rId2" Target="../notesSlides/notesSlide8.xml" Type="http://schemas.openxmlformats.org/officeDocument/2006/relationships/notesSlide"/><Relationship Id="rId3" Target="../media/image2.jpeg" Type="http://schemas.openxmlformats.org/officeDocument/2006/relationships/image"/><Relationship Id="rId4" Target="../media/image78.png" Type="http://schemas.openxmlformats.org/officeDocument/2006/relationships/image"/><Relationship Id="rId5" Target="../media/image79.svg" Type="http://schemas.openxmlformats.org/officeDocument/2006/relationships/image"/><Relationship Id="rId6" Target="../media/image80.png" Type="http://schemas.openxmlformats.org/officeDocument/2006/relationships/image"/><Relationship Id="rId7" Target="../media/image81.svg" Type="http://schemas.openxmlformats.org/officeDocument/2006/relationships/image"/><Relationship Id="rId8" Target="../media/image82.png" Type="http://schemas.openxmlformats.org/officeDocument/2006/relationships/image"/><Relationship Id="rId9" Target="../media/image83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4.jpeg" Type="http://schemas.openxmlformats.org/officeDocument/2006/relationships/image"/><Relationship Id="rId2" Target="../media/image86.png" Type="http://schemas.openxmlformats.org/officeDocument/2006/relationships/image"/><Relationship Id="rId3" Target="../media/image87.svg" Type="http://schemas.openxmlformats.org/officeDocument/2006/relationships/image"/><Relationship Id="rId4" Target="../media/image88.png" Type="http://schemas.openxmlformats.org/officeDocument/2006/relationships/image"/><Relationship Id="rId5" Target="../media/image89.svg" Type="http://schemas.openxmlformats.org/officeDocument/2006/relationships/image"/><Relationship Id="rId6" Target="../media/image90.jpeg" Type="http://schemas.openxmlformats.org/officeDocument/2006/relationships/image"/><Relationship Id="rId7" Target="../media/image91.jpeg" Type="http://schemas.openxmlformats.org/officeDocument/2006/relationships/image"/><Relationship Id="rId8" Target="../media/image92.jpeg" Type="http://schemas.openxmlformats.org/officeDocument/2006/relationships/image"/><Relationship Id="rId9" Target="../media/image93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1.svg" Type="http://schemas.openxmlformats.org/officeDocument/2006/relationships/image"/><Relationship Id="rId11" Target="../media/image102.png" Type="http://schemas.openxmlformats.org/officeDocument/2006/relationships/image"/><Relationship Id="rId12" Target="../media/image103.svg" Type="http://schemas.openxmlformats.org/officeDocument/2006/relationships/image"/><Relationship Id="rId13" Target="../media/image104.png" Type="http://schemas.openxmlformats.org/officeDocument/2006/relationships/image"/><Relationship Id="rId14" Target="../media/image105.svg" Type="http://schemas.openxmlformats.org/officeDocument/2006/relationships/image"/><Relationship Id="rId15" Target="../media/image106.png" Type="http://schemas.openxmlformats.org/officeDocument/2006/relationships/image"/><Relationship Id="rId16" Target="../media/image107.svg" Type="http://schemas.openxmlformats.org/officeDocument/2006/relationships/image"/><Relationship Id="rId17" Target="../media/image108.png" Type="http://schemas.openxmlformats.org/officeDocument/2006/relationships/image"/><Relationship Id="rId18" Target="../media/image109.svg" Type="http://schemas.openxmlformats.org/officeDocument/2006/relationships/image"/><Relationship Id="rId2" Target="../notesSlides/notesSlide9.xml" Type="http://schemas.openxmlformats.org/officeDocument/2006/relationships/notesSlide"/><Relationship Id="rId3" Target="../media/image95.jpeg" Type="http://schemas.openxmlformats.org/officeDocument/2006/relationships/image"/><Relationship Id="rId4" Target="../media/image96.png" Type="http://schemas.openxmlformats.org/officeDocument/2006/relationships/image"/><Relationship Id="rId5" Target="../media/image97.svg" Type="http://schemas.openxmlformats.org/officeDocument/2006/relationships/image"/><Relationship Id="rId6" Target="../media/image98.png" Type="http://schemas.openxmlformats.org/officeDocument/2006/relationships/image"/><Relationship Id="rId7" Target="../media/image99.svg" Type="http://schemas.openxmlformats.org/officeDocument/2006/relationships/image"/><Relationship Id="rId8" Target="../media/image2.jpeg" Type="http://schemas.openxmlformats.org/officeDocument/2006/relationships/image"/><Relationship Id="rId9" Target="../media/image10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008CA4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 descr="https://kimi-web-img.moonshot.cn/img/static.vecteezy.com/3935b97fe674ab54978a64a23bc4bdd5a1b7ea52.jp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40000"/>
              </a:blip>
              <a:stretch>
                <a:fillRect l="0" t="-4308" r="0" b="-4308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35239" y="4305446"/>
            <a:ext cx="6554974" cy="720010"/>
            <a:chOff x="0" y="0"/>
            <a:chExt cx="8739966" cy="9600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739966" cy="960014"/>
            </a:xfrm>
            <a:custGeom>
              <a:avLst/>
              <a:gdLst/>
              <a:ahLst/>
              <a:cxnLst/>
              <a:rect r="r" b="b" t="t" l="l"/>
              <a:pathLst>
                <a:path h="960014" w="8739966">
                  <a:moveTo>
                    <a:pt x="0" y="0"/>
                  </a:moveTo>
                  <a:lnTo>
                    <a:pt x="8739966" y="0"/>
                  </a:lnTo>
                  <a:lnTo>
                    <a:pt x="8739966" y="960014"/>
                  </a:lnTo>
                  <a:lnTo>
                    <a:pt x="0" y="96001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9996" r="23494" b="-7143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8739966" cy="9600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49"/>
                </a:lnSpc>
              </a:pPr>
              <a:r>
                <a:rPr lang="en-US" sz="4374">
                  <a:solidFill>
                    <a:srgbClr val="E6F4F6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AI-powered doctor finder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329488" y="6693694"/>
            <a:ext cx="1371600" cy="14288"/>
            <a:chOff x="0" y="0"/>
            <a:chExt cx="1828800" cy="190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28800" cy="19050"/>
            </a:xfrm>
            <a:custGeom>
              <a:avLst/>
              <a:gdLst/>
              <a:ahLst/>
              <a:cxnLst/>
              <a:rect r="r" b="b" t="t" l="l"/>
              <a:pathLst>
                <a:path h="1905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9050"/>
                  </a:lnTo>
                  <a:lnTo>
                    <a:pt x="0" y="19050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008CA4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7259300" y="252190"/>
            <a:ext cx="776510" cy="776510"/>
          </a:xfrm>
          <a:custGeom>
            <a:avLst/>
            <a:gdLst/>
            <a:ahLst/>
            <a:cxnLst/>
            <a:rect r="r" b="b" t="t" l="l"/>
            <a:pathLst>
              <a:path h="776510" w="776510">
                <a:moveTo>
                  <a:pt x="0" y="0"/>
                </a:moveTo>
                <a:lnTo>
                  <a:pt x="776510" y="0"/>
                </a:lnTo>
                <a:lnTo>
                  <a:pt x="776510" y="776510"/>
                </a:lnTo>
                <a:lnTo>
                  <a:pt x="0" y="7765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9586912" y="6693694"/>
            <a:ext cx="1371600" cy="14288"/>
            <a:chOff x="0" y="0"/>
            <a:chExt cx="1828800" cy="190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28800" cy="19050"/>
            </a:xfrm>
            <a:custGeom>
              <a:avLst/>
              <a:gdLst/>
              <a:ahLst/>
              <a:cxnLst/>
              <a:rect r="r" b="b" t="t" l="l"/>
              <a:pathLst>
                <a:path h="1905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9050"/>
                  </a:lnTo>
                  <a:lnTo>
                    <a:pt x="0" y="19050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008CA4">
                    <a:alpha val="100000"/>
                  </a:srgbClr>
                </a:gs>
              </a:gsLst>
              <a:lin ang="10800000"/>
            </a:gra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487887" y="5427906"/>
            <a:ext cx="5713672" cy="1280075"/>
            <a:chOff x="0" y="0"/>
            <a:chExt cx="7618229" cy="170676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618229" cy="1706767"/>
            </a:xfrm>
            <a:custGeom>
              <a:avLst/>
              <a:gdLst/>
              <a:ahLst/>
              <a:cxnLst/>
              <a:rect r="r" b="b" t="t" l="l"/>
              <a:pathLst>
                <a:path h="1706767" w="7618229">
                  <a:moveTo>
                    <a:pt x="0" y="0"/>
                  </a:moveTo>
                  <a:lnTo>
                    <a:pt x="7618229" y="0"/>
                  </a:lnTo>
                  <a:lnTo>
                    <a:pt x="7618229" y="1706767"/>
                  </a:lnTo>
                  <a:lnTo>
                    <a:pt x="0" y="170676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2014" r="10729" b="673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23825"/>
              <a:ext cx="7618229" cy="18305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98"/>
                </a:lnSpc>
              </a:pPr>
              <a:r>
                <a:rPr lang="en-US" b="true" sz="3524">
                  <a:solidFill>
                    <a:srgbClr val="E6F4F6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Sog'ligingiz uchun aqlli yo'l ko'rsatuvchi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506012" y="534976"/>
            <a:ext cx="6931289" cy="9217049"/>
          </a:xfrm>
          <a:custGeom>
            <a:avLst/>
            <a:gdLst/>
            <a:ahLst/>
            <a:cxnLst/>
            <a:rect r="r" b="b" t="t" l="l"/>
            <a:pathLst>
              <a:path h="9217049" w="6931289">
                <a:moveTo>
                  <a:pt x="0" y="0"/>
                </a:moveTo>
                <a:lnTo>
                  <a:pt x="6931289" y="0"/>
                </a:lnTo>
                <a:lnTo>
                  <a:pt x="6931289" y="9217048"/>
                </a:lnTo>
                <a:lnTo>
                  <a:pt x="0" y="92170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08" r="0" b="-108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822494" y="1984598"/>
            <a:ext cx="4283372" cy="4304835"/>
          </a:xfrm>
          <a:custGeom>
            <a:avLst/>
            <a:gdLst/>
            <a:ahLst/>
            <a:cxnLst/>
            <a:rect r="r" b="b" t="t" l="l"/>
            <a:pathLst>
              <a:path h="4304835" w="4283372">
                <a:moveTo>
                  <a:pt x="0" y="0"/>
                </a:moveTo>
                <a:lnTo>
                  <a:pt x="4283372" y="0"/>
                </a:lnTo>
                <a:lnTo>
                  <a:pt x="4283372" y="4304835"/>
                </a:lnTo>
                <a:lnTo>
                  <a:pt x="0" y="43048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3020835" y="9428136"/>
            <a:ext cx="647776" cy="647776"/>
          </a:xfrm>
          <a:custGeom>
            <a:avLst/>
            <a:gdLst/>
            <a:ahLst/>
            <a:cxnLst/>
            <a:rect r="r" b="b" t="t" l="l"/>
            <a:pathLst>
              <a:path h="647776" w="647776">
                <a:moveTo>
                  <a:pt x="0" y="0"/>
                </a:moveTo>
                <a:lnTo>
                  <a:pt x="647776" y="0"/>
                </a:lnTo>
                <a:lnTo>
                  <a:pt x="647776" y="647776"/>
                </a:lnTo>
                <a:lnTo>
                  <a:pt x="0" y="6477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9173691" y="1546448"/>
            <a:ext cx="7400181" cy="2356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92"/>
              </a:lnSpc>
              <a:spcBef>
                <a:spcPct val="0"/>
              </a:spcBef>
            </a:pPr>
            <a:r>
              <a:rPr lang="en-US" b="true" sz="12623">
                <a:solidFill>
                  <a:srgbClr val="FFFFFF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MyDoctor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716293" y="9466845"/>
            <a:ext cx="2670125" cy="475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8"/>
              </a:lnSpc>
              <a:spcBef>
                <a:spcPct val="0"/>
              </a:spcBef>
            </a:pPr>
            <a:r>
              <a:rPr lang="en-US" sz="2524">
                <a:solidFill>
                  <a:srgbClr val="FDFDFC"/>
                </a:solidFill>
                <a:latin typeface="Quattrocento"/>
                <a:ea typeface="Quattrocento"/>
                <a:cs typeface="Quattrocento"/>
                <a:sym typeface="Quattrocento"/>
              </a:rPr>
              <a:t>www.mydoctor.uz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571500"/>
            <a:ext cx="114300" cy="685800"/>
            <a:chOff x="0" y="0"/>
            <a:chExt cx="152400" cy="914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52400">
                  <a:moveTo>
                    <a:pt x="76200" y="0"/>
                  </a:move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838200"/>
                  </a:lnTo>
                  <a:cubicBezTo>
                    <a:pt x="152400" y="880237"/>
                    <a:pt x="118237" y="914400"/>
                    <a:pt x="76200" y="914400"/>
                  </a:cubicBezTo>
                  <a:cubicBezTo>
                    <a:pt x="34163" y="914400"/>
                    <a:pt x="0" y="880237"/>
                    <a:pt x="0" y="838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000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1485900"/>
            <a:ext cx="16944975" cy="416071"/>
            <a:chOff x="0" y="0"/>
            <a:chExt cx="22593300" cy="5547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593300" cy="554762"/>
            </a:xfrm>
            <a:custGeom>
              <a:avLst/>
              <a:gdLst/>
              <a:ahLst/>
              <a:cxnLst/>
              <a:rect r="r" b="b" t="t" l="l"/>
              <a:pathLst>
                <a:path h="554762" w="22593300">
                  <a:moveTo>
                    <a:pt x="0" y="0"/>
                  </a:moveTo>
                  <a:lnTo>
                    <a:pt x="22593300" y="0"/>
                  </a:lnTo>
                  <a:lnTo>
                    <a:pt x="22593300" y="554762"/>
                  </a:lnTo>
                  <a:lnTo>
                    <a:pt x="0" y="55476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5475" r="0" b="-74162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22593300" cy="6214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71"/>
                </a:lnSpc>
              </a:pPr>
              <a:r>
                <a:rPr lang="en-US" sz="2549">
                  <a:solidFill>
                    <a:srgbClr val="8F8F8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Sog'liqni saqlashda uchraydigan asosiy muammolar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569119" y="2340769"/>
            <a:ext cx="5419725" cy="7377112"/>
          </a:xfrm>
          <a:custGeom>
            <a:avLst/>
            <a:gdLst/>
            <a:ahLst/>
            <a:cxnLst/>
            <a:rect r="r" b="b" t="t" l="l"/>
            <a:pathLst>
              <a:path h="7377112" w="5419725">
                <a:moveTo>
                  <a:pt x="0" y="0"/>
                </a:moveTo>
                <a:lnTo>
                  <a:pt x="5419725" y="0"/>
                </a:lnTo>
                <a:lnTo>
                  <a:pt x="5419725" y="7377112"/>
                </a:lnTo>
                <a:lnTo>
                  <a:pt x="0" y="73771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2590724" y="2814638"/>
            <a:ext cx="1371600" cy="1371600"/>
            <a:chOff x="0" y="0"/>
            <a:chExt cx="1828800" cy="1828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914400" y="0"/>
                  </a:moveTo>
                  <a:cubicBezTo>
                    <a:pt x="1419098" y="0"/>
                    <a:pt x="1828800" y="409702"/>
                    <a:pt x="1828800" y="914400"/>
                  </a:cubicBezTo>
                  <a:cubicBezTo>
                    <a:pt x="1828800" y="1419098"/>
                    <a:pt x="1419098" y="1828800"/>
                    <a:pt x="914400" y="1828800"/>
                  </a:cubicBezTo>
                  <a:cubicBezTo>
                    <a:pt x="409702" y="1828800"/>
                    <a:pt x="0" y="1419098"/>
                    <a:pt x="0" y="914400"/>
                  </a:cubicBezTo>
                  <a:cubicBezTo>
                    <a:pt x="0" y="409702"/>
                    <a:pt x="409702" y="0"/>
                    <a:pt x="914400" y="0"/>
                  </a:cubicBezTo>
                  <a:close/>
                </a:path>
              </a:pathLst>
            </a:custGeom>
            <a:solidFill>
              <a:srgbClr val="FF0000">
                <a:alpha val="3922"/>
              </a:srgbClr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2933624" y="3157538"/>
            <a:ext cx="685800" cy="685800"/>
          </a:xfrm>
          <a:custGeom>
            <a:avLst/>
            <a:gdLst/>
            <a:ahLst/>
            <a:cxnLst/>
            <a:rect r="r" b="b" t="t" l="l"/>
            <a:pathLst>
              <a:path h="685800" w="68580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957262" y="4529138"/>
            <a:ext cx="4643438" cy="1129665"/>
            <a:chOff x="0" y="0"/>
            <a:chExt cx="6191250" cy="15062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191250" cy="1506219"/>
            </a:xfrm>
            <a:custGeom>
              <a:avLst/>
              <a:gdLst/>
              <a:ahLst/>
              <a:cxnLst/>
              <a:rect r="r" b="b" t="t" l="l"/>
              <a:pathLst>
                <a:path h="1506219" w="6191250">
                  <a:moveTo>
                    <a:pt x="0" y="0"/>
                  </a:moveTo>
                  <a:lnTo>
                    <a:pt x="6191250" y="0"/>
                  </a:lnTo>
                  <a:lnTo>
                    <a:pt x="6191250" y="1506219"/>
                  </a:lnTo>
                  <a:lnTo>
                    <a:pt x="0" y="15062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620" r="0" b="-2056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6191250" cy="1534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59"/>
                </a:lnSpc>
              </a:pPr>
              <a:r>
                <a:rPr lang="en-US" sz="2999" b="true">
                  <a:solidFill>
                    <a:srgbClr val="FFFFF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Qaysi doktorga borishni bilmaydi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6001702"/>
            <a:ext cx="4600575" cy="1482513"/>
            <a:chOff x="0" y="0"/>
            <a:chExt cx="6134100" cy="197668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134100" cy="1976684"/>
            </a:xfrm>
            <a:custGeom>
              <a:avLst/>
              <a:gdLst/>
              <a:ahLst/>
              <a:cxnLst/>
              <a:rect r="r" b="b" t="t" l="l"/>
              <a:pathLst>
                <a:path h="1976684" w="6134100">
                  <a:moveTo>
                    <a:pt x="0" y="0"/>
                  </a:moveTo>
                  <a:lnTo>
                    <a:pt x="6134100" y="0"/>
                  </a:lnTo>
                  <a:lnTo>
                    <a:pt x="6134100" y="1976684"/>
                  </a:lnTo>
                  <a:lnTo>
                    <a:pt x="0" y="19766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62" r="0" b="-287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23825"/>
              <a:ext cx="6134100" cy="21005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241"/>
                </a:lnSpc>
              </a:pPr>
              <a:r>
                <a:rPr lang="en-US" sz="2524">
                  <a:solidFill>
                    <a:srgbClr val="E6F4F6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Odamlar simptomlariga qaysi mutaxassis mos kelishini aniqlay olmaydi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6436366" y="2340769"/>
            <a:ext cx="5419725" cy="7377112"/>
          </a:xfrm>
          <a:custGeom>
            <a:avLst/>
            <a:gdLst/>
            <a:ahLst/>
            <a:cxnLst/>
            <a:rect r="r" b="b" t="t" l="l"/>
            <a:pathLst>
              <a:path h="7377112" w="5419725">
                <a:moveTo>
                  <a:pt x="0" y="0"/>
                </a:moveTo>
                <a:lnTo>
                  <a:pt x="5419725" y="0"/>
                </a:lnTo>
                <a:lnTo>
                  <a:pt x="5419725" y="7377112"/>
                </a:lnTo>
                <a:lnTo>
                  <a:pt x="0" y="73771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8457981" y="2814638"/>
            <a:ext cx="1371600" cy="1371600"/>
            <a:chOff x="0" y="0"/>
            <a:chExt cx="1828800" cy="1828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914400" y="0"/>
                  </a:moveTo>
                  <a:cubicBezTo>
                    <a:pt x="1419098" y="0"/>
                    <a:pt x="1828800" y="409702"/>
                    <a:pt x="1828800" y="914400"/>
                  </a:cubicBezTo>
                  <a:cubicBezTo>
                    <a:pt x="1828800" y="1419098"/>
                    <a:pt x="1419098" y="1828800"/>
                    <a:pt x="914400" y="1828800"/>
                  </a:cubicBezTo>
                  <a:cubicBezTo>
                    <a:pt x="409702" y="1828800"/>
                    <a:pt x="0" y="1419098"/>
                    <a:pt x="0" y="914400"/>
                  </a:cubicBezTo>
                  <a:cubicBezTo>
                    <a:pt x="0" y="409702"/>
                    <a:pt x="409702" y="0"/>
                    <a:pt x="914400" y="0"/>
                  </a:cubicBezTo>
                  <a:close/>
                </a:path>
              </a:pathLst>
            </a:custGeom>
            <a:solidFill>
              <a:srgbClr val="FF0000">
                <a:alpha val="3922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800881" y="3157538"/>
            <a:ext cx="685800" cy="685800"/>
            <a:chOff x="0" y="0"/>
            <a:chExt cx="914400" cy="914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457200" y="0"/>
                  </a:moveTo>
                  <a:cubicBezTo>
                    <a:pt x="709549" y="0"/>
                    <a:pt x="914400" y="204851"/>
                    <a:pt x="914400" y="457200"/>
                  </a:cubicBezTo>
                  <a:cubicBezTo>
                    <a:pt x="914400" y="709549"/>
                    <a:pt x="709549" y="914400"/>
                    <a:pt x="457200" y="914400"/>
                  </a:cubicBezTo>
                  <a:cubicBezTo>
                    <a:pt x="204851" y="914400"/>
                    <a:pt x="0" y="709549"/>
                    <a:pt x="0" y="457200"/>
                  </a:cubicBezTo>
                  <a:cubicBezTo>
                    <a:pt x="0" y="204851"/>
                    <a:pt x="204851" y="0"/>
                    <a:pt x="457200" y="0"/>
                  </a:cubicBezTo>
                  <a:close/>
                  <a:moveTo>
                    <a:pt x="414401" y="214249"/>
                  </a:moveTo>
                  <a:lnTo>
                    <a:pt x="414401" y="457200"/>
                  </a:lnTo>
                  <a:cubicBezTo>
                    <a:pt x="414401" y="471551"/>
                    <a:pt x="421513" y="484886"/>
                    <a:pt x="433451" y="492887"/>
                  </a:cubicBezTo>
                  <a:lnTo>
                    <a:pt x="604901" y="607187"/>
                  </a:lnTo>
                  <a:cubicBezTo>
                    <a:pt x="624586" y="620395"/>
                    <a:pt x="651129" y="615061"/>
                    <a:pt x="664337" y="595249"/>
                  </a:cubicBezTo>
                  <a:cubicBezTo>
                    <a:pt x="677545" y="575437"/>
                    <a:pt x="672211" y="549021"/>
                    <a:pt x="652399" y="535813"/>
                  </a:cubicBezTo>
                  <a:lnTo>
                    <a:pt x="499999" y="434340"/>
                  </a:lnTo>
                  <a:lnTo>
                    <a:pt x="499999" y="214249"/>
                  </a:lnTo>
                  <a:cubicBezTo>
                    <a:pt x="499999" y="190500"/>
                    <a:pt x="480949" y="171450"/>
                    <a:pt x="457200" y="171450"/>
                  </a:cubicBezTo>
                  <a:cubicBezTo>
                    <a:pt x="433451" y="171450"/>
                    <a:pt x="414401" y="190500"/>
                    <a:pt x="414401" y="214249"/>
                  </a:cubicBezTo>
                  <a:close/>
                </a:path>
              </a:pathLst>
            </a:custGeom>
            <a:solidFill>
              <a:srgbClr val="FF000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977434" y="4529138"/>
            <a:ext cx="4329112" cy="1129665"/>
            <a:chOff x="0" y="0"/>
            <a:chExt cx="5772150" cy="15062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772150" cy="1506219"/>
            </a:xfrm>
            <a:custGeom>
              <a:avLst/>
              <a:gdLst/>
              <a:ahLst/>
              <a:cxnLst/>
              <a:rect r="r" b="b" t="t" l="l"/>
              <a:pathLst>
                <a:path h="1506219" w="5772150">
                  <a:moveTo>
                    <a:pt x="0" y="0"/>
                  </a:moveTo>
                  <a:lnTo>
                    <a:pt x="5772150" y="0"/>
                  </a:lnTo>
                  <a:lnTo>
                    <a:pt x="5772150" y="1506219"/>
                  </a:lnTo>
                  <a:lnTo>
                    <a:pt x="0" y="15062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434" r="0" b="5093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5772150" cy="1534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59"/>
                </a:lnSpc>
              </a:pPr>
              <a:r>
                <a:rPr lang="en-US" sz="2999" b="true">
                  <a:solidFill>
                    <a:srgbClr val="FFFFF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Vaqt yo'q, noto'g'ri tanlovlar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846056" y="6029325"/>
            <a:ext cx="4600575" cy="949113"/>
            <a:chOff x="0" y="0"/>
            <a:chExt cx="6134100" cy="126548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134100" cy="1265484"/>
            </a:xfrm>
            <a:custGeom>
              <a:avLst/>
              <a:gdLst/>
              <a:ahLst/>
              <a:cxnLst/>
              <a:rect r="r" b="b" t="t" l="l"/>
              <a:pathLst>
                <a:path h="1265484" w="6134100">
                  <a:moveTo>
                    <a:pt x="0" y="0"/>
                  </a:moveTo>
                  <a:lnTo>
                    <a:pt x="6134100" y="0"/>
                  </a:lnTo>
                  <a:lnTo>
                    <a:pt x="6134100" y="1265484"/>
                  </a:lnTo>
                  <a:lnTo>
                    <a:pt x="0" y="12654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040" r="0" b="-38856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23825"/>
              <a:ext cx="6134100" cy="138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241"/>
                </a:lnSpc>
              </a:pPr>
              <a:r>
                <a:rPr lang="en-US" sz="2524">
                  <a:solidFill>
                    <a:srgbClr val="E6F4F6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Tezda doktor topish kerak, lekin qidirish vaqqti yo'q</a:t>
              </a: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12303843" y="2340769"/>
            <a:ext cx="5419725" cy="7377112"/>
          </a:xfrm>
          <a:custGeom>
            <a:avLst/>
            <a:gdLst/>
            <a:ahLst/>
            <a:cxnLst/>
            <a:rect r="r" b="b" t="t" l="l"/>
            <a:pathLst>
              <a:path h="7377112" w="5419725">
                <a:moveTo>
                  <a:pt x="0" y="0"/>
                </a:moveTo>
                <a:lnTo>
                  <a:pt x="5419725" y="0"/>
                </a:lnTo>
                <a:lnTo>
                  <a:pt x="5419725" y="7377112"/>
                </a:lnTo>
                <a:lnTo>
                  <a:pt x="0" y="73771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14325448" y="2814638"/>
            <a:ext cx="1371600" cy="1371600"/>
            <a:chOff x="0" y="0"/>
            <a:chExt cx="1828800" cy="1828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914400" y="0"/>
                  </a:moveTo>
                  <a:cubicBezTo>
                    <a:pt x="1419098" y="0"/>
                    <a:pt x="1828800" y="409702"/>
                    <a:pt x="1828800" y="914400"/>
                  </a:cubicBezTo>
                  <a:cubicBezTo>
                    <a:pt x="1828800" y="1419098"/>
                    <a:pt x="1419098" y="1828800"/>
                    <a:pt x="914400" y="1828800"/>
                  </a:cubicBezTo>
                  <a:cubicBezTo>
                    <a:pt x="409702" y="1828800"/>
                    <a:pt x="0" y="1419098"/>
                    <a:pt x="0" y="914400"/>
                  </a:cubicBezTo>
                  <a:cubicBezTo>
                    <a:pt x="0" y="409702"/>
                    <a:pt x="409702" y="0"/>
                    <a:pt x="914400" y="0"/>
                  </a:cubicBezTo>
                  <a:close/>
                </a:path>
              </a:pathLst>
            </a:custGeom>
            <a:solidFill>
              <a:srgbClr val="FF0000">
                <a:alpha val="3922"/>
              </a:srgbClr>
            </a:solidFill>
          </p:spPr>
        </p:sp>
      </p:grpSp>
      <p:sp>
        <p:nvSpPr>
          <p:cNvPr name="Freeform 31" id="31"/>
          <p:cNvSpPr/>
          <p:nvPr/>
        </p:nvSpPr>
        <p:spPr>
          <a:xfrm flipH="false" flipV="false" rot="0">
            <a:off x="14668348" y="3157538"/>
            <a:ext cx="685800" cy="685800"/>
          </a:xfrm>
          <a:custGeom>
            <a:avLst/>
            <a:gdLst/>
            <a:ahLst/>
            <a:cxnLst/>
            <a:rect r="r" b="b" t="t" l="l"/>
            <a:pathLst>
              <a:path h="685800" w="68580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12825936" y="4529138"/>
            <a:ext cx="4371975" cy="1129665"/>
            <a:chOff x="0" y="0"/>
            <a:chExt cx="5829300" cy="15062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829300" cy="1506219"/>
            </a:xfrm>
            <a:custGeom>
              <a:avLst/>
              <a:gdLst/>
              <a:ahLst/>
              <a:cxnLst/>
              <a:rect r="r" b="b" t="t" l="l"/>
              <a:pathLst>
                <a:path h="1506219" w="5829300">
                  <a:moveTo>
                    <a:pt x="0" y="0"/>
                  </a:moveTo>
                  <a:lnTo>
                    <a:pt x="5829300" y="0"/>
                  </a:lnTo>
                  <a:lnTo>
                    <a:pt x="5829300" y="1506219"/>
                  </a:lnTo>
                  <a:lnTo>
                    <a:pt x="0" y="15062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173" r="0" b="4353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5829300" cy="1534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59"/>
                </a:lnSpc>
              </a:pPr>
              <a:r>
                <a:rPr lang="en-US" sz="2999" b="true">
                  <a:solidFill>
                    <a:srgbClr val="FFFFF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Sifatli tibbiy yo'naltirish yo'q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713418" y="6029325"/>
            <a:ext cx="4600575" cy="1507331"/>
            <a:chOff x="0" y="0"/>
            <a:chExt cx="6134100" cy="200977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134100" cy="2009775"/>
            </a:xfrm>
            <a:custGeom>
              <a:avLst/>
              <a:gdLst/>
              <a:ahLst/>
              <a:cxnLst/>
              <a:rect r="r" b="b" t="t" l="l"/>
              <a:pathLst>
                <a:path h="2009775" w="6134100">
                  <a:moveTo>
                    <a:pt x="0" y="0"/>
                  </a:moveTo>
                  <a:lnTo>
                    <a:pt x="6134100" y="0"/>
                  </a:lnTo>
                  <a:lnTo>
                    <a:pt x="6134100" y="2009775"/>
                  </a:lnTo>
                  <a:lnTo>
                    <a:pt x="0" y="20097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508" r="0" b="12566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23825"/>
              <a:ext cx="6134100" cy="2133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241"/>
                </a:lnSpc>
              </a:pPr>
              <a:r>
                <a:rPr lang="en-US" sz="2524">
                  <a:solidFill>
                    <a:srgbClr val="E6F4F6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Professional tavsiya va yo'naltirish tizimi mavjud emas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28700" y="0"/>
            <a:ext cx="3379493" cy="1811655"/>
            <a:chOff x="0" y="0"/>
            <a:chExt cx="4505990" cy="24155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505990" cy="2415540"/>
            </a:xfrm>
            <a:custGeom>
              <a:avLst/>
              <a:gdLst/>
              <a:ahLst/>
              <a:cxnLst/>
              <a:rect r="r" b="b" t="t" l="l"/>
              <a:pathLst>
                <a:path h="2415540" w="4505990">
                  <a:moveTo>
                    <a:pt x="0" y="0"/>
                  </a:moveTo>
                  <a:lnTo>
                    <a:pt x="4505990" y="0"/>
                  </a:lnTo>
                  <a:lnTo>
                    <a:pt x="4505990" y="2415540"/>
                  </a:lnTo>
                  <a:lnTo>
                    <a:pt x="0" y="24155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113" r="14600" b="50031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123825"/>
              <a:ext cx="4505990" cy="2291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84"/>
                </a:lnSpc>
              </a:pPr>
              <a:r>
                <a:rPr lang="en-US" sz="5400" b="true">
                  <a:solidFill>
                    <a:srgbClr val="FFFFF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Muammo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571500"/>
            <a:ext cx="114300" cy="685800"/>
            <a:chOff x="0" y="0"/>
            <a:chExt cx="152400" cy="914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52400">
                  <a:moveTo>
                    <a:pt x="76200" y="0"/>
                  </a:move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838200"/>
                  </a:lnTo>
                  <a:cubicBezTo>
                    <a:pt x="152400" y="880237"/>
                    <a:pt x="118237" y="914400"/>
                    <a:pt x="76200" y="914400"/>
                  </a:cubicBezTo>
                  <a:cubicBezTo>
                    <a:pt x="34163" y="914400"/>
                    <a:pt x="0" y="880237"/>
                    <a:pt x="0" y="838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08CA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1485900"/>
            <a:ext cx="16944975" cy="416071"/>
            <a:chOff x="0" y="0"/>
            <a:chExt cx="22593300" cy="5547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593300" cy="554762"/>
            </a:xfrm>
            <a:custGeom>
              <a:avLst/>
              <a:gdLst/>
              <a:ahLst/>
              <a:cxnLst/>
              <a:rect r="r" b="b" t="t" l="l"/>
              <a:pathLst>
                <a:path h="554762" w="22593300">
                  <a:moveTo>
                    <a:pt x="0" y="0"/>
                  </a:moveTo>
                  <a:lnTo>
                    <a:pt x="22593300" y="0"/>
                  </a:lnTo>
                  <a:lnTo>
                    <a:pt x="22593300" y="554762"/>
                  </a:lnTo>
                  <a:lnTo>
                    <a:pt x="0" y="55476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5475" r="0" b="-74162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22593300" cy="6214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71"/>
                </a:lnSpc>
              </a:pPr>
              <a:r>
                <a:rPr lang="en-US" sz="2549">
                  <a:solidFill>
                    <a:srgbClr val="8F8F8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MyDoctor </a:t>
              </a:r>
              <a:r>
                <a:rPr lang="en-US" sz="2549">
                  <a:solidFill>
                    <a:srgbClr val="8F8F8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AI barcha muammolarni hal qiladi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2506162"/>
            <a:ext cx="9508337" cy="6531976"/>
            <a:chOff x="0" y="0"/>
            <a:chExt cx="2504253" cy="172035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04253" cy="1720356"/>
            </a:xfrm>
            <a:custGeom>
              <a:avLst/>
              <a:gdLst/>
              <a:ahLst/>
              <a:cxnLst/>
              <a:rect r="r" b="b" t="t" l="l"/>
              <a:pathLst>
                <a:path h="1720356" w="2504253">
                  <a:moveTo>
                    <a:pt x="41525" y="0"/>
                  </a:moveTo>
                  <a:lnTo>
                    <a:pt x="2462728" y="0"/>
                  </a:lnTo>
                  <a:cubicBezTo>
                    <a:pt x="2485662" y="0"/>
                    <a:pt x="2504253" y="18592"/>
                    <a:pt x="2504253" y="41525"/>
                  </a:cubicBezTo>
                  <a:lnTo>
                    <a:pt x="2504253" y="1678830"/>
                  </a:lnTo>
                  <a:cubicBezTo>
                    <a:pt x="2504253" y="1689844"/>
                    <a:pt x="2499878" y="1700406"/>
                    <a:pt x="2492091" y="1708193"/>
                  </a:cubicBezTo>
                  <a:cubicBezTo>
                    <a:pt x="2484303" y="1715981"/>
                    <a:pt x="2473741" y="1720356"/>
                    <a:pt x="2462728" y="1720356"/>
                  </a:cubicBezTo>
                  <a:lnTo>
                    <a:pt x="41525" y="1720356"/>
                  </a:lnTo>
                  <a:cubicBezTo>
                    <a:pt x="18592" y="1720356"/>
                    <a:pt x="0" y="1701764"/>
                    <a:pt x="0" y="1678830"/>
                  </a:cubicBezTo>
                  <a:lnTo>
                    <a:pt x="0" y="41525"/>
                  </a:lnTo>
                  <a:cubicBezTo>
                    <a:pt x="0" y="30512"/>
                    <a:pt x="4375" y="19950"/>
                    <a:pt x="12163" y="12163"/>
                  </a:cubicBezTo>
                  <a:cubicBezTo>
                    <a:pt x="19950" y="4375"/>
                    <a:pt x="30512" y="0"/>
                    <a:pt x="41525" y="0"/>
                  </a:cubicBezTo>
                  <a:close/>
                </a:path>
              </a:pathLst>
            </a:custGeom>
            <a:solidFill>
              <a:srgbClr val="50A4C6">
                <a:alpha val="21961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2504253" cy="17870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71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2886075"/>
            <a:ext cx="1271588" cy="1271588"/>
            <a:chOff x="0" y="0"/>
            <a:chExt cx="1219200" cy="1219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304800" y="0"/>
                  </a:moveTo>
                  <a:lnTo>
                    <a:pt x="914400" y="0"/>
                  </a:lnTo>
                  <a:cubicBezTo>
                    <a:pt x="1082675" y="0"/>
                    <a:pt x="1219200" y="136525"/>
                    <a:pt x="1219200" y="304800"/>
                  </a:cubicBezTo>
                  <a:lnTo>
                    <a:pt x="1219200" y="914400"/>
                  </a:lnTo>
                  <a:cubicBezTo>
                    <a:pt x="1219200" y="1082675"/>
                    <a:pt x="1082675" y="1219200"/>
                    <a:pt x="914400" y="1219200"/>
                  </a:cubicBezTo>
                  <a:lnTo>
                    <a:pt x="304800" y="1219200"/>
                  </a:lnTo>
                  <a:cubicBezTo>
                    <a:pt x="136525" y="1219200"/>
                    <a:pt x="0" y="1082675"/>
                    <a:pt x="0" y="914400"/>
                  </a:cubicBezTo>
                  <a:lnTo>
                    <a:pt x="0" y="304800"/>
                  </a:ln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008CA4">
                <a:alpha val="3922"/>
              </a:srgbClr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214438" y="3186112"/>
            <a:ext cx="671512" cy="671512"/>
          </a:xfrm>
          <a:custGeom>
            <a:avLst/>
            <a:gdLst/>
            <a:ahLst/>
            <a:cxnLst/>
            <a:rect r="r" b="b" t="t" l="l"/>
            <a:pathLst>
              <a:path h="671512" w="671512">
                <a:moveTo>
                  <a:pt x="0" y="0"/>
                </a:moveTo>
                <a:lnTo>
                  <a:pt x="671512" y="0"/>
                </a:lnTo>
                <a:lnTo>
                  <a:pt x="671512" y="671513"/>
                </a:lnTo>
                <a:lnTo>
                  <a:pt x="0" y="6715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2449808" y="2773436"/>
            <a:ext cx="8286750" cy="634365"/>
            <a:chOff x="0" y="0"/>
            <a:chExt cx="11049000" cy="8458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49000" cy="845819"/>
            </a:xfrm>
            <a:custGeom>
              <a:avLst/>
              <a:gdLst/>
              <a:ahLst/>
              <a:cxnLst/>
              <a:rect r="r" b="b" t="t" l="l"/>
              <a:pathLst>
                <a:path h="845819" w="11049000">
                  <a:moveTo>
                    <a:pt x="0" y="0"/>
                  </a:moveTo>
                  <a:lnTo>
                    <a:pt x="11049000" y="0"/>
                  </a:lnTo>
                  <a:lnTo>
                    <a:pt x="11049000" y="845819"/>
                  </a:lnTo>
                  <a:lnTo>
                    <a:pt x="0" y="8458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8498" r="0" b="-19057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1049000" cy="874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59"/>
                </a:lnSpc>
              </a:pPr>
              <a:r>
                <a:rPr lang="en-US" sz="2999" b="true">
                  <a:solidFill>
                    <a:srgbClr val="FFFFF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AI simptomni analiz qiladi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449808" y="3521869"/>
            <a:ext cx="8243888" cy="876430"/>
            <a:chOff x="0" y="0"/>
            <a:chExt cx="10991850" cy="116857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91850" cy="1168574"/>
            </a:xfrm>
            <a:custGeom>
              <a:avLst/>
              <a:gdLst/>
              <a:ahLst/>
              <a:cxnLst/>
              <a:rect r="r" b="b" t="t" l="l"/>
              <a:pathLst>
                <a:path h="1168574" w="10991850">
                  <a:moveTo>
                    <a:pt x="0" y="0"/>
                  </a:moveTo>
                  <a:lnTo>
                    <a:pt x="10991850" y="0"/>
                  </a:lnTo>
                  <a:lnTo>
                    <a:pt x="10991850" y="1168574"/>
                  </a:lnTo>
                  <a:lnTo>
                    <a:pt x="0" y="11685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457" r="0" b="-10610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85725"/>
              <a:ext cx="10991850" cy="12542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82"/>
                </a:lnSpc>
              </a:pPr>
              <a:r>
                <a:rPr lang="en-US" sz="2424">
                  <a:solidFill>
                    <a:srgbClr val="E6F4F6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Sun'iy intellekt foydalanuvchi simptomlarini tahlil qilib, kasallikni aniqlaydi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67966" y="5157788"/>
            <a:ext cx="1271588" cy="1271588"/>
            <a:chOff x="0" y="0"/>
            <a:chExt cx="1219200" cy="1219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304800" y="0"/>
                  </a:moveTo>
                  <a:lnTo>
                    <a:pt x="914400" y="0"/>
                  </a:lnTo>
                  <a:cubicBezTo>
                    <a:pt x="1082675" y="0"/>
                    <a:pt x="1219200" y="136525"/>
                    <a:pt x="1219200" y="304800"/>
                  </a:cubicBezTo>
                  <a:lnTo>
                    <a:pt x="1219200" y="914400"/>
                  </a:lnTo>
                  <a:cubicBezTo>
                    <a:pt x="1219200" y="1082675"/>
                    <a:pt x="1082675" y="1219200"/>
                    <a:pt x="914400" y="1219200"/>
                  </a:cubicBezTo>
                  <a:lnTo>
                    <a:pt x="304800" y="1219200"/>
                  </a:lnTo>
                  <a:cubicBezTo>
                    <a:pt x="136525" y="1219200"/>
                    <a:pt x="0" y="1082675"/>
                    <a:pt x="0" y="914400"/>
                  </a:cubicBezTo>
                  <a:lnTo>
                    <a:pt x="0" y="304800"/>
                  </a:ln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008CA4">
                <a:alpha val="3922"/>
              </a:srgbClr>
            </a:solid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1174552" y="5395912"/>
            <a:ext cx="658416" cy="752475"/>
          </a:xfrm>
          <a:custGeom>
            <a:avLst/>
            <a:gdLst/>
            <a:ahLst/>
            <a:cxnLst/>
            <a:rect r="r" b="b" t="t" l="l"/>
            <a:pathLst>
              <a:path h="752475" w="658416">
                <a:moveTo>
                  <a:pt x="0" y="0"/>
                </a:moveTo>
                <a:lnTo>
                  <a:pt x="658415" y="0"/>
                </a:lnTo>
                <a:lnTo>
                  <a:pt x="658415" y="752476"/>
                </a:lnTo>
                <a:lnTo>
                  <a:pt x="0" y="7524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2449808" y="4962327"/>
            <a:ext cx="7658100" cy="634365"/>
            <a:chOff x="0" y="0"/>
            <a:chExt cx="10210800" cy="8458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210800" cy="845819"/>
            </a:xfrm>
            <a:custGeom>
              <a:avLst/>
              <a:gdLst/>
              <a:ahLst/>
              <a:cxnLst/>
              <a:rect r="r" b="b" t="t" l="l"/>
              <a:pathLst>
                <a:path h="845819" w="10210800">
                  <a:moveTo>
                    <a:pt x="0" y="0"/>
                  </a:moveTo>
                  <a:lnTo>
                    <a:pt x="10210800" y="0"/>
                  </a:lnTo>
                  <a:lnTo>
                    <a:pt x="10210800" y="845819"/>
                  </a:lnTo>
                  <a:lnTo>
                    <a:pt x="0" y="8458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188" r="0" b="-17126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10210800" cy="874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59"/>
                </a:lnSpc>
              </a:pPr>
              <a:r>
                <a:rPr lang="en-US" sz="2999" b="true">
                  <a:solidFill>
                    <a:srgbClr val="FFFFF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Eng mos doktorni topadi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449808" y="5710992"/>
            <a:ext cx="7615238" cy="876430"/>
            <a:chOff x="0" y="0"/>
            <a:chExt cx="10153650" cy="116857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153650" cy="1168574"/>
            </a:xfrm>
            <a:custGeom>
              <a:avLst/>
              <a:gdLst/>
              <a:ahLst/>
              <a:cxnLst/>
              <a:rect r="r" b="b" t="t" l="l"/>
              <a:pathLst>
                <a:path h="1168574" w="10153650">
                  <a:moveTo>
                    <a:pt x="0" y="0"/>
                  </a:moveTo>
                  <a:lnTo>
                    <a:pt x="10153650" y="0"/>
                  </a:lnTo>
                  <a:lnTo>
                    <a:pt x="10153650" y="1168574"/>
                  </a:lnTo>
                  <a:lnTo>
                    <a:pt x="0" y="11685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6481" r="0" b="-92126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85725"/>
              <a:ext cx="10153650" cy="12542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82"/>
                </a:lnSpc>
              </a:pPr>
              <a:r>
                <a:rPr lang="en-US" sz="2424">
                  <a:solidFill>
                    <a:srgbClr val="E6F4F6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Mutaxassislik, tajriba va reyting asosida eng yaxshi moslikni tanlaydi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31404" y="7640241"/>
            <a:ext cx="637580" cy="850106"/>
            <a:chOff x="0" y="0"/>
            <a:chExt cx="428625" cy="5715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-127" y="0"/>
              <a:ext cx="428752" cy="574802"/>
            </a:xfrm>
            <a:custGeom>
              <a:avLst/>
              <a:gdLst/>
              <a:ahLst/>
              <a:cxnLst/>
              <a:rect r="r" b="b" t="t" l="l"/>
              <a:pathLst>
                <a:path h="574802" w="428752">
                  <a:moveTo>
                    <a:pt x="127" y="210566"/>
                  </a:moveTo>
                  <a:cubicBezTo>
                    <a:pt x="127" y="94234"/>
                    <a:pt x="96139" y="0"/>
                    <a:pt x="214376" y="0"/>
                  </a:cubicBezTo>
                  <a:cubicBezTo>
                    <a:pt x="332613" y="0"/>
                    <a:pt x="428752" y="94234"/>
                    <a:pt x="428752" y="210566"/>
                  </a:cubicBezTo>
                  <a:cubicBezTo>
                    <a:pt x="428752" y="343789"/>
                    <a:pt x="294640" y="503301"/>
                    <a:pt x="238506" y="564134"/>
                  </a:cubicBezTo>
                  <a:cubicBezTo>
                    <a:pt x="225298" y="578358"/>
                    <a:pt x="203327" y="578358"/>
                    <a:pt x="190119" y="564134"/>
                  </a:cubicBezTo>
                  <a:cubicBezTo>
                    <a:pt x="134239" y="503301"/>
                    <a:pt x="0" y="343662"/>
                    <a:pt x="0" y="210566"/>
                  </a:cubicBezTo>
                  <a:close/>
                  <a:moveTo>
                    <a:pt x="214376" y="285750"/>
                  </a:moveTo>
                  <a:cubicBezTo>
                    <a:pt x="253746" y="285750"/>
                    <a:pt x="285877" y="253746"/>
                    <a:pt x="285877" y="214249"/>
                  </a:cubicBezTo>
                  <a:cubicBezTo>
                    <a:pt x="285877" y="174752"/>
                    <a:pt x="253873" y="142875"/>
                    <a:pt x="214376" y="142875"/>
                  </a:cubicBezTo>
                  <a:cubicBezTo>
                    <a:pt x="174879" y="142875"/>
                    <a:pt x="143002" y="174879"/>
                    <a:pt x="143002" y="214249"/>
                  </a:cubicBezTo>
                  <a:cubicBezTo>
                    <a:pt x="143002" y="253619"/>
                    <a:pt x="175006" y="285750"/>
                    <a:pt x="214376" y="285750"/>
                  </a:cubicBezTo>
                  <a:close/>
                </a:path>
              </a:pathLst>
            </a:custGeom>
            <a:solidFill>
              <a:srgbClr val="008CA4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2428875" y="7149397"/>
            <a:ext cx="6715125" cy="634365"/>
            <a:chOff x="0" y="0"/>
            <a:chExt cx="8953500" cy="8458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953500" cy="845819"/>
            </a:xfrm>
            <a:custGeom>
              <a:avLst/>
              <a:gdLst/>
              <a:ahLst/>
              <a:cxnLst/>
              <a:rect r="r" b="b" t="t" l="l"/>
              <a:pathLst>
                <a:path h="845819" w="8953500">
                  <a:moveTo>
                    <a:pt x="0" y="0"/>
                  </a:moveTo>
                  <a:lnTo>
                    <a:pt x="8953500" y="0"/>
                  </a:lnTo>
                  <a:lnTo>
                    <a:pt x="8953500" y="845819"/>
                  </a:lnTo>
                  <a:lnTo>
                    <a:pt x="0" y="8458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0224" r="0" b="-14229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8953500" cy="874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59"/>
                </a:lnSpc>
              </a:pPr>
              <a:r>
                <a:rPr lang="en-US" sz="2999" b="true">
                  <a:solidFill>
                    <a:srgbClr val="FFFFF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Eng yaqin joyni ko'rsatadi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2428875" y="7898062"/>
            <a:ext cx="6672262" cy="876430"/>
            <a:chOff x="0" y="0"/>
            <a:chExt cx="8896350" cy="116857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896350" cy="1168574"/>
            </a:xfrm>
            <a:custGeom>
              <a:avLst/>
              <a:gdLst/>
              <a:ahLst/>
              <a:cxnLst/>
              <a:rect r="r" b="b" t="t" l="l"/>
              <a:pathLst>
                <a:path h="1168574" w="8896350">
                  <a:moveTo>
                    <a:pt x="0" y="0"/>
                  </a:moveTo>
                  <a:lnTo>
                    <a:pt x="8896350" y="0"/>
                  </a:lnTo>
                  <a:lnTo>
                    <a:pt x="8896350" y="1168574"/>
                  </a:lnTo>
                  <a:lnTo>
                    <a:pt x="0" y="11685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516" r="0" b="-71162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85725"/>
              <a:ext cx="8896350" cy="12542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82"/>
                </a:lnSpc>
              </a:pPr>
              <a:r>
                <a:rPr lang="en-US" sz="2424">
                  <a:solidFill>
                    <a:srgbClr val="E6F4F6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Geolokatsiya orqali eng qulay va yaqin klinikalarni aniqlaydi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67966" y="7429500"/>
            <a:ext cx="1271588" cy="1271588"/>
            <a:chOff x="0" y="0"/>
            <a:chExt cx="1219200" cy="12192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304800" y="0"/>
                  </a:moveTo>
                  <a:lnTo>
                    <a:pt x="914400" y="0"/>
                  </a:lnTo>
                  <a:cubicBezTo>
                    <a:pt x="1082675" y="0"/>
                    <a:pt x="1219200" y="136525"/>
                    <a:pt x="1219200" y="304800"/>
                  </a:cubicBezTo>
                  <a:lnTo>
                    <a:pt x="1219200" y="914400"/>
                  </a:lnTo>
                  <a:cubicBezTo>
                    <a:pt x="1219200" y="1082675"/>
                    <a:pt x="1082675" y="1219200"/>
                    <a:pt x="914400" y="1219200"/>
                  </a:cubicBezTo>
                  <a:lnTo>
                    <a:pt x="304800" y="1219200"/>
                  </a:lnTo>
                  <a:cubicBezTo>
                    <a:pt x="136525" y="1219200"/>
                    <a:pt x="0" y="1082675"/>
                    <a:pt x="0" y="914400"/>
                  </a:cubicBezTo>
                  <a:lnTo>
                    <a:pt x="0" y="304800"/>
                  </a:ln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008CA4">
                <a:alpha val="3922"/>
              </a:srgbClr>
            </a:solidFill>
          </p:spPr>
        </p:sp>
      </p:grpSp>
      <p:grpSp>
        <p:nvGrpSpPr>
          <p:cNvPr name="Group 38" id="38"/>
          <p:cNvGrpSpPr>
            <a:grpSpLocks noChangeAspect="true"/>
          </p:cNvGrpSpPr>
          <p:nvPr/>
        </p:nvGrpSpPr>
        <p:grpSpPr>
          <a:xfrm rot="0">
            <a:off x="10249639" y="3243977"/>
            <a:ext cx="8038361" cy="5246370"/>
            <a:chOff x="0" y="0"/>
            <a:chExt cx="19050000" cy="124333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452880" y="587121"/>
              <a:ext cx="16166846" cy="10116185"/>
            </a:xfrm>
            <a:custGeom>
              <a:avLst/>
              <a:gdLst/>
              <a:ahLst/>
              <a:cxnLst/>
              <a:rect r="r" b="b" t="t" l="l"/>
              <a:pathLst>
                <a:path h="10116185" w="16166846">
                  <a:moveTo>
                    <a:pt x="16166846" y="0"/>
                  </a:moveTo>
                  <a:lnTo>
                    <a:pt x="16166846" y="10116185"/>
                  </a:lnTo>
                  <a:lnTo>
                    <a:pt x="0" y="10116185"/>
                  </a:lnTo>
                  <a:lnTo>
                    <a:pt x="0" y="0"/>
                  </a:lnTo>
                  <a:lnTo>
                    <a:pt x="16166846" y="0"/>
                  </a:lnTo>
                  <a:close/>
                </a:path>
              </a:pathLst>
            </a:custGeom>
            <a:blipFill>
              <a:blip r:embed="rId8"/>
              <a:stretch>
                <a:fillRect l="-6167" t="0" r="-6167" b="0"/>
              </a:stretch>
            </a:blip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9050000" cy="12433300"/>
            </a:xfrm>
            <a:custGeom>
              <a:avLst/>
              <a:gdLst/>
              <a:ahLst/>
              <a:cxnLst/>
              <a:rect r="r" b="b" t="t" l="l"/>
              <a:pathLst>
                <a:path h="12433300" w="19050000">
                  <a:moveTo>
                    <a:pt x="19050000" y="0"/>
                  </a:moveTo>
                  <a:lnTo>
                    <a:pt x="19050000" y="12433300"/>
                  </a:lnTo>
                  <a:lnTo>
                    <a:pt x="0" y="12433300"/>
                  </a:lnTo>
                  <a:lnTo>
                    <a:pt x="0" y="0"/>
                  </a:lnTo>
                  <a:lnTo>
                    <a:pt x="19050000" y="0"/>
                  </a:lnTo>
                  <a:close/>
                </a:path>
              </a:pathLst>
            </a:custGeom>
            <a:blipFill>
              <a:blip r:embed="rId9"/>
              <a:stretch>
                <a:fillRect l="-301" t="0" r="-301" b="0"/>
              </a:stretch>
            </a:blip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0" y="438150"/>
            <a:ext cx="5495567" cy="1930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75"/>
              </a:lnSpc>
              <a:spcBef>
                <a:spcPct val="0"/>
              </a:spcBef>
            </a:pPr>
            <a:r>
              <a:rPr lang="en-US" b="true" sz="5400">
                <a:solidFill>
                  <a:srgbClr val="FDFDFC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Yechim</a:t>
            </a:r>
            <a:r>
              <a:rPr lang="en-US" b="true" sz="5400">
                <a:solidFill>
                  <a:srgbClr val="00000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oshi matni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68434" y="-134490"/>
            <a:ext cx="19180595" cy="10555979"/>
          </a:xfrm>
          <a:custGeom>
            <a:avLst/>
            <a:gdLst/>
            <a:ahLst/>
            <a:cxnLst/>
            <a:rect r="r" b="b" t="t" l="l"/>
            <a:pathLst>
              <a:path h="10555979" w="19180595">
                <a:moveTo>
                  <a:pt x="0" y="0"/>
                </a:moveTo>
                <a:lnTo>
                  <a:pt x="19180595" y="0"/>
                </a:lnTo>
                <a:lnTo>
                  <a:pt x="19180595" y="10555980"/>
                </a:lnTo>
                <a:lnTo>
                  <a:pt x="0" y="105559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71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45112" y="-113505"/>
            <a:ext cx="18433112" cy="10400505"/>
          </a:xfrm>
          <a:custGeom>
            <a:avLst/>
            <a:gdLst/>
            <a:ahLst/>
            <a:cxnLst/>
            <a:rect r="r" b="b" t="t" l="l"/>
            <a:pathLst>
              <a:path h="10400505" w="18433112">
                <a:moveTo>
                  <a:pt x="0" y="0"/>
                </a:moveTo>
                <a:lnTo>
                  <a:pt x="18433112" y="0"/>
                </a:lnTo>
                <a:lnTo>
                  <a:pt x="18433112" y="10400505"/>
                </a:lnTo>
                <a:lnTo>
                  <a:pt x="0" y="104005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20" t="0" r="-102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61" r="0" b="-12456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571500"/>
            <a:ext cx="114300" cy="685800"/>
            <a:chOff x="0" y="0"/>
            <a:chExt cx="152400" cy="914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52400">
                  <a:moveTo>
                    <a:pt x="76200" y="0"/>
                  </a:move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838200"/>
                  </a:lnTo>
                  <a:cubicBezTo>
                    <a:pt x="152400" y="880237"/>
                    <a:pt x="118237" y="914400"/>
                    <a:pt x="76200" y="914400"/>
                  </a:cubicBezTo>
                  <a:cubicBezTo>
                    <a:pt x="34163" y="914400"/>
                    <a:pt x="0" y="880237"/>
                    <a:pt x="0" y="838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B20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1485900"/>
            <a:ext cx="16944975" cy="416071"/>
            <a:chOff x="0" y="0"/>
            <a:chExt cx="22593300" cy="5547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593300" cy="554762"/>
            </a:xfrm>
            <a:custGeom>
              <a:avLst/>
              <a:gdLst/>
              <a:ahLst/>
              <a:cxnLst/>
              <a:rect r="r" b="b" t="t" l="l"/>
              <a:pathLst>
                <a:path h="554762" w="22593300">
                  <a:moveTo>
                    <a:pt x="0" y="0"/>
                  </a:moveTo>
                  <a:lnTo>
                    <a:pt x="22593300" y="0"/>
                  </a:lnTo>
                  <a:lnTo>
                    <a:pt x="22593300" y="554762"/>
                  </a:lnTo>
                  <a:lnTo>
                    <a:pt x="0" y="55476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5475" r="0" b="-74162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22593300" cy="6214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71"/>
                </a:lnSpc>
              </a:pPr>
              <a:r>
                <a:rPr lang="en-US" sz="2549">
                  <a:solidFill>
                    <a:srgbClr val="8F8F8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4 qadamda doktor topish jarayoni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569119" y="3740944"/>
            <a:ext cx="3548062" cy="2719388"/>
          </a:xfrm>
          <a:custGeom>
            <a:avLst/>
            <a:gdLst/>
            <a:ahLst/>
            <a:cxnLst/>
            <a:rect r="r" b="b" t="t" l="l"/>
            <a:pathLst>
              <a:path h="2719388" w="3548062">
                <a:moveTo>
                  <a:pt x="0" y="0"/>
                </a:moveTo>
                <a:lnTo>
                  <a:pt x="3548062" y="0"/>
                </a:lnTo>
                <a:lnTo>
                  <a:pt x="3548062" y="2719387"/>
                </a:lnTo>
                <a:lnTo>
                  <a:pt x="0" y="27193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885055" y="4100512"/>
            <a:ext cx="914400" cy="914400"/>
            <a:chOff x="0" y="0"/>
            <a:chExt cx="1219200" cy="1219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609600" y="0"/>
                  </a:moveTo>
                  <a:cubicBezTo>
                    <a:pt x="946023" y="0"/>
                    <a:pt x="1219200" y="273177"/>
                    <a:pt x="1219200" y="609600"/>
                  </a:cubicBezTo>
                  <a:cubicBezTo>
                    <a:pt x="1219200" y="946023"/>
                    <a:pt x="946023" y="1219200"/>
                    <a:pt x="609600" y="1219200"/>
                  </a:cubicBezTo>
                  <a:cubicBezTo>
                    <a:pt x="273177" y="1219200"/>
                    <a:pt x="0" y="946023"/>
                    <a:pt x="0" y="609600"/>
                  </a:cubicBezTo>
                  <a:cubicBezTo>
                    <a:pt x="0" y="273177"/>
                    <a:pt x="273177" y="0"/>
                    <a:pt x="609600" y="0"/>
                  </a:cubicBezTo>
                  <a:close/>
                </a:path>
              </a:pathLst>
            </a:custGeom>
            <a:solidFill>
              <a:srgbClr val="008CA4">
                <a:alpha val="3922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192236" y="4386262"/>
            <a:ext cx="300038" cy="342900"/>
            <a:chOff x="0" y="0"/>
            <a:chExt cx="400050" cy="457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4224" y="7112"/>
              <a:ext cx="371602" cy="450215"/>
            </a:xfrm>
            <a:custGeom>
              <a:avLst/>
              <a:gdLst/>
              <a:ahLst/>
              <a:cxnLst/>
              <a:rect r="r" b="b" t="t" l="l"/>
              <a:pathLst>
                <a:path h="450215" w="371602">
                  <a:moveTo>
                    <a:pt x="185801" y="214376"/>
                  </a:moveTo>
                  <a:cubicBezTo>
                    <a:pt x="244983" y="214376"/>
                    <a:pt x="292989" y="166370"/>
                    <a:pt x="292989" y="107188"/>
                  </a:cubicBezTo>
                  <a:cubicBezTo>
                    <a:pt x="292989" y="48006"/>
                    <a:pt x="244983" y="0"/>
                    <a:pt x="185801" y="0"/>
                  </a:cubicBezTo>
                  <a:cubicBezTo>
                    <a:pt x="126619" y="0"/>
                    <a:pt x="78613" y="48006"/>
                    <a:pt x="78613" y="107188"/>
                  </a:cubicBezTo>
                  <a:cubicBezTo>
                    <a:pt x="78613" y="166370"/>
                    <a:pt x="126619" y="214376"/>
                    <a:pt x="185801" y="214376"/>
                  </a:cubicBezTo>
                  <a:close/>
                  <a:moveTo>
                    <a:pt x="159258" y="264414"/>
                  </a:moveTo>
                  <a:cubicBezTo>
                    <a:pt x="71247" y="264414"/>
                    <a:pt x="0" y="335661"/>
                    <a:pt x="0" y="423672"/>
                  </a:cubicBezTo>
                  <a:cubicBezTo>
                    <a:pt x="0" y="438277"/>
                    <a:pt x="11938" y="450215"/>
                    <a:pt x="26543" y="450215"/>
                  </a:cubicBezTo>
                  <a:lnTo>
                    <a:pt x="345059" y="450215"/>
                  </a:lnTo>
                  <a:cubicBezTo>
                    <a:pt x="359664" y="450215"/>
                    <a:pt x="371602" y="438277"/>
                    <a:pt x="371602" y="423672"/>
                  </a:cubicBezTo>
                  <a:cubicBezTo>
                    <a:pt x="371602" y="335661"/>
                    <a:pt x="300355" y="264414"/>
                    <a:pt x="212344" y="264414"/>
                  </a:cubicBezTo>
                  <a:lnTo>
                    <a:pt x="159258" y="264414"/>
                  </a:lnTo>
                  <a:close/>
                </a:path>
              </a:pathLst>
            </a:custGeom>
            <a:solidFill>
              <a:srgbClr val="008CA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55459" y="4897676"/>
            <a:ext cx="2971800" cy="691673"/>
            <a:chOff x="0" y="0"/>
            <a:chExt cx="3962400" cy="92223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962400" cy="922231"/>
            </a:xfrm>
            <a:custGeom>
              <a:avLst/>
              <a:gdLst/>
              <a:ahLst/>
              <a:cxnLst/>
              <a:rect r="r" b="b" t="t" l="l"/>
              <a:pathLst>
                <a:path h="922231" w="3962400">
                  <a:moveTo>
                    <a:pt x="0" y="0"/>
                  </a:moveTo>
                  <a:lnTo>
                    <a:pt x="3962400" y="0"/>
                  </a:lnTo>
                  <a:lnTo>
                    <a:pt x="3962400" y="922231"/>
                  </a:lnTo>
                  <a:lnTo>
                    <a:pt x="0" y="9222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99" r="0" b="-1263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3962400" cy="988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79"/>
                </a:lnSpc>
              </a:pPr>
              <a:r>
                <a:rPr lang="en-US" sz="3249" b="true">
                  <a:solidFill>
                    <a:srgbClr val="FFFFF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User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71538" y="5757862"/>
            <a:ext cx="2943225" cy="359614"/>
            <a:chOff x="0" y="0"/>
            <a:chExt cx="3924300" cy="47948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924300" cy="479485"/>
            </a:xfrm>
            <a:custGeom>
              <a:avLst/>
              <a:gdLst/>
              <a:ahLst/>
              <a:cxnLst/>
              <a:rect r="r" b="b" t="t" l="l"/>
              <a:pathLst>
                <a:path h="479485" w="3924300">
                  <a:moveTo>
                    <a:pt x="0" y="0"/>
                  </a:moveTo>
                  <a:lnTo>
                    <a:pt x="3924300" y="0"/>
                  </a:lnTo>
                  <a:lnTo>
                    <a:pt x="3924300" y="479485"/>
                  </a:lnTo>
                  <a:lnTo>
                    <a:pt x="0" y="4794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797" r="0" b="-107149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85725"/>
              <a:ext cx="3924300" cy="565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31"/>
                </a:lnSpc>
              </a:pPr>
              <a:r>
                <a:rPr lang="en-US" sz="2199">
                  <a:solidFill>
                    <a:srgbClr val="E6F4F6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Simptom yozadi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398759" y="4886325"/>
            <a:ext cx="428625" cy="428625"/>
            <a:chOff x="0" y="0"/>
            <a:chExt cx="571500" cy="5715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71311"/>
              <a:ext cx="571436" cy="428752"/>
            </a:xfrm>
            <a:custGeom>
              <a:avLst/>
              <a:gdLst/>
              <a:ahLst/>
              <a:cxnLst/>
              <a:rect r="r" b="b" t="t" l="l"/>
              <a:pathLst>
                <a:path h="428752" w="571436">
                  <a:moveTo>
                    <a:pt x="560959" y="239712"/>
                  </a:moveTo>
                  <a:cubicBezTo>
                    <a:pt x="574929" y="225742"/>
                    <a:pt x="574929" y="203136"/>
                    <a:pt x="560959" y="189166"/>
                  </a:cubicBezTo>
                  <a:lnTo>
                    <a:pt x="382397" y="10477"/>
                  </a:lnTo>
                  <a:cubicBezTo>
                    <a:pt x="368427" y="-3493"/>
                    <a:pt x="345821" y="-3493"/>
                    <a:pt x="331851" y="10477"/>
                  </a:cubicBezTo>
                  <a:cubicBezTo>
                    <a:pt x="317881" y="24447"/>
                    <a:pt x="317881" y="47053"/>
                    <a:pt x="331851" y="61023"/>
                  </a:cubicBezTo>
                  <a:lnTo>
                    <a:pt x="449453" y="178625"/>
                  </a:lnTo>
                  <a:lnTo>
                    <a:pt x="35687" y="178625"/>
                  </a:lnTo>
                  <a:cubicBezTo>
                    <a:pt x="16002" y="178752"/>
                    <a:pt x="0" y="194627"/>
                    <a:pt x="0" y="214439"/>
                  </a:cubicBezTo>
                  <a:cubicBezTo>
                    <a:pt x="0" y="234251"/>
                    <a:pt x="16002" y="250126"/>
                    <a:pt x="35687" y="250126"/>
                  </a:cubicBezTo>
                  <a:lnTo>
                    <a:pt x="449453" y="250126"/>
                  </a:lnTo>
                  <a:lnTo>
                    <a:pt x="331851" y="367728"/>
                  </a:lnTo>
                  <a:cubicBezTo>
                    <a:pt x="317881" y="381698"/>
                    <a:pt x="317881" y="404304"/>
                    <a:pt x="331851" y="418274"/>
                  </a:cubicBezTo>
                  <a:cubicBezTo>
                    <a:pt x="345821" y="432244"/>
                    <a:pt x="368427" y="432244"/>
                    <a:pt x="382397" y="418274"/>
                  </a:cubicBezTo>
                  <a:lnTo>
                    <a:pt x="560959" y="239839"/>
                  </a:lnTo>
                  <a:close/>
                </a:path>
              </a:pathLst>
            </a:custGeom>
            <a:solidFill>
              <a:srgbClr val="008CA4"/>
            </a:solid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5103609" y="3740944"/>
            <a:ext cx="3548062" cy="2719388"/>
          </a:xfrm>
          <a:custGeom>
            <a:avLst/>
            <a:gdLst/>
            <a:ahLst/>
            <a:cxnLst/>
            <a:rect r="r" b="b" t="t" l="l"/>
            <a:pathLst>
              <a:path h="2719388" w="3548062">
                <a:moveTo>
                  <a:pt x="0" y="0"/>
                </a:moveTo>
                <a:lnTo>
                  <a:pt x="3548063" y="0"/>
                </a:lnTo>
                <a:lnTo>
                  <a:pt x="3548063" y="2719387"/>
                </a:lnTo>
                <a:lnTo>
                  <a:pt x="0" y="27193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6419555" y="4100512"/>
            <a:ext cx="914400" cy="914400"/>
            <a:chOff x="0" y="0"/>
            <a:chExt cx="1219200" cy="12192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609600" y="0"/>
                  </a:moveTo>
                  <a:cubicBezTo>
                    <a:pt x="946023" y="0"/>
                    <a:pt x="1219200" y="273177"/>
                    <a:pt x="1219200" y="609600"/>
                  </a:cubicBezTo>
                  <a:cubicBezTo>
                    <a:pt x="1219200" y="946023"/>
                    <a:pt x="946023" y="1219200"/>
                    <a:pt x="609600" y="1219200"/>
                  </a:cubicBezTo>
                  <a:cubicBezTo>
                    <a:pt x="273177" y="1219200"/>
                    <a:pt x="0" y="946023"/>
                    <a:pt x="0" y="609600"/>
                  </a:cubicBezTo>
                  <a:cubicBezTo>
                    <a:pt x="0" y="273177"/>
                    <a:pt x="273177" y="0"/>
                    <a:pt x="609600" y="0"/>
                  </a:cubicBezTo>
                  <a:close/>
                </a:path>
              </a:pathLst>
            </a:custGeom>
            <a:solidFill>
              <a:srgbClr val="008CA4">
                <a:alpha val="9020"/>
              </a:srgbClr>
            </a:solidFill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6662442" y="4386262"/>
            <a:ext cx="428625" cy="342900"/>
          </a:xfrm>
          <a:custGeom>
            <a:avLst/>
            <a:gdLst/>
            <a:ahLst/>
            <a:cxnLst/>
            <a:rect r="r" b="b" t="t" l="l"/>
            <a:pathLst>
              <a:path h="342900" w="428625">
                <a:moveTo>
                  <a:pt x="0" y="0"/>
                </a:moveTo>
                <a:lnTo>
                  <a:pt x="428625" y="0"/>
                </a:lnTo>
                <a:lnTo>
                  <a:pt x="42862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5348211" y="4969114"/>
            <a:ext cx="2971800" cy="691673"/>
            <a:chOff x="0" y="0"/>
            <a:chExt cx="3962400" cy="92223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962400" cy="922231"/>
            </a:xfrm>
            <a:custGeom>
              <a:avLst/>
              <a:gdLst/>
              <a:ahLst/>
              <a:cxnLst/>
              <a:rect r="r" b="b" t="t" l="l"/>
              <a:pathLst>
                <a:path h="922231" w="3962400">
                  <a:moveTo>
                    <a:pt x="0" y="0"/>
                  </a:moveTo>
                  <a:lnTo>
                    <a:pt x="3962400" y="0"/>
                  </a:lnTo>
                  <a:lnTo>
                    <a:pt x="3962400" y="922231"/>
                  </a:lnTo>
                  <a:lnTo>
                    <a:pt x="0" y="9222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99" r="0" b="-12637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3962400" cy="988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79"/>
                </a:lnSpc>
              </a:pPr>
              <a:r>
                <a:rPr lang="en-US" sz="3249" b="true">
                  <a:solidFill>
                    <a:srgbClr val="FFFFF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AI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5406038" y="5757862"/>
            <a:ext cx="2943225" cy="359614"/>
            <a:chOff x="0" y="0"/>
            <a:chExt cx="3924300" cy="47948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924300" cy="479485"/>
            </a:xfrm>
            <a:custGeom>
              <a:avLst/>
              <a:gdLst/>
              <a:ahLst/>
              <a:cxnLst/>
              <a:rect r="r" b="b" t="t" l="l"/>
              <a:pathLst>
                <a:path h="479485" w="3924300">
                  <a:moveTo>
                    <a:pt x="0" y="0"/>
                  </a:moveTo>
                  <a:lnTo>
                    <a:pt x="3924300" y="0"/>
                  </a:lnTo>
                  <a:lnTo>
                    <a:pt x="3924300" y="479485"/>
                  </a:lnTo>
                  <a:lnTo>
                    <a:pt x="0" y="4794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797" r="0" b="-107149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85725"/>
              <a:ext cx="3924300" cy="565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31"/>
                </a:lnSpc>
              </a:pPr>
              <a:r>
                <a:rPr lang="en-US" sz="2199">
                  <a:solidFill>
                    <a:srgbClr val="E6F4F6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Analiz qiladi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933259" y="4886325"/>
            <a:ext cx="428625" cy="428625"/>
            <a:chOff x="0" y="0"/>
            <a:chExt cx="571500" cy="5715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71311"/>
              <a:ext cx="571436" cy="428752"/>
            </a:xfrm>
            <a:custGeom>
              <a:avLst/>
              <a:gdLst/>
              <a:ahLst/>
              <a:cxnLst/>
              <a:rect r="r" b="b" t="t" l="l"/>
              <a:pathLst>
                <a:path h="428752" w="571436">
                  <a:moveTo>
                    <a:pt x="560959" y="239712"/>
                  </a:moveTo>
                  <a:cubicBezTo>
                    <a:pt x="574929" y="225742"/>
                    <a:pt x="574929" y="203136"/>
                    <a:pt x="560959" y="189166"/>
                  </a:cubicBezTo>
                  <a:lnTo>
                    <a:pt x="382397" y="10477"/>
                  </a:lnTo>
                  <a:cubicBezTo>
                    <a:pt x="368427" y="-3493"/>
                    <a:pt x="345821" y="-3493"/>
                    <a:pt x="331851" y="10477"/>
                  </a:cubicBezTo>
                  <a:cubicBezTo>
                    <a:pt x="317881" y="24447"/>
                    <a:pt x="317881" y="47053"/>
                    <a:pt x="331851" y="61023"/>
                  </a:cubicBezTo>
                  <a:lnTo>
                    <a:pt x="449453" y="178625"/>
                  </a:lnTo>
                  <a:lnTo>
                    <a:pt x="35687" y="178625"/>
                  </a:lnTo>
                  <a:cubicBezTo>
                    <a:pt x="16002" y="178752"/>
                    <a:pt x="0" y="194627"/>
                    <a:pt x="0" y="214439"/>
                  </a:cubicBezTo>
                  <a:cubicBezTo>
                    <a:pt x="0" y="234251"/>
                    <a:pt x="16002" y="250126"/>
                    <a:pt x="35687" y="250126"/>
                  </a:cubicBezTo>
                  <a:lnTo>
                    <a:pt x="449453" y="250126"/>
                  </a:lnTo>
                  <a:lnTo>
                    <a:pt x="331851" y="367728"/>
                  </a:lnTo>
                  <a:cubicBezTo>
                    <a:pt x="317881" y="381698"/>
                    <a:pt x="317881" y="404304"/>
                    <a:pt x="331851" y="418274"/>
                  </a:cubicBezTo>
                  <a:cubicBezTo>
                    <a:pt x="345821" y="432244"/>
                    <a:pt x="368427" y="432244"/>
                    <a:pt x="382397" y="418274"/>
                  </a:cubicBezTo>
                  <a:lnTo>
                    <a:pt x="560959" y="239839"/>
                  </a:lnTo>
                  <a:close/>
                </a:path>
              </a:pathLst>
            </a:custGeom>
            <a:solidFill>
              <a:srgbClr val="008CA4"/>
            </a:solidFill>
          </p:spPr>
        </p:sp>
      </p:grpSp>
      <p:sp>
        <p:nvSpPr>
          <p:cNvPr name="Freeform 32" id="32"/>
          <p:cNvSpPr/>
          <p:nvPr/>
        </p:nvSpPr>
        <p:spPr>
          <a:xfrm flipH="false" flipV="false" rot="0">
            <a:off x="9638109" y="3740944"/>
            <a:ext cx="3548062" cy="2719388"/>
          </a:xfrm>
          <a:custGeom>
            <a:avLst/>
            <a:gdLst/>
            <a:ahLst/>
            <a:cxnLst/>
            <a:rect r="r" b="b" t="t" l="l"/>
            <a:pathLst>
              <a:path h="2719388" w="3548062">
                <a:moveTo>
                  <a:pt x="0" y="0"/>
                </a:moveTo>
                <a:lnTo>
                  <a:pt x="3548063" y="0"/>
                </a:lnTo>
                <a:lnTo>
                  <a:pt x="3548063" y="2719387"/>
                </a:lnTo>
                <a:lnTo>
                  <a:pt x="0" y="27193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10954045" y="4100512"/>
            <a:ext cx="914400" cy="914400"/>
            <a:chOff x="0" y="0"/>
            <a:chExt cx="1219200" cy="12192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609600" y="0"/>
                  </a:moveTo>
                  <a:cubicBezTo>
                    <a:pt x="946023" y="0"/>
                    <a:pt x="1219200" y="273177"/>
                    <a:pt x="1219200" y="609600"/>
                  </a:cubicBezTo>
                  <a:cubicBezTo>
                    <a:pt x="1219200" y="946023"/>
                    <a:pt x="946023" y="1219200"/>
                    <a:pt x="609600" y="1219200"/>
                  </a:cubicBezTo>
                  <a:cubicBezTo>
                    <a:pt x="273177" y="1219200"/>
                    <a:pt x="0" y="946023"/>
                    <a:pt x="0" y="609600"/>
                  </a:cubicBezTo>
                  <a:cubicBezTo>
                    <a:pt x="0" y="273177"/>
                    <a:pt x="273177" y="0"/>
                    <a:pt x="609600" y="0"/>
                  </a:cubicBezTo>
                  <a:close/>
                </a:path>
              </a:pathLst>
            </a:custGeom>
            <a:solidFill>
              <a:srgbClr val="008CA4">
                <a:alpha val="3922"/>
              </a:srgbClr>
            </a:solidFill>
          </p:spPr>
        </p:sp>
      </p:grpSp>
      <p:sp>
        <p:nvSpPr>
          <p:cNvPr name="Freeform 35" id="35"/>
          <p:cNvSpPr/>
          <p:nvPr/>
        </p:nvSpPr>
        <p:spPr>
          <a:xfrm flipH="false" flipV="false" rot="0">
            <a:off x="11196933" y="4386262"/>
            <a:ext cx="428625" cy="342900"/>
          </a:xfrm>
          <a:custGeom>
            <a:avLst/>
            <a:gdLst/>
            <a:ahLst/>
            <a:cxnLst/>
            <a:rect r="r" b="b" t="t" l="l"/>
            <a:pathLst>
              <a:path h="342900" w="428625">
                <a:moveTo>
                  <a:pt x="0" y="0"/>
                </a:moveTo>
                <a:lnTo>
                  <a:pt x="428625" y="0"/>
                </a:lnTo>
                <a:lnTo>
                  <a:pt x="42862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6" id="36"/>
          <p:cNvGrpSpPr/>
          <p:nvPr/>
        </p:nvGrpSpPr>
        <p:grpSpPr>
          <a:xfrm rot="0">
            <a:off x="9926241" y="4969114"/>
            <a:ext cx="2971800" cy="691673"/>
            <a:chOff x="0" y="0"/>
            <a:chExt cx="3962400" cy="92223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962400" cy="922231"/>
            </a:xfrm>
            <a:custGeom>
              <a:avLst/>
              <a:gdLst/>
              <a:ahLst/>
              <a:cxnLst/>
              <a:rect r="r" b="b" t="t" l="l"/>
              <a:pathLst>
                <a:path h="922231" w="3962400">
                  <a:moveTo>
                    <a:pt x="0" y="0"/>
                  </a:moveTo>
                  <a:lnTo>
                    <a:pt x="3962400" y="0"/>
                  </a:lnTo>
                  <a:lnTo>
                    <a:pt x="3962400" y="922231"/>
                  </a:lnTo>
                  <a:lnTo>
                    <a:pt x="0" y="9222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99" r="0" b="-12637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66675"/>
              <a:ext cx="3962400" cy="988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79"/>
                </a:lnSpc>
              </a:pPr>
              <a:r>
                <a:rPr lang="en-US" sz="3249" b="true">
                  <a:solidFill>
                    <a:srgbClr val="FFFFF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System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940528" y="5757862"/>
            <a:ext cx="2943225" cy="359614"/>
            <a:chOff x="0" y="0"/>
            <a:chExt cx="3924300" cy="47948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924300" cy="479485"/>
            </a:xfrm>
            <a:custGeom>
              <a:avLst/>
              <a:gdLst/>
              <a:ahLst/>
              <a:cxnLst/>
              <a:rect r="r" b="b" t="t" l="l"/>
              <a:pathLst>
                <a:path h="479485" w="3924300">
                  <a:moveTo>
                    <a:pt x="0" y="0"/>
                  </a:moveTo>
                  <a:lnTo>
                    <a:pt x="3924300" y="0"/>
                  </a:lnTo>
                  <a:lnTo>
                    <a:pt x="3924300" y="479485"/>
                  </a:lnTo>
                  <a:lnTo>
                    <a:pt x="0" y="4794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797" r="0" b="-107149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85725"/>
              <a:ext cx="3924300" cy="565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31"/>
                </a:lnSpc>
              </a:pPr>
              <a:r>
                <a:rPr lang="en-US" sz="2199">
                  <a:solidFill>
                    <a:srgbClr val="E6F4F6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Doktor topadi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467750" y="4886325"/>
            <a:ext cx="428625" cy="428625"/>
            <a:chOff x="0" y="0"/>
            <a:chExt cx="571500" cy="5715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71311"/>
              <a:ext cx="571436" cy="428752"/>
            </a:xfrm>
            <a:custGeom>
              <a:avLst/>
              <a:gdLst/>
              <a:ahLst/>
              <a:cxnLst/>
              <a:rect r="r" b="b" t="t" l="l"/>
              <a:pathLst>
                <a:path h="428752" w="571436">
                  <a:moveTo>
                    <a:pt x="560959" y="239712"/>
                  </a:moveTo>
                  <a:cubicBezTo>
                    <a:pt x="574929" y="225742"/>
                    <a:pt x="574929" y="203136"/>
                    <a:pt x="560959" y="189166"/>
                  </a:cubicBezTo>
                  <a:lnTo>
                    <a:pt x="382397" y="10477"/>
                  </a:lnTo>
                  <a:cubicBezTo>
                    <a:pt x="368427" y="-3493"/>
                    <a:pt x="345821" y="-3493"/>
                    <a:pt x="331851" y="10477"/>
                  </a:cubicBezTo>
                  <a:cubicBezTo>
                    <a:pt x="317881" y="24447"/>
                    <a:pt x="317881" y="47053"/>
                    <a:pt x="331851" y="61023"/>
                  </a:cubicBezTo>
                  <a:lnTo>
                    <a:pt x="449453" y="178625"/>
                  </a:lnTo>
                  <a:lnTo>
                    <a:pt x="35687" y="178625"/>
                  </a:lnTo>
                  <a:cubicBezTo>
                    <a:pt x="16002" y="178752"/>
                    <a:pt x="0" y="194627"/>
                    <a:pt x="0" y="214439"/>
                  </a:cubicBezTo>
                  <a:cubicBezTo>
                    <a:pt x="0" y="234251"/>
                    <a:pt x="16002" y="250126"/>
                    <a:pt x="35687" y="250126"/>
                  </a:cubicBezTo>
                  <a:lnTo>
                    <a:pt x="449453" y="250126"/>
                  </a:lnTo>
                  <a:lnTo>
                    <a:pt x="331851" y="367728"/>
                  </a:lnTo>
                  <a:cubicBezTo>
                    <a:pt x="317881" y="381698"/>
                    <a:pt x="317881" y="404304"/>
                    <a:pt x="331851" y="418274"/>
                  </a:cubicBezTo>
                  <a:cubicBezTo>
                    <a:pt x="345821" y="432244"/>
                    <a:pt x="368427" y="432244"/>
                    <a:pt x="382397" y="418274"/>
                  </a:cubicBezTo>
                  <a:lnTo>
                    <a:pt x="560959" y="239839"/>
                  </a:lnTo>
                  <a:close/>
                </a:path>
              </a:pathLst>
            </a:custGeom>
            <a:solidFill>
              <a:srgbClr val="008CA4"/>
            </a:solidFill>
          </p:spPr>
        </p:sp>
      </p:grpSp>
      <p:sp>
        <p:nvSpPr>
          <p:cNvPr name="Freeform 44" id="44"/>
          <p:cNvSpPr/>
          <p:nvPr/>
        </p:nvSpPr>
        <p:spPr>
          <a:xfrm flipH="false" flipV="false" rot="0">
            <a:off x="14172600" y="3740944"/>
            <a:ext cx="3548062" cy="2719388"/>
          </a:xfrm>
          <a:custGeom>
            <a:avLst/>
            <a:gdLst/>
            <a:ahLst/>
            <a:cxnLst/>
            <a:rect r="r" b="b" t="t" l="l"/>
            <a:pathLst>
              <a:path h="2719388" w="3548062">
                <a:moveTo>
                  <a:pt x="0" y="0"/>
                </a:moveTo>
                <a:lnTo>
                  <a:pt x="3548062" y="0"/>
                </a:lnTo>
                <a:lnTo>
                  <a:pt x="3548062" y="2719387"/>
                </a:lnTo>
                <a:lnTo>
                  <a:pt x="0" y="271938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5" id="45"/>
          <p:cNvGrpSpPr/>
          <p:nvPr/>
        </p:nvGrpSpPr>
        <p:grpSpPr>
          <a:xfrm rot="0">
            <a:off x="15488545" y="4100512"/>
            <a:ext cx="914400" cy="914400"/>
            <a:chOff x="0" y="0"/>
            <a:chExt cx="1219200" cy="12192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609600" y="0"/>
                  </a:moveTo>
                  <a:cubicBezTo>
                    <a:pt x="946023" y="0"/>
                    <a:pt x="1219200" y="273177"/>
                    <a:pt x="1219200" y="609600"/>
                  </a:cubicBezTo>
                  <a:cubicBezTo>
                    <a:pt x="1219200" y="946023"/>
                    <a:pt x="946023" y="1219200"/>
                    <a:pt x="609600" y="1219200"/>
                  </a:cubicBezTo>
                  <a:cubicBezTo>
                    <a:pt x="273177" y="1219200"/>
                    <a:pt x="0" y="946023"/>
                    <a:pt x="0" y="609600"/>
                  </a:cubicBezTo>
                  <a:cubicBezTo>
                    <a:pt x="0" y="273177"/>
                    <a:pt x="273177" y="0"/>
                    <a:pt x="609600" y="0"/>
                  </a:cubicBezTo>
                  <a:close/>
                </a:path>
              </a:pathLst>
            </a:custGeom>
            <a:solidFill>
              <a:srgbClr val="FFB200">
                <a:alpha val="9020"/>
              </a:srgbClr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5774295" y="4386262"/>
            <a:ext cx="342900" cy="342900"/>
            <a:chOff x="0" y="0"/>
            <a:chExt cx="457200" cy="4572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228600" y="457200"/>
                  </a:moveTo>
                  <a:cubicBezTo>
                    <a:pt x="354711" y="457200"/>
                    <a:pt x="457200" y="354711"/>
                    <a:pt x="457200" y="228600"/>
                  </a:cubicBezTo>
                  <a:cubicBezTo>
                    <a:pt x="457200" y="102489"/>
                    <a:pt x="354711" y="0"/>
                    <a:pt x="228600" y="0"/>
                  </a:cubicBezTo>
                  <a:cubicBezTo>
                    <a:pt x="102489" y="0"/>
                    <a:pt x="0" y="102489"/>
                    <a:pt x="0" y="228600"/>
                  </a:cubicBezTo>
                  <a:cubicBezTo>
                    <a:pt x="0" y="354711"/>
                    <a:pt x="102489" y="457200"/>
                    <a:pt x="228600" y="457200"/>
                  </a:cubicBezTo>
                  <a:close/>
                  <a:moveTo>
                    <a:pt x="303911" y="189992"/>
                  </a:moveTo>
                  <a:lnTo>
                    <a:pt x="232537" y="304292"/>
                  </a:lnTo>
                  <a:cubicBezTo>
                    <a:pt x="228727" y="310261"/>
                    <a:pt x="222377" y="314071"/>
                    <a:pt x="215265" y="314325"/>
                  </a:cubicBezTo>
                  <a:cubicBezTo>
                    <a:pt x="208153" y="314579"/>
                    <a:pt x="201422" y="311404"/>
                    <a:pt x="197231" y="305689"/>
                  </a:cubicBezTo>
                  <a:lnTo>
                    <a:pt x="154432" y="248539"/>
                  </a:lnTo>
                  <a:cubicBezTo>
                    <a:pt x="147320" y="239014"/>
                    <a:pt x="149225" y="225679"/>
                    <a:pt x="158750" y="218567"/>
                  </a:cubicBezTo>
                  <a:cubicBezTo>
                    <a:pt x="168275" y="211455"/>
                    <a:pt x="181610" y="213360"/>
                    <a:pt x="188722" y="222885"/>
                  </a:cubicBezTo>
                  <a:lnTo>
                    <a:pt x="212852" y="255016"/>
                  </a:lnTo>
                  <a:lnTo>
                    <a:pt x="267716" y="167259"/>
                  </a:lnTo>
                  <a:cubicBezTo>
                    <a:pt x="273939" y="157226"/>
                    <a:pt x="287147" y="154178"/>
                    <a:pt x="297307" y="160528"/>
                  </a:cubicBezTo>
                  <a:cubicBezTo>
                    <a:pt x="307467" y="166878"/>
                    <a:pt x="310388" y="179959"/>
                    <a:pt x="304038" y="190119"/>
                  </a:cubicBezTo>
                  <a:close/>
                </a:path>
              </a:pathLst>
            </a:custGeom>
            <a:solidFill>
              <a:srgbClr val="FFB200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4460741" y="5097701"/>
            <a:ext cx="2971800" cy="691673"/>
            <a:chOff x="0" y="0"/>
            <a:chExt cx="3962400" cy="92223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962400" cy="922231"/>
            </a:xfrm>
            <a:custGeom>
              <a:avLst/>
              <a:gdLst/>
              <a:ahLst/>
              <a:cxnLst/>
              <a:rect r="r" b="b" t="t" l="l"/>
              <a:pathLst>
                <a:path h="922231" w="3962400">
                  <a:moveTo>
                    <a:pt x="0" y="0"/>
                  </a:moveTo>
                  <a:lnTo>
                    <a:pt x="3962400" y="0"/>
                  </a:lnTo>
                  <a:lnTo>
                    <a:pt x="3962400" y="922231"/>
                  </a:lnTo>
                  <a:lnTo>
                    <a:pt x="0" y="9222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99" r="0" b="-12637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66675"/>
              <a:ext cx="3962400" cy="988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79"/>
                </a:lnSpc>
              </a:pPr>
              <a:r>
                <a:rPr lang="en-US" sz="3249" b="true">
                  <a:solidFill>
                    <a:srgbClr val="FFFFF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Result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4475028" y="5757862"/>
            <a:ext cx="2943225" cy="359614"/>
            <a:chOff x="0" y="0"/>
            <a:chExt cx="3924300" cy="479485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924300" cy="479485"/>
            </a:xfrm>
            <a:custGeom>
              <a:avLst/>
              <a:gdLst/>
              <a:ahLst/>
              <a:cxnLst/>
              <a:rect r="r" b="b" t="t" l="l"/>
              <a:pathLst>
                <a:path h="479485" w="3924300">
                  <a:moveTo>
                    <a:pt x="0" y="0"/>
                  </a:moveTo>
                  <a:lnTo>
                    <a:pt x="3924300" y="0"/>
                  </a:lnTo>
                  <a:lnTo>
                    <a:pt x="3924300" y="479485"/>
                  </a:lnTo>
                  <a:lnTo>
                    <a:pt x="0" y="4794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797" r="0" b="-107149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85725"/>
              <a:ext cx="3924300" cy="565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31"/>
                </a:lnSpc>
              </a:pPr>
              <a:r>
                <a:rPr lang="en-US" sz="2199">
                  <a:solidFill>
                    <a:srgbClr val="E6F4F6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Userga chiqadi</a:t>
              </a: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569119" y="7141369"/>
            <a:ext cx="17149762" cy="1176338"/>
          </a:xfrm>
          <a:custGeom>
            <a:avLst/>
            <a:gdLst/>
            <a:ahLst/>
            <a:cxnLst/>
            <a:rect r="r" b="b" t="t" l="l"/>
            <a:pathLst>
              <a:path h="1176338" w="17149762">
                <a:moveTo>
                  <a:pt x="0" y="0"/>
                </a:moveTo>
                <a:lnTo>
                  <a:pt x="17149762" y="0"/>
                </a:lnTo>
                <a:lnTo>
                  <a:pt x="17149762" y="1176337"/>
                </a:lnTo>
                <a:lnTo>
                  <a:pt x="0" y="117633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5144614" y="7586662"/>
            <a:ext cx="250031" cy="285750"/>
            <a:chOff x="0" y="0"/>
            <a:chExt cx="333375" cy="3810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-26" y="-11872"/>
              <a:ext cx="333427" cy="404745"/>
            </a:xfrm>
            <a:custGeom>
              <a:avLst/>
              <a:gdLst/>
              <a:ahLst/>
              <a:cxnLst/>
              <a:rect r="r" b="b" t="t" l="l"/>
              <a:pathLst>
                <a:path h="404745" w="333427">
                  <a:moveTo>
                    <a:pt x="252121" y="4506"/>
                  </a:moveTo>
                  <a:cubicBezTo>
                    <a:pt x="261011" y="10856"/>
                    <a:pt x="264313" y="22540"/>
                    <a:pt x="260249" y="32573"/>
                  </a:cubicBezTo>
                  <a:lnTo>
                    <a:pt x="201956" y="178623"/>
                  </a:lnTo>
                  <a:lnTo>
                    <a:pt x="309652" y="178623"/>
                  </a:lnTo>
                  <a:cubicBezTo>
                    <a:pt x="319685" y="178623"/>
                    <a:pt x="328575" y="184846"/>
                    <a:pt x="332004" y="194371"/>
                  </a:cubicBezTo>
                  <a:cubicBezTo>
                    <a:pt x="335433" y="203896"/>
                    <a:pt x="332512" y="214437"/>
                    <a:pt x="324892" y="220787"/>
                  </a:cubicBezTo>
                  <a:lnTo>
                    <a:pt x="110516" y="399222"/>
                  </a:lnTo>
                  <a:cubicBezTo>
                    <a:pt x="102134" y="406207"/>
                    <a:pt x="90069" y="406588"/>
                    <a:pt x="81306" y="400238"/>
                  </a:cubicBezTo>
                  <a:cubicBezTo>
                    <a:pt x="72543" y="393888"/>
                    <a:pt x="69114" y="382204"/>
                    <a:pt x="73178" y="372171"/>
                  </a:cubicBezTo>
                  <a:lnTo>
                    <a:pt x="131471" y="226248"/>
                  </a:lnTo>
                  <a:lnTo>
                    <a:pt x="23775" y="226248"/>
                  </a:lnTo>
                  <a:cubicBezTo>
                    <a:pt x="13742" y="226248"/>
                    <a:pt x="4852" y="220025"/>
                    <a:pt x="1423" y="210500"/>
                  </a:cubicBezTo>
                  <a:cubicBezTo>
                    <a:pt x="-2006" y="200975"/>
                    <a:pt x="915" y="190434"/>
                    <a:pt x="8535" y="184084"/>
                  </a:cubicBezTo>
                  <a:lnTo>
                    <a:pt x="222911" y="5522"/>
                  </a:lnTo>
                  <a:cubicBezTo>
                    <a:pt x="231293" y="-1463"/>
                    <a:pt x="243358" y="-1844"/>
                    <a:pt x="252121" y="4506"/>
                  </a:cubicBezTo>
                  <a:close/>
                </a:path>
              </a:pathLst>
            </a:custGeom>
            <a:solidFill>
              <a:srgbClr val="FFB200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5619674" y="7529512"/>
            <a:ext cx="1214438" cy="400050"/>
            <a:chOff x="0" y="0"/>
            <a:chExt cx="1619250" cy="5334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619250" cy="533400"/>
            </a:xfrm>
            <a:custGeom>
              <a:avLst/>
              <a:gdLst/>
              <a:ahLst/>
              <a:cxnLst/>
              <a:rect r="r" b="b" t="t" l="l"/>
              <a:pathLst>
                <a:path h="533400" w="1619250">
                  <a:moveTo>
                    <a:pt x="0" y="0"/>
                  </a:moveTo>
                  <a:lnTo>
                    <a:pt x="1619250" y="0"/>
                  </a:lnTo>
                  <a:lnTo>
                    <a:pt x="16192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51" r="0" b="-9151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76200"/>
              <a:ext cx="161925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>
                  <a:solidFill>
                    <a:srgbClr val="E6F4F6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&lt; 5 soniya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7392438" y="7500938"/>
            <a:ext cx="14288" cy="457200"/>
            <a:chOff x="0" y="0"/>
            <a:chExt cx="19050" cy="6096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9050" cy="609600"/>
            </a:xfrm>
            <a:custGeom>
              <a:avLst/>
              <a:gdLst/>
              <a:ahLst/>
              <a:cxnLst/>
              <a:rect r="r" b="b" t="t" l="l"/>
              <a:pathLst>
                <a:path h="609600" w="19050">
                  <a:moveTo>
                    <a:pt x="0" y="0"/>
                  </a:moveTo>
                  <a:lnTo>
                    <a:pt x="19050" y="0"/>
                  </a:lnTo>
                  <a:lnTo>
                    <a:pt x="1905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8CA4">
                <a:alpha val="9020"/>
              </a:srgbClr>
            </a:solidFill>
          </p:spPr>
        </p:sp>
      </p:grpSp>
      <p:sp>
        <p:nvSpPr>
          <p:cNvPr name="Freeform 63" id="63"/>
          <p:cNvSpPr/>
          <p:nvPr/>
        </p:nvSpPr>
        <p:spPr>
          <a:xfrm flipH="false" flipV="false" rot="0">
            <a:off x="8146104" y="7586662"/>
            <a:ext cx="250031" cy="285750"/>
          </a:xfrm>
          <a:custGeom>
            <a:avLst/>
            <a:gdLst/>
            <a:ahLst/>
            <a:cxnLst/>
            <a:rect r="r" b="b" t="t" l="l"/>
            <a:pathLst>
              <a:path h="285750" w="250031">
                <a:moveTo>
                  <a:pt x="0" y="0"/>
                </a:moveTo>
                <a:lnTo>
                  <a:pt x="250031" y="0"/>
                </a:lnTo>
                <a:lnTo>
                  <a:pt x="250031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4" id="64"/>
          <p:cNvGrpSpPr/>
          <p:nvPr/>
        </p:nvGrpSpPr>
        <p:grpSpPr>
          <a:xfrm rot="0">
            <a:off x="8621163" y="7529512"/>
            <a:ext cx="1400175" cy="400050"/>
            <a:chOff x="0" y="0"/>
            <a:chExt cx="1866900" cy="5334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866900" cy="533400"/>
            </a:xfrm>
            <a:custGeom>
              <a:avLst/>
              <a:gdLst/>
              <a:ahLst/>
              <a:cxnLst/>
              <a:rect r="r" b="b" t="t" l="l"/>
              <a:pathLst>
                <a:path h="533400" w="1866900">
                  <a:moveTo>
                    <a:pt x="0" y="0"/>
                  </a:moveTo>
                  <a:lnTo>
                    <a:pt x="1866900" y="0"/>
                  </a:lnTo>
                  <a:lnTo>
                    <a:pt x="18669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76200"/>
              <a:ext cx="18669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>
                  <a:solidFill>
                    <a:srgbClr val="E6F4F6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95% aniqlik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0576322" y="7500938"/>
            <a:ext cx="14288" cy="457200"/>
            <a:chOff x="0" y="0"/>
            <a:chExt cx="19050" cy="6096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9050" cy="609600"/>
            </a:xfrm>
            <a:custGeom>
              <a:avLst/>
              <a:gdLst/>
              <a:ahLst/>
              <a:cxnLst/>
              <a:rect r="r" b="b" t="t" l="l"/>
              <a:pathLst>
                <a:path h="609600" w="19050">
                  <a:moveTo>
                    <a:pt x="0" y="0"/>
                  </a:moveTo>
                  <a:lnTo>
                    <a:pt x="19050" y="0"/>
                  </a:lnTo>
                  <a:lnTo>
                    <a:pt x="1905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8CA4">
                <a:alpha val="9020"/>
              </a:srgbClr>
            </a:solidFill>
          </p:spPr>
        </p:sp>
      </p:grpSp>
      <p:sp>
        <p:nvSpPr>
          <p:cNvPr name="Freeform 69" id="69"/>
          <p:cNvSpPr/>
          <p:nvPr/>
        </p:nvSpPr>
        <p:spPr>
          <a:xfrm flipH="false" flipV="false" rot="0">
            <a:off x="11276409" y="7586662"/>
            <a:ext cx="357188" cy="285750"/>
          </a:xfrm>
          <a:custGeom>
            <a:avLst/>
            <a:gdLst/>
            <a:ahLst/>
            <a:cxnLst/>
            <a:rect r="r" b="b" t="t" l="l"/>
            <a:pathLst>
              <a:path h="285750" w="357188">
                <a:moveTo>
                  <a:pt x="0" y="0"/>
                </a:moveTo>
                <a:lnTo>
                  <a:pt x="357188" y="0"/>
                </a:lnTo>
                <a:lnTo>
                  <a:pt x="357188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0" id="70"/>
          <p:cNvGrpSpPr/>
          <p:nvPr/>
        </p:nvGrpSpPr>
        <p:grpSpPr>
          <a:xfrm rot="0">
            <a:off x="11805047" y="7529512"/>
            <a:ext cx="1514475" cy="400050"/>
            <a:chOff x="0" y="0"/>
            <a:chExt cx="2019300" cy="5334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019300" cy="533400"/>
            </a:xfrm>
            <a:custGeom>
              <a:avLst/>
              <a:gdLst/>
              <a:ahLst/>
              <a:cxnLst/>
              <a:rect r="r" b="b" t="t" l="l"/>
              <a:pathLst>
                <a:path h="533400" w="2019300">
                  <a:moveTo>
                    <a:pt x="0" y="0"/>
                  </a:moveTo>
                  <a:lnTo>
                    <a:pt x="2019300" y="0"/>
                  </a:lnTo>
                  <a:lnTo>
                    <a:pt x="20193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64" r="0" b="-23764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76200"/>
              <a:ext cx="20193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>
                  <a:solidFill>
                    <a:srgbClr val="E6F4F6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24/7 ishlaydi</a:t>
              </a:r>
            </a:p>
          </p:txBody>
        </p:sp>
      </p:grpSp>
      <p:sp>
        <p:nvSpPr>
          <p:cNvPr name="TextBox 73" id="73"/>
          <p:cNvSpPr txBox="true"/>
          <p:nvPr/>
        </p:nvSpPr>
        <p:spPr>
          <a:xfrm rot="0">
            <a:off x="864175" y="372808"/>
            <a:ext cx="6226893" cy="949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75"/>
              </a:lnSpc>
              <a:spcBef>
                <a:spcPct val="0"/>
              </a:spcBef>
            </a:pPr>
            <a:r>
              <a:rPr lang="en-US" b="true" sz="5400">
                <a:solidFill>
                  <a:srgbClr val="FFFFFF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Bu qanday ishlaydi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571500"/>
            <a:ext cx="114300" cy="685800"/>
            <a:chOff x="0" y="0"/>
            <a:chExt cx="152400" cy="914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52400">
                  <a:moveTo>
                    <a:pt x="76200" y="0"/>
                  </a:move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838200"/>
                  </a:lnTo>
                  <a:cubicBezTo>
                    <a:pt x="152400" y="880237"/>
                    <a:pt x="118237" y="914400"/>
                    <a:pt x="76200" y="914400"/>
                  </a:cubicBezTo>
                  <a:cubicBezTo>
                    <a:pt x="34163" y="914400"/>
                    <a:pt x="0" y="880237"/>
                    <a:pt x="0" y="838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08CA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92981" y="337185"/>
            <a:ext cx="7008189" cy="1154430"/>
            <a:chOff x="0" y="0"/>
            <a:chExt cx="9344252" cy="15392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344251" cy="1539240"/>
            </a:xfrm>
            <a:custGeom>
              <a:avLst/>
              <a:gdLst/>
              <a:ahLst/>
              <a:cxnLst/>
              <a:rect r="r" b="b" t="t" l="l"/>
              <a:pathLst>
                <a:path h="1539240" w="9344251">
                  <a:moveTo>
                    <a:pt x="0" y="0"/>
                  </a:moveTo>
                  <a:lnTo>
                    <a:pt x="9344251" y="0"/>
                  </a:lnTo>
                  <a:lnTo>
                    <a:pt x="9344251" y="1539240"/>
                  </a:lnTo>
                  <a:lnTo>
                    <a:pt x="0" y="1539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401" r="39043" b="-180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123825"/>
              <a:ext cx="9344252" cy="1415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84"/>
                </a:lnSpc>
              </a:pPr>
              <a:r>
                <a:rPr lang="en-US" sz="5400" b="true">
                  <a:solidFill>
                    <a:srgbClr val="FFFFF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Asosiy xususiyatlar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485900"/>
            <a:ext cx="16944975" cy="416071"/>
            <a:chOff x="0" y="0"/>
            <a:chExt cx="22593300" cy="5547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93300" cy="554762"/>
            </a:xfrm>
            <a:custGeom>
              <a:avLst/>
              <a:gdLst/>
              <a:ahLst/>
              <a:cxnLst/>
              <a:rect r="r" b="b" t="t" l="l"/>
              <a:pathLst>
                <a:path h="554762" w="22593300">
                  <a:moveTo>
                    <a:pt x="0" y="0"/>
                  </a:moveTo>
                  <a:lnTo>
                    <a:pt x="22593300" y="0"/>
                  </a:lnTo>
                  <a:lnTo>
                    <a:pt x="22593300" y="554762"/>
                  </a:lnTo>
                  <a:lnTo>
                    <a:pt x="0" y="55476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5475" r="0" b="-74162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22593300" cy="6214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71"/>
                </a:lnSpc>
              </a:pPr>
              <a:r>
                <a:rPr lang="en-US" sz="2549">
                  <a:solidFill>
                    <a:srgbClr val="8F8F8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Asosiy funksiyalar va imkoniyatlar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569119" y="2340769"/>
            <a:ext cx="8405812" cy="3562350"/>
          </a:xfrm>
          <a:custGeom>
            <a:avLst/>
            <a:gdLst/>
            <a:ahLst/>
            <a:cxnLst/>
            <a:rect r="r" b="b" t="t" l="l"/>
            <a:pathLst>
              <a:path h="3562350" w="8405812">
                <a:moveTo>
                  <a:pt x="0" y="0"/>
                </a:moveTo>
                <a:lnTo>
                  <a:pt x="8405812" y="0"/>
                </a:lnTo>
                <a:lnTo>
                  <a:pt x="8405812" y="3562350"/>
                </a:lnTo>
                <a:lnTo>
                  <a:pt x="0" y="35623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908419" y="2465756"/>
            <a:ext cx="1183537" cy="1183537"/>
            <a:chOff x="0" y="0"/>
            <a:chExt cx="1219200" cy="1219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304800" y="0"/>
                  </a:moveTo>
                  <a:lnTo>
                    <a:pt x="914400" y="0"/>
                  </a:lnTo>
                  <a:cubicBezTo>
                    <a:pt x="1082675" y="0"/>
                    <a:pt x="1219200" y="136525"/>
                    <a:pt x="1219200" y="304800"/>
                  </a:cubicBezTo>
                  <a:lnTo>
                    <a:pt x="1219200" y="914400"/>
                  </a:lnTo>
                  <a:cubicBezTo>
                    <a:pt x="1219200" y="1082675"/>
                    <a:pt x="1082675" y="1219200"/>
                    <a:pt x="914400" y="1219200"/>
                  </a:cubicBezTo>
                  <a:lnTo>
                    <a:pt x="304800" y="1219200"/>
                  </a:lnTo>
                  <a:cubicBezTo>
                    <a:pt x="136525" y="1219200"/>
                    <a:pt x="0" y="1082675"/>
                    <a:pt x="0" y="914400"/>
                  </a:cubicBezTo>
                  <a:lnTo>
                    <a:pt x="0" y="304800"/>
                  </a:ln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008CA4">
                <a:alpha val="3922"/>
              </a:srgbClr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132287" y="2760343"/>
            <a:ext cx="742955" cy="594364"/>
          </a:xfrm>
          <a:custGeom>
            <a:avLst/>
            <a:gdLst/>
            <a:ahLst/>
            <a:cxnLst/>
            <a:rect r="r" b="b" t="t" l="l"/>
            <a:pathLst>
              <a:path h="594364" w="742955">
                <a:moveTo>
                  <a:pt x="0" y="0"/>
                </a:moveTo>
                <a:lnTo>
                  <a:pt x="742955" y="0"/>
                </a:lnTo>
                <a:lnTo>
                  <a:pt x="742955" y="594364"/>
                </a:lnTo>
                <a:lnTo>
                  <a:pt x="0" y="5943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3060848" y="2547271"/>
            <a:ext cx="1711177" cy="1020508"/>
            <a:chOff x="0" y="0"/>
            <a:chExt cx="2281570" cy="13606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81570" cy="1360678"/>
            </a:xfrm>
            <a:custGeom>
              <a:avLst/>
              <a:gdLst/>
              <a:ahLst/>
              <a:cxnLst/>
              <a:rect r="r" b="b" t="t" l="l"/>
              <a:pathLst>
                <a:path h="1360678" w="2281570">
                  <a:moveTo>
                    <a:pt x="0" y="0"/>
                  </a:moveTo>
                  <a:lnTo>
                    <a:pt x="2281570" y="0"/>
                  </a:lnTo>
                  <a:lnTo>
                    <a:pt x="2281570" y="1360678"/>
                  </a:lnTo>
                  <a:lnTo>
                    <a:pt x="0" y="1360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78" r="25689" b="5332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281570" cy="13987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19"/>
                </a:lnSpc>
              </a:pPr>
              <a:r>
                <a:rPr lang="en-US" sz="3499" b="true">
                  <a:solidFill>
                    <a:srgbClr val="FFFFF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AI Chat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28700" y="3853578"/>
            <a:ext cx="7586662" cy="882234"/>
            <a:chOff x="0" y="0"/>
            <a:chExt cx="10115550" cy="117631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115550" cy="1176313"/>
            </a:xfrm>
            <a:custGeom>
              <a:avLst/>
              <a:gdLst/>
              <a:ahLst/>
              <a:cxnLst/>
              <a:rect r="r" b="b" t="t" l="l"/>
              <a:pathLst>
                <a:path h="1176313" w="10115550">
                  <a:moveTo>
                    <a:pt x="0" y="0"/>
                  </a:moveTo>
                  <a:lnTo>
                    <a:pt x="10115550" y="0"/>
                  </a:lnTo>
                  <a:lnTo>
                    <a:pt x="10115550" y="1176313"/>
                  </a:lnTo>
                  <a:lnTo>
                    <a:pt x="0" y="11763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784" r="0" b="-11533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14300"/>
              <a:ext cx="10115550" cy="12906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05"/>
                </a:lnSpc>
              </a:pPr>
              <a:r>
                <a:rPr lang="en-US" sz="2324">
                  <a:solidFill>
                    <a:srgbClr val="E6F4F6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Sun'iy intellekt bilan suhbat orqali simptomlarni tahlil qilish va doktorga yo`naltirish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42988" y="5022056"/>
            <a:ext cx="1285875" cy="400050"/>
            <a:chOff x="0" y="0"/>
            <a:chExt cx="1714500" cy="533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714500" cy="533400"/>
            </a:xfrm>
            <a:custGeom>
              <a:avLst/>
              <a:gdLst/>
              <a:ahLst/>
              <a:cxnLst/>
              <a:rect r="r" b="b" t="t" l="l"/>
              <a:pathLst>
                <a:path h="533400" w="1714500">
                  <a:moveTo>
                    <a:pt x="266700" y="0"/>
                  </a:moveTo>
                  <a:lnTo>
                    <a:pt x="1447800" y="0"/>
                  </a:lnTo>
                  <a:cubicBezTo>
                    <a:pt x="1594993" y="0"/>
                    <a:pt x="1714500" y="119507"/>
                    <a:pt x="1714500" y="266700"/>
                  </a:cubicBezTo>
                  <a:cubicBezTo>
                    <a:pt x="1714500" y="413893"/>
                    <a:pt x="1594993" y="533400"/>
                    <a:pt x="1447800" y="533400"/>
                  </a:cubicBezTo>
                  <a:lnTo>
                    <a:pt x="266700" y="533400"/>
                  </a:lnTo>
                  <a:cubicBezTo>
                    <a:pt x="119507" y="533400"/>
                    <a:pt x="0" y="413893"/>
                    <a:pt x="0" y="266700"/>
                  </a:cubicBezTo>
                  <a:cubicBezTo>
                    <a:pt x="0" y="119507"/>
                    <a:pt x="119507" y="0"/>
                    <a:pt x="266700" y="0"/>
                  </a:cubicBezTo>
                  <a:close/>
                </a:path>
              </a:pathLst>
            </a:custGeom>
            <a:solidFill>
              <a:srgbClr val="008CA4">
                <a:alpha val="3922"/>
              </a:srgbClr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92981" y="5019675"/>
            <a:ext cx="1385888" cy="400050"/>
            <a:chOff x="0" y="0"/>
            <a:chExt cx="1847850" cy="533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847850" cy="533400"/>
            </a:xfrm>
            <a:custGeom>
              <a:avLst/>
              <a:gdLst/>
              <a:ahLst/>
              <a:cxnLst/>
              <a:rect r="r" b="b" t="t" l="l"/>
              <a:pathLst>
                <a:path h="533400" w="1847850">
                  <a:moveTo>
                    <a:pt x="0" y="0"/>
                  </a:moveTo>
                  <a:lnTo>
                    <a:pt x="1847850" y="0"/>
                  </a:lnTo>
                  <a:lnTo>
                    <a:pt x="18478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501" r="0" b="-17501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847850" cy="571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>
                  <a:solidFill>
                    <a:srgbClr val="008CA4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Gemini API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447182" y="5022056"/>
            <a:ext cx="685800" cy="400050"/>
            <a:chOff x="0" y="0"/>
            <a:chExt cx="914400" cy="533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14400" cy="533400"/>
            </a:xfrm>
            <a:custGeom>
              <a:avLst/>
              <a:gdLst/>
              <a:ahLst/>
              <a:cxnLst/>
              <a:rect r="r" b="b" t="t" l="l"/>
              <a:pathLst>
                <a:path h="533400" w="914400">
                  <a:moveTo>
                    <a:pt x="266700" y="0"/>
                  </a:moveTo>
                  <a:lnTo>
                    <a:pt x="647700" y="0"/>
                  </a:lnTo>
                  <a:cubicBezTo>
                    <a:pt x="794893" y="0"/>
                    <a:pt x="914400" y="119507"/>
                    <a:pt x="914400" y="266700"/>
                  </a:cubicBezTo>
                  <a:cubicBezTo>
                    <a:pt x="914400" y="413893"/>
                    <a:pt x="794893" y="533400"/>
                    <a:pt x="647700" y="533400"/>
                  </a:cubicBezTo>
                  <a:lnTo>
                    <a:pt x="266700" y="533400"/>
                  </a:lnTo>
                  <a:cubicBezTo>
                    <a:pt x="119507" y="533400"/>
                    <a:pt x="0" y="413893"/>
                    <a:pt x="0" y="266700"/>
                  </a:cubicBezTo>
                  <a:cubicBezTo>
                    <a:pt x="0" y="119507"/>
                    <a:pt x="119507" y="0"/>
                    <a:pt x="266700" y="0"/>
                  </a:cubicBezTo>
                  <a:close/>
                </a:path>
              </a:pathLst>
            </a:custGeom>
            <a:solidFill>
              <a:srgbClr val="008CA4">
                <a:alpha val="3922"/>
              </a:srgbClr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2288624" y="4964412"/>
            <a:ext cx="1002916" cy="510575"/>
            <a:chOff x="0" y="0"/>
            <a:chExt cx="1047750" cy="533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47750" cy="533400"/>
            </a:xfrm>
            <a:custGeom>
              <a:avLst/>
              <a:gdLst/>
              <a:ahLst/>
              <a:cxnLst/>
              <a:rect r="r" b="b" t="t" l="l"/>
              <a:pathLst>
                <a:path h="533400" w="1047750">
                  <a:moveTo>
                    <a:pt x="0" y="0"/>
                  </a:moveTo>
                  <a:lnTo>
                    <a:pt x="1047750" y="0"/>
                  </a:lnTo>
                  <a:lnTo>
                    <a:pt x="10477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318" t="0" r="-15318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047750" cy="571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>
                  <a:solidFill>
                    <a:srgbClr val="008CA4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NLP</a:t>
              </a: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9313069" y="2340769"/>
            <a:ext cx="8405812" cy="3562350"/>
          </a:xfrm>
          <a:custGeom>
            <a:avLst/>
            <a:gdLst/>
            <a:ahLst/>
            <a:cxnLst/>
            <a:rect r="r" b="b" t="t" l="l"/>
            <a:pathLst>
              <a:path h="3562350" w="8405812">
                <a:moveTo>
                  <a:pt x="0" y="0"/>
                </a:moveTo>
                <a:lnTo>
                  <a:pt x="8405812" y="0"/>
                </a:lnTo>
                <a:lnTo>
                  <a:pt x="8405812" y="3562350"/>
                </a:lnTo>
                <a:lnTo>
                  <a:pt x="0" y="35623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9652369" y="2465756"/>
            <a:ext cx="1183537" cy="1183537"/>
            <a:chOff x="0" y="0"/>
            <a:chExt cx="1219200" cy="12192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304800" y="0"/>
                  </a:moveTo>
                  <a:lnTo>
                    <a:pt x="914400" y="0"/>
                  </a:lnTo>
                  <a:cubicBezTo>
                    <a:pt x="1082675" y="0"/>
                    <a:pt x="1219200" y="136525"/>
                    <a:pt x="1219200" y="304800"/>
                  </a:cubicBezTo>
                  <a:lnTo>
                    <a:pt x="1219200" y="914400"/>
                  </a:lnTo>
                  <a:cubicBezTo>
                    <a:pt x="1219200" y="1082675"/>
                    <a:pt x="1082675" y="1219200"/>
                    <a:pt x="914400" y="1219200"/>
                  </a:cubicBezTo>
                  <a:lnTo>
                    <a:pt x="304800" y="1219200"/>
                  </a:lnTo>
                  <a:cubicBezTo>
                    <a:pt x="136525" y="1219200"/>
                    <a:pt x="0" y="1082675"/>
                    <a:pt x="0" y="914400"/>
                  </a:cubicBezTo>
                  <a:lnTo>
                    <a:pt x="0" y="304800"/>
                  </a:ln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008CA4">
                <a:alpha val="3922"/>
              </a:srgbClr>
            </a:solidFill>
          </p:spPr>
        </p:sp>
      </p:grpSp>
      <p:sp>
        <p:nvSpPr>
          <p:cNvPr name="Freeform 33" id="33"/>
          <p:cNvSpPr/>
          <p:nvPr/>
        </p:nvSpPr>
        <p:spPr>
          <a:xfrm flipH="false" flipV="false" rot="0">
            <a:off x="9828014" y="2724626"/>
            <a:ext cx="832247" cy="665797"/>
          </a:xfrm>
          <a:custGeom>
            <a:avLst/>
            <a:gdLst/>
            <a:ahLst/>
            <a:cxnLst/>
            <a:rect r="r" b="b" t="t" l="l"/>
            <a:pathLst>
              <a:path h="665797" w="832247">
                <a:moveTo>
                  <a:pt x="0" y="0"/>
                </a:moveTo>
                <a:lnTo>
                  <a:pt x="832247" y="0"/>
                </a:lnTo>
                <a:lnTo>
                  <a:pt x="832247" y="665798"/>
                </a:lnTo>
                <a:lnTo>
                  <a:pt x="0" y="6657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11693156" y="2628785"/>
            <a:ext cx="5337544" cy="1020508"/>
            <a:chOff x="0" y="0"/>
            <a:chExt cx="7116725" cy="136067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116725" cy="1360678"/>
            </a:xfrm>
            <a:custGeom>
              <a:avLst/>
              <a:gdLst/>
              <a:ahLst/>
              <a:cxnLst/>
              <a:rect r="r" b="b" t="t" l="l"/>
              <a:pathLst>
                <a:path h="1360678" w="7116725">
                  <a:moveTo>
                    <a:pt x="0" y="0"/>
                  </a:moveTo>
                  <a:lnTo>
                    <a:pt x="7116725" y="0"/>
                  </a:lnTo>
                  <a:lnTo>
                    <a:pt x="7116725" y="1360678"/>
                  </a:lnTo>
                  <a:lnTo>
                    <a:pt x="0" y="1360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57" r="52353" b="2904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7116725" cy="13987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19"/>
                </a:lnSpc>
              </a:pPr>
              <a:r>
                <a:rPr lang="en-US" sz="3499" b="true">
                  <a:solidFill>
                    <a:srgbClr val="FFFFF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Joylashuvga asoslangan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786938" y="3853578"/>
            <a:ext cx="7586662" cy="882234"/>
            <a:chOff x="0" y="0"/>
            <a:chExt cx="10115550" cy="117631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115550" cy="1176313"/>
            </a:xfrm>
            <a:custGeom>
              <a:avLst/>
              <a:gdLst/>
              <a:ahLst/>
              <a:cxnLst/>
              <a:rect r="r" b="b" t="t" l="l"/>
              <a:pathLst>
                <a:path h="1176313" w="10115550">
                  <a:moveTo>
                    <a:pt x="0" y="0"/>
                  </a:moveTo>
                  <a:lnTo>
                    <a:pt x="10115550" y="0"/>
                  </a:lnTo>
                  <a:lnTo>
                    <a:pt x="10115550" y="1176313"/>
                  </a:lnTo>
                  <a:lnTo>
                    <a:pt x="0" y="11763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784" r="0" b="-115333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14300"/>
              <a:ext cx="10115550" cy="12906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05"/>
                </a:lnSpc>
              </a:pPr>
              <a:r>
                <a:rPr lang="en-US" sz="2324">
                  <a:solidFill>
                    <a:srgbClr val="E6F4F6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Geolokatsiya orqali eng yaqin va qulay klinikalarni aniqlash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786938" y="5022056"/>
            <a:ext cx="700088" cy="400050"/>
            <a:chOff x="0" y="0"/>
            <a:chExt cx="933450" cy="5334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33450" cy="533400"/>
            </a:xfrm>
            <a:custGeom>
              <a:avLst/>
              <a:gdLst/>
              <a:ahLst/>
              <a:cxnLst/>
              <a:rect r="r" b="b" t="t" l="l"/>
              <a:pathLst>
                <a:path h="533400" w="933450">
                  <a:moveTo>
                    <a:pt x="266700" y="0"/>
                  </a:moveTo>
                  <a:lnTo>
                    <a:pt x="666750" y="0"/>
                  </a:lnTo>
                  <a:cubicBezTo>
                    <a:pt x="813943" y="0"/>
                    <a:pt x="933450" y="119507"/>
                    <a:pt x="933450" y="266700"/>
                  </a:cubicBezTo>
                  <a:cubicBezTo>
                    <a:pt x="933450" y="413893"/>
                    <a:pt x="813943" y="533400"/>
                    <a:pt x="666750" y="533400"/>
                  </a:cubicBezTo>
                  <a:lnTo>
                    <a:pt x="266700" y="533400"/>
                  </a:lnTo>
                  <a:cubicBezTo>
                    <a:pt x="119507" y="533400"/>
                    <a:pt x="0" y="413893"/>
                    <a:pt x="0" y="266700"/>
                  </a:cubicBezTo>
                  <a:cubicBezTo>
                    <a:pt x="0" y="119507"/>
                    <a:pt x="119507" y="0"/>
                    <a:pt x="266700" y="0"/>
                  </a:cubicBezTo>
                  <a:close/>
                </a:path>
              </a:pathLst>
            </a:custGeom>
            <a:solidFill>
              <a:srgbClr val="008CA4">
                <a:alpha val="3922"/>
              </a:srgbClr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736931" y="5018484"/>
            <a:ext cx="800100" cy="400050"/>
            <a:chOff x="0" y="0"/>
            <a:chExt cx="1066800" cy="533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66800" cy="533400"/>
            </a:xfrm>
            <a:custGeom>
              <a:avLst/>
              <a:gdLst/>
              <a:ahLst/>
              <a:cxnLst/>
              <a:rect r="r" b="b" t="t" l="l"/>
              <a:pathLst>
                <a:path h="533400" w="1066800">
                  <a:moveTo>
                    <a:pt x="0" y="0"/>
                  </a:moveTo>
                  <a:lnTo>
                    <a:pt x="1066800" y="0"/>
                  </a:lnTo>
                  <a:lnTo>
                    <a:pt x="10668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1066800" cy="571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>
                  <a:solidFill>
                    <a:srgbClr val="008CA4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GPS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0594629" y="5022056"/>
            <a:ext cx="1200150" cy="400050"/>
            <a:chOff x="0" y="0"/>
            <a:chExt cx="1600200" cy="5334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600200" cy="533400"/>
            </a:xfrm>
            <a:custGeom>
              <a:avLst/>
              <a:gdLst/>
              <a:ahLst/>
              <a:cxnLst/>
              <a:rect r="r" b="b" t="t" l="l"/>
              <a:pathLst>
                <a:path h="533400" w="1600200">
                  <a:moveTo>
                    <a:pt x="266700" y="0"/>
                  </a:moveTo>
                  <a:lnTo>
                    <a:pt x="1333500" y="0"/>
                  </a:lnTo>
                  <a:cubicBezTo>
                    <a:pt x="1480693" y="0"/>
                    <a:pt x="1600200" y="119507"/>
                    <a:pt x="1600200" y="266700"/>
                  </a:cubicBezTo>
                  <a:cubicBezTo>
                    <a:pt x="1600200" y="413893"/>
                    <a:pt x="1480693" y="533400"/>
                    <a:pt x="1333500" y="533400"/>
                  </a:cubicBezTo>
                  <a:lnTo>
                    <a:pt x="266700" y="533400"/>
                  </a:lnTo>
                  <a:cubicBezTo>
                    <a:pt x="119507" y="533400"/>
                    <a:pt x="0" y="413893"/>
                    <a:pt x="0" y="266700"/>
                  </a:cubicBezTo>
                  <a:cubicBezTo>
                    <a:pt x="0" y="119507"/>
                    <a:pt x="119507" y="0"/>
                    <a:pt x="266700" y="0"/>
                  </a:cubicBezTo>
                  <a:close/>
                </a:path>
              </a:pathLst>
            </a:custGeom>
            <a:solidFill>
              <a:srgbClr val="008CA4">
                <a:alpha val="3922"/>
              </a:srgbClr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0544623" y="5029200"/>
            <a:ext cx="1300162" cy="400050"/>
            <a:chOff x="0" y="0"/>
            <a:chExt cx="1733550" cy="5334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733550" cy="533400"/>
            </a:xfrm>
            <a:custGeom>
              <a:avLst/>
              <a:gdLst/>
              <a:ahLst/>
              <a:cxnLst/>
              <a:rect r="r" b="b" t="t" l="l"/>
              <a:pathLst>
                <a:path h="533400" w="1733550">
                  <a:moveTo>
                    <a:pt x="0" y="0"/>
                  </a:moveTo>
                  <a:lnTo>
                    <a:pt x="1733550" y="0"/>
                  </a:lnTo>
                  <a:lnTo>
                    <a:pt x="17335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733550" cy="571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>
                  <a:solidFill>
                    <a:srgbClr val="008CA4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Real-time</a:t>
              </a:r>
            </a:p>
          </p:txBody>
        </p:sp>
      </p:grpSp>
      <p:sp>
        <p:nvSpPr>
          <p:cNvPr name="Freeform 50" id="50"/>
          <p:cNvSpPr/>
          <p:nvPr/>
        </p:nvSpPr>
        <p:spPr>
          <a:xfrm flipH="false" flipV="false" rot="0">
            <a:off x="569119" y="6234112"/>
            <a:ext cx="8405812" cy="3562350"/>
          </a:xfrm>
          <a:custGeom>
            <a:avLst/>
            <a:gdLst/>
            <a:ahLst/>
            <a:cxnLst/>
            <a:rect r="r" b="b" t="t" l="l"/>
            <a:pathLst>
              <a:path h="3562350" w="8405812">
                <a:moveTo>
                  <a:pt x="0" y="0"/>
                </a:moveTo>
                <a:lnTo>
                  <a:pt x="8405812" y="0"/>
                </a:lnTo>
                <a:lnTo>
                  <a:pt x="8405812" y="3562350"/>
                </a:lnTo>
                <a:lnTo>
                  <a:pt x="0" y="35623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1" id="51"/>
          <p:cNvGrpSpPr/>
          <p:nvPr/>
        </p:nvGrpSpPr>
        <p:grpSpPr>
          <a:xfrm rot="0">
            <a:off x="934645" y="6398419"/>
            <a:ext cx="1138237" cy="1138237"/>
            <a:chOff x="0" y="0"/>
            <a:chExt cx="1219200" cy="12192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304800" y="0"/>
                  </a:moveTo>
                  <a:lnTo>
                    <a:pt x="914400" y="0"/>
                  </a:lnTo>
                  <a:cubicBezTo>
                    <a:pt x="1082675" y="0"/>
                    <a:pt x="1219200" y="136525"/>
                    <a:pt x="1219200" y="304800"/>
                  </a:cubicBezTo>
                  <a:lnTo>
                    <a:pt x="1219200" y="914400"/>
                  </a:lnTo>
                  <a:cubicBezTo>
                    <a:pt x="1219200" y="1082675"/>
                    <a:pt x="1082675" y="1219200"/>
                    <a:pt x="914400" y="1219200"/>
                  </a:cubicBezTo>
                  <a:lnTo>
                    <a:pt x="304800" y="1219200"/>
                  </a:lnTo>
                  <a:cubicBezTo>
                    <a:pt x="136525" y="1219200"/>
                    <a:pt x="0" y="1082675"/>
                    <a:pt x="0" y="914400"/>
                  </a:cubicBezTo>
                  <a:lnTo>
                    <a:pt x="0" y="304800"/>
                  </a:ln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FFB200">
                <a:alpha val="3922"/>
              </a:srgbClr>
            </a:solidFill>
          </p:spPr>
        </p:sp>
      </p:grpSp>
      <p:sp>
        <p:nvSpPr>
          <p:cNvPr name="Freeform 53" id="53"/>
          <p:cNvSpPr/>
          <p:nvPr/>
        </p:nvSpPr>
        <p:spPr>
          <a:xfrm flipH="false" flipV="false" rot="0">
            <a:off x="1166222" y="6650831"/>
            <a:ext cx="675084" cy="600075"/>
          </a:xfrm>
          <a:custGeom>
            <a:avLst/>
            <a:gdLst/>
            <a:ahLst/>
            <a:cxnLst/>
            <a:rect r="r" b="b" t="t" l="l"/>
            <a:pathLst>
              <a:path h="600075" w="675084">
                <a:moveTo>
                  <a:pt x="0" y="0"/>
                </a:moveTo>
                <a:lnTo>
                  <a:pt x="675084" y="0"/>
                </a:lnTo>
                <a:lnTo>
                  <a:pt x="675084" y="600075"/>
                </a:ln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4" id="54"/>
          <p:cNvGrpSpPr/>
          <p:nvPr/>
        </p:nvGrpSpPr>
        <p:grpSpPr>
          <a:xfrm rot="0">
            <a:off x="3060848" y="6434138"/>
            <a:ext cx="4573729" cy="1033462"/>
            <a:chOff x="0" y="0"/>
            <a:chExt cx="6098305" cy="137795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098305" cy="1377950"/>
            </a:xfrm>
            <a:custGeom>
              <a:avLst/>
              <a:gdLst/>
              <a:ahLst/>
              <a:cxnLst/>
              <a:rect r="r" b="b" t="t" l="l"/>
              <a:pathLst>
                <a:path h="1377950" w="6098305">
                  <a:moveTo>
                    <a:pt x="0" y="0"/>
                  </a:moveTo>
                  <a:lnTo>
                    <a:pt x="6098305" y="0"/>
                  </a:lnTo>
                  <a:lnTo>
                    <a:pt x="6098305" y="1377950"/>
                  </a:lnTo>
                  <a:lnTo>
                    <a:pt x="0" y="13779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72" r="50956" b="35587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6098305" cy="1416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19"/>
                </a:lnSpc>
              </a:pPr>
              <a:r>
                <a:rPr lang="en-US" sz="3499" b="true">
                  <a:solidFill>
                    <a:srgbClr val="FFFFF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Shifokorlar reytingi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042988" y="7777321"/>
            <a:ext cx="7586662" cy="882234"/>
            <a:chOff x="0" y="0"/>
            <a:chExt cx="10115550" cy="1176313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115550" cy="1176313"/>
            </a:xfrm>
            <a:custGeom>
              <a:avLst/>
              <a:gdLst/>
              <a:ahLst/>
              <a:cxnLst/>
              <a:rect r="r" b="b" t="t" l="l"/>
              <a:pathLst>
                <a:path h="1176313" w="10115550">
                  <a:moveTo>
                    <a:pt x="0" y="0"/>
                  </a:moveTo>
                  <a:lnTo>
                    <a:pt x="10115550" y="0"/>
                  </a:lnTo>
                  <a:lnTo>
                    <a:pt x="10115550" y="1176313"/>
                  </a:lnTo>
                  <a:lnTo>
                    <a:pt x="0" y="11763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784" r="0" b="-115333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14300"/>
              <a:ext cx="10115550" cy="12906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05"/>
                </a:lnSpc>
              </a:pPr>
              <a:r>
                <a:rPr lang="en-US" sz="2324">
                  <a:solidFill>
                    <a:srgbClr val="E6F4F6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Bemorlar baholari va sharhlari asosida sifatli doktorlarni tanlash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042988" y="8915400"/>
            <a:ext cx="1071562" cy="400050"/>
            <a:chOff x="0" y="0"/>
            <a:chExt cx="1428750" cy="5334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428750" cy="533400"/>
            </a:xfrm>
            <a:custGeom>
              <a:avLst/>
              <a:gdLst/>
              <a:ahLst/>
              <a:cxnLst/>
              <a:rect r="r" b="b" t="t" l="l"/>
              <a:pathLst>
                <a:path h="533400" w="1428750">
                  <a:moveTo>
                    <a:pt x="266700" y="0"/>
                  </a:moveTo>
                  <a:lnTo>
                    <a:pt x="1162050" y="0"/>
                  </a:lnTo>
                  <a:cubicBezTo>
                    <a:pt x="1309243" y="0"/>
                    <a:pt x="1428750" y="119507"/>
                    <a:pt x="1428750" y="266700"/>
                  </a:cubicBezTo>
                  <a:cubicBezTo>
                    <a:pt x="1428750" y="413893"/>
                    <a:pt x="1309243" y="533400"/>
                    <a:pt x="1162050" y="533400"/>
                  </a:cubicBezTo>
                  <a:lnTo>
                    <a:pt x="266700" y="533400"/>
                  </a:lnTo>
                  <a:cubicBezTo>
                    <a:pt x="119507" y="533400"/>
                    <a:pt x="0" y="413893"/>
                    <a:pt x="0" y="266700"/>
                  </a:cubicBezTo>
                  <a:cubicBezTo>
                    <a:pt x="0" y="119507"/>
                    <a:pt x="119507" y="0"/>
                    <a:pt x="266700" y="0"/>
                  </a:cubicBezTo>
                  <a:close/>
                </a:path>
              </a:pathLst>
            </a:custGeom>
            <a:solidFill>
              <a:srgbClr val="FFB200">
                <a:alpha val="3922"/>
              </a:srgbClr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992981" y="8913019"/>
            <a:ext cx="1171575" cy="400050"/>
            <a:chOff x="0" y="0"/>
            <a:chExt cx="1562100" cy="5334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562100" cy="533400"/>
            </a:xfrm>
            <a:custGeom>
              <a:avLst/>
              <a:gdLst/>
              <a:ahLst/>
              <a:cxnLst/>
              <a:rect r="r" b="b" t="t" l="l"/>
              <a:pathLst>
                <a:path h="533400" w="1562100">
                  <a:moveTo>
                    <a:pt x="0" y="0"/>
                  </a:moveTo>
                  <a:lnTo>
                    <a:pt x="1562100" y="0"/>
                  </a:lnTo>
                  <a:lnTo>
                    <a:pt x="15621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63" r="0" b="-7063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1562100" cy="571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>
                  <a:solidFill>
                    <a:srgbClr val="FFB2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Reviews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2228183" y="8915400"/>
            <a:ext cx="1343025" cy="400050"/>
            <a:chOff x="0" y="0"/>
            <a:chExt cx="1790700" cy="5334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790700" cy="533400"/>
            </a:xfrm>
            <a:custGeom>
              <a:avLst/>
              <a:gdLst/>
              <a:ahLst/>
              <a:cxnLst/>
              <a:rect r="r" b="b" t="t" l="l"/>
              <a:pathLst>
                <a:path h="533400" w="1790700">
                  <a:moveTo>
                    <a:pt x="266700" y="0"/>
                  </a:moveTo>
                  <a:lnTo>
                    <a:pt x="1524000" y="0"/>
                  </a:lnTo>
                  <a:cubicBezTo>
                    <a:pt x="1671193" y="0"/>
                    <a:pt x="1790700" y="119507"/>
                    <a:pt x="1790700" y="266700"/>
                  </a:cubicBezTo>
                  <a:cubicBezTo>
                    <a:pt x="1790700" y="413893"/>
                    <a:pt x="1671193" y="533400"/>
                    <a:pt x="1524000" y="533400"/>
                  </a:cubicBezTo>
                  <a:lnTo>
                    <a:pt x="266700" y="533400"/>
                  </a:lnTo>
                  <a:cubicBezTo>
                    <a:pt x="119507" y="533400"/>
                    <a:pt x="0" y="413893"/>
                    <a:pt x="0" y="266700"/>
                  </a:cubicBezTo>
                  <a:cubicBezTo>
                    <a:pt x="0" y="119507"/>
                    <a:pt x="119507" y="0"/>
                    <a:pt x="266700" y="0"/>
                  </a:cubicBezTo>
                  <a:close/>
                </a:path>
              </a:pathLst>
            </a:custGeom>
            <a:solidFill>
              <a:srgbClr val="FFB200">
                <a:alpha val="3922"/>
              </a:srgbClr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2157079" y="8922544"/>
            <a:ext cx="1443038" cy="400050"/>
            <a:chOff x="0" y="0"/>
            <a:chExt cx="1924050" cy="5334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924050" cy="533400"/>
            </a:xfrm>
            <a:custGeom>
              <a:avLst/>
              <a:gdLst/>
              <a:ahLst/>
              <a:cxnLst/>
              <a:rect r="r" b="b" t="t" l="l"/>
              <a:pathLst>
                <a:path h="533400" w="1924050">
                  <a:moveTo>
                    <a:pt x="0" y="0"/>
                  </a:moveTo>
                  <a:lnTo>
                    <a:pt x="1924050" y="0"/>
                  </a:lnTo>
                  <a:lnTo>
                    <a:pt x="19240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285" r="0" b="-20285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1924050" cy="571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>
                  <a:solidFill>
                    <a:srgbClr val="FFB2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5★ System</a:t>
              </a:r>
            </a:p>
          </p:txBody>
        </p:sp>
      </p:grpSp>
      <p:sp>
        <p:nvSpPr>
          <p:cNvPr name="Freeform 70" id="70"/>
          <p:cNvSpPr/>
          <p:nvPr/>
        </p:nvSpPr>
        <p:spPr>
          <a:xfrm flipH="false" flipV="false" rot="0">
            <a:off x="9313069" y="6234112"/>
            <a:ext cx="8405812" cy="3562350"/>
          </a:xfrm>
          <a:custGeom>
            <a:avLst/>
            <a:gdLst/>
            <a:ahLst/>
            <a:cxnLst/>
            <a:rect r="r" b="b" t="t" l="l"/>
            <a:pathLst>
              <a:path h="3562350" w="8405812">
                <a:moveTo>
                  <a:pt x="0" y="0"/>
                </a:moveTo>
                <a:lnTo>
                  <a:pt x="8405812" y="0"/>
                </a:lnTo>
                <a:lnTo>
                  <a:pt x="8405812" y="3562350"/>
                </a:lnTo>
                <a:lnTo>
                  <a:pt x="0" y="35623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1" id="71"/>
          <p:cNvGrpSpPr/>
          <p:nvPr/>
        </p:nvGrpSpPr>
        <p:grpSpPr>
          <a:xfrm rot="0">
            <a:off x="9652369" y="6398419"/>
            <a:ext cx="1138237" cy="1138237"/>
            <a:chOff x="0" y="0"/>
            <a:chExt cx="1219200" cy="12192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304800" y="0"/>
                  </a:moveTo>
                  <a:lnTo>
                    <a:pt x="914400" y="0"/>
                  </a:lnTo>
                  <a:cubicBezTo>
                    <a:pt x="1082675" y="0"/>
                    <a:pt x="1219200" y="136525"/>
                    <a:pt x="1219200" y="304800"/>
                  </a:cubicBezTo>
                  <a:lnTo>
                    <a:pt x="1219200" y="914400"/>
                  </a:lnTo>
                  <a:cubicBezTo>
                    <a:pt x="1219200" y="1082675"/>
                    <a:pt x="1082675" y="1219200"/>
                    <a:pt x="914400" y="1219200"/>
                  </a:cubicBezTo>
                  <a:lnTo>
                    <a:pt x="304800" y="1219200"/>
                  </a:lnTo>
                  <a:cubicBezTo>
                    <a:pt x="136525" y="1219200"/>
                    <a:pt x="0" y="1082675"/>
                    <a:pt x="0" y="914400"/>
                  </a:cubicBezTo>
                  <a:lnTo>
                    <a:pt x="0" y="304800"/>
                  </a:ln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FFB200">
                <a:alpha val="3922"/>
              </a:srgbClr>
            </a:solidFill>
          </p:spPr>
        </p:sp>
      </p:grpSp>
      <p:sp>
        <p:nvSpPr>
          <p:cNvPr name="Freeform 73" id="73"/>
          <p:cNvSpPr/>
          <p:nvPr/>
        </p:nvSpPr>
        <p:spPr>
          <a:xfrm flipH="false" flipV="false" rot="0">
            <a:off x="9879806" y="6603206"/>
            <a:ext cx="728662" cy="728662"/>
          </a:xfrm>
          <a:custGeom>
            <a:avLst/>
            <a:gdLst/>
            <a:ahLst/>
            <a:cxnLst/>
            <a:rect r="r" b="b" t="t" l="l"/>
            <a:pathLst>
              <a:path h="728662" w="728662">
                <a:moveTo>
                  <a:pt x="0" y="0"/>
                </a:moveTo>
                <a:lnTo>
                  <a:pt x="728663" y="0"/>
                </a:lnTo>
                <a:lnTo>
                  <a:pt x="728663" y="728663"/>
                </a:lnTo>
                <a:lnTo>
                  <a:pt x="0" y="72866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4" id="74"/>
          <p:cNvGrpSpPr/>
          <p:nvPr/>
        </p:nvGrpSpPr>
        <p:grpSpPr>
          <a:xfrm rot="0">
            <a:off x="12238406" y="6450806"/>
            <a:ext cx="2096941" cy="1033462"/>
            <a:chOff x="0" y="0"/>
            <a:chExt cx="2795921" cy="137795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795921" cy="1377950"/>
            </a:xfrm>
            <a:custGeom>
              <a:avLst/>
              <a:gdLst/>
              <a:ahLst/>
              <a:cxnLst/>
              <a:rect r="r" b="b" t="t" l="l"/>
              <a:pathLst>
                <a:path h="1377950" w="2795921">
                  <a:moveTo>
                    <a:pt x="0" y="0"/>
                  </a:moveTo>
                  <a:lnTo>
                    <a:pt x="2795921" y="0"/>
                  </a:lnTo>
                  <a:lnTo>
                    <a:pt x="2795921" y="1377950"/>
                  </a:lnTo>
                  <a:lnTo>
                    <a:pt x="0" y="13779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03" r="27095" b="49056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2795921" cy="1416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19"/>
                </a:lnSpc>
              </a:pPr>
              <a:r>
                <a:rPr lang="en-US" sz="3499" b="true">
                  <a:solidFill>
                    <a:srgbClr val="FFFFF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Premium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786938" y="7736681"/>
            <a:ext cx="7586662" cy="882234"/>
            <a:chOff x="0" y="0"/>
            <a:chExt cx="10115550" cy="1176313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0115550" cy="1176313"/>
            </a:xfrm>
            <a:custGeom>
              <a:avLst/>
              <a:gdLst/>
              <a:ahLst/>
              <a:cxnLst/>
              <a:rect r="r" b="b" t="t" l="l"/>
              <a:pathLst>
                <a:path h="1176313" w="10115550">
                  <a:moveTo>
                    <a:pt x="0" y="0"/>
                  </a:moveTo>
                  <a:lnTo>
                    <a:pt x="10115550" y="0"/>
                  </a:lnTo>
                  <a:lnTo>
                    <a:pt x="10115550" y="1176313"/>
                  </a:lnTo>
                  <a:lnTo>
                    <a:pt x="0" y="11763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784" r="0" b="-115333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114300"/>
              <a:ext cx="10115550" cy="12906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05"/>
                </a:lnSpc>
              </a:pPr>
              <a:r>
                <a:rPr lang="en-US" sz="2324">
                  <a:solidFill>
                    <a:srgbClr val="E6F4F6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Qo'shimcha funksiyalar: tezkor navbat, video konsultatsiya, saqlangan tahlillar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786938" y="8915400"/>
            <a:ext cx="1214438" cy="400050"/>
            <a:chOff x="0" y="0"/>
            <a:chExt cx="1619250" cy="5334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619250" cy="533400"/>
            </a:xfrm>
            <a:custGeom>
              <a:avLst/>
              <a:gdLst/>
              <a:ahLst/>
              <a:cxnLst/>
              <a:rect r="r" b="b" t="t" l="l"/>
              <a:pathLst>
                <a:path h="533400" w="1619250">
                  <a:moveTo>
                    <a:pt x="266700" y="0"/>
                  </a:moveTo>
                  <a:lnTo>
                    <a:pt x="1352550" y="0"/>
                  </a:lnTo>
                  <a:cubicBezTo>
                    <a:pt x="1499743" y="0"/>
                    <a:pt x="1619250" y="119507"/>
                    <a:pt x="1619250" y="266700"/>
                  </a:cubicBezTo>
                  <a:cubicBezTo>
                    <a:pt x="1619250" y="413893"/>
                    <a:pt x="1499743" y="533400"/>
                    <a:pt x="1352550" y="533400"/>
                  </a:cubicBezTo>
                  <a:lnTo>
                    <a:pt x="266700" y="533400"/>
                  </a:lnTo>
                  <a:cubicBezTo>
                    <a:pt x="119507" y="533400"/>
                    <a:pt x="0" y="413893"/>
                    <a:pt x="0" y="266700"/>
                  </a:cubicBezTo>
                  <a:cubicBezTo>
                    <a:pt x="0" y="119507"/>
                    <a:pt x="119507" y="0"/>
                    <a:pt x="266700" y="0"/>
                  </a:cubicBezTo>
                  <a:close/>
                </a:path>
              </a:pathLst>
            </a:custGeom>
            <a:solidFill>
              <a:srgbClr val="FFB200">
                <a:alpha val="3922"/>
              </a:srgbClr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9736931" y="8922544"/>
            <a:ext cx="1314450" cy="400050"/>
            <a:chOff x="0" y="0"/>
            <a:chExt cx="1752600" cy="53340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752600" cy="533400"/>
            </a:xfrm>
            <a:custGeom>
              <a:avLst/>
              <a:gdLst/>
              <a:ahLst/>
              <a:cxnLst/>
              <a:rect r="r" b="b" t="t" l="l"/>
              <a:pathLst>
                <a:path h="533400" w="1752600">
                  <a:moveTo>
                    <a:pt x="0" y="0"/>
                  </a:moveTo>
                  <a:lnTo>
                    <a:pt x="1752600" y="0"/>
                  </a:lnTo>
                  <a:lnTo>
                    <a:pt x="17526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22" r="0" b="-14022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1752600" cy="571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>
                  <a:solidFill>
                    <a:srgbClr val="FFB2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Freemium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1116123" y="8915400"/>
            <a:ext cx="628650" cy="400050"/>
            <a:chOff x="0" y="0"/>
            <a:chExt cx="838200" cy="5334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838200" cy="533400"/>
            </a:xfrm>
            <a:custGeom>
              <a:avLst/>
              <a:gdLst/>
              <a:ahLst/>
              <a:cxnLst/>
              <a:rect r="r" b="b" t="t" l="l"/>
              <a:pathLst>
                <a:path h="533400" w="838200">
                  <a:moveTo>
                    <a:pt x="266700" y="0"/>
                  </a:moveTo>
                  <a:lnTo>
                    <a:pt x="571500" y="0"/>
                  </a:lnTo>
                  <a:cubicBezTo>
                    <a:pt x="718693" y="0"/>
                    <a:pt x="838200" y="119507"/>
                    <a:pt x="838200" y="266700"/>
                  </a:cubicBezTo>
                  <a:cubicBezTo>
                    <a:pt x="838200" y="413893"/>
                    <a:pt x="718693" y="533400"/>
                    <a:pt x="571500" y="533400"/>
                  </a:cubicBezTo>
                  <a:lnTo>
                    <a:pt x="266700" y="533400"/>
                  </a:lnTo>
                  <a:cubicBezTo>
                    <a:pt x="119507" y="533400"/>
                    <a:pt x="0" y="413893"/>
                    <a:pt x="0" y="266700"/>
                  </a:cubicBezTo>
                  <a:cubicBezTo>
                    <a:pt x="0" y="119507"/>
                    <a:pt x="119507" y="0"/>
                    <a:pt x="266700" y="0"/>
                  </a:cubicBezTo>
                  <a:close/>
                </a:path>
              </a:pathLst>
            </a:custGeom>
            <a:solidFill>
              <a:srgbClr val="FFB200">
                <a:alpha val="3922"/>
              </a:srgbClr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1066116" y="8915400"/>
            <a:ext cx="728662" cy="400050"/>
            <a:chOff x="0" y="0"/>
            <a:chExt cx="971550" cy="53340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971550" cy="533400"/>
            </a:xfrm>
            <a:custGeom>
              <a:avLst/>
              <a:gdLst/>
              <a:ahLst/>
              <a:cxnLst/>
              <a:rect r="r" b="b" t="t" l="l"/>
              <a:pathLst>
                <a:path h="533400" w="971550">
                  <a:moveTo>
                    <a:pt x="0" y="0"/>
                  </a:moveTo>
                  <a:lnTo>
                    <a:pt x="971550" y="0"/>
                  </a:lnTo>
                  <a:lnTo>
                    <a:pt x="9715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441" t="0" r="-20441" b="0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971550" cy="571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>
                  <a:solidFill>
                    <a:srgbClr val="FFB2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Pro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571500"/>
            <a:ext cx="114300" cy="685800"/>
            <a:chOff x="0" y="0"/>
            <a:chExt cx="152400" cy="914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52400">
                  <a:moveTo>
                    <a:pt x="76200" y="0"/>
                  </a:move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838200"/>
                  </a:lnTo>
                  <a:cubicBezTo>
                    <a:pt x="152400" y="880237"/>
                    <a:pt x="118237" y="914400"/>
                    <a:pt x="76200" y="914400"/>
                  </a:cubicBezTo>
                  <a:cubicBezTo>
                    <a:pt x="34163" y="914400"/>
                    <a:pt x="0" y="880237"/>
                    <a:pt x="0" y="838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B20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571500"/>
            <a:ext cx="2157412" cy="685800"/>
            <a:chOff x="0" y="0"/>
            <a:chExt cx="2876550" cy="914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76550" cy="914400"/>
            </a:xfrm>
            <a:custGeom>
              <a:avLst/>
              <a:gdLst/>
              <a:ahLst/>
              <a:cxnLst/>
              <a:rect r="r" b="b" t="t" l="l"/>
              <a:pathLst>
                <a:path h="914400" w="2876550">
                  <a:moveTo>
                    <a:pt x="0" y="0"/>
                  </a:moveTo>
                  <a:lnTo>
                    <a:pt x="2876550" y="0"/>
                  </a:lnTo>
                  <a:lnTo>
                    <a:pt x="287655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96" r="0" b="-1129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123825"/>
              <a:ext cx="2876550" cy="790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84"/>
                </a:lnSpc>
              </a:pPr>
              <a:r>
                <a:rPr lang="en-US" sz="5400" b="true">
                  <a:solidFill>
                    <a:srgbClr val="FFFFF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Demo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485900"/>
            <a:ext cx="16944975" cy="416071"/>
            <a:chOff x="0" y="0"/>
            <a:chExt cx="22593300" cy="5547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93300" cy="554762"/>
            </a:xfrm>
            <a:custGeom>
              <a:avLst/>
              <a:gdLst/>
              <a:ahLst/>
              <a:cxnLst/>
              <a:rect r="r" b="b" t="t" l="l"/>
              <a:pathLst>
                <a:path h="554762" w="22593300">
                  <a:moveTo>
                    <a:pt x="0" y="0"/>
                  </a:moveTo>
                  <a:lnTo>
                    <a:pt x="22593300" y="0"/>
                  </a:lnTo>
                  <a:lnTo>
                    <a:pt x="22593300" y="554762"/>
                  </a:lnTo>
                  <a:lnTo>
                    <a:pt x="0" y="55476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5475" r="0" b="-74162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22593300" cy="6214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71"/>
                </a:lnSpc>
              </a:pPr>
              <a:r>
                <a:rPr lang="en-US" sz="2549">
                  <a:solidFill>
                    <a:srgbClr val="8F8F8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Haqiqiy foydalanuvchi tajribasi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569119" y="2226469"/>
            <a:ext cx="11377612" cy="3633788"/>
          </a:xfrm>
          <a:custGeom>
            <a:avLst/>
            <a:gdLst/>
            <a:ahLst/>
            <a:cxnLst/>
            <a:rect r="r" b="b" t="t" l="l"/>
            <a:pathLst>
              <a:path h="3633788" w="11377612">
                <a:moveTo>
                  <a:pt x="0" y="0"/>
                </a:moveTo>
                <a:lnTo>
                  <a:pt x="11377612" y="0"/>
                </a:lnTo>
                <a:lnTo>
                  <a:pt x="11377612" y="3633787"/>
                </a:lnTo>
                <a:lnTo>
                  <a:pt x="0" y="36337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685800" y="2343150"/>
            <a:ext cx="757238" cy="757238"/>
            <a:chOff x="0" y="0"/>
            <a:chExt cx="762000" cy="762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228600" y="0"/>
                  </a:moveTo>
                  <a:lnTo>
                    <a:pt x="533400" y="0"/>
                  </a:lnTo>
                  <a:cubicBezTo>
                    <a:pt x="659511" y="0"/>
                    <a:pt x="762000" y="102489"/>
                    <a:pt x="762000" y="228600"/>
                  </a:cubicBezTo>
                  <a:lnTo>
                    <a:pt x="762000" y="533400"/>
                  </a:lnTo>
                  <a:cubicBezTo>
                    <a:pt x="762000" y="659511"/>
                    <a:pt x="659511" y="762000"/>
                    <a:pt x="533400" y="762000"/>
                  </a:cubicBezTo>
                  <a:lnTo>
                    <a:pt x="228600" y="762000"/>
                  </a:lnTo>
                  <a:cubicBezTo>
                    <a:pt x="102489" y="762000"/>
                    <a:pt x="0" y="659511"/>
                    <a:pt x="0" y="5334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008CA4">
                <a:alpha val="3922"/>
              </a:srgbClr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819745" y="2523331"/>
            <a:ext cx="446484" cy="396875"/>
          </a:xfrm>
          <a:custGeom>
            <a:avLst/>
            <a:gdLst/>
            <a:ahLst/>
            <a:cxnLst/>
            <a:rect r="r" b="b" t="t" l="l"/>
            <a:pathLst>
              <a:path h="396875" w="446484">
                <a:moveTo>
                  <a:pt x="0" y="0"/>
                </a:moveTo>
                <a:lnTo>
                  <a:pt x="446485" y="0"/>
                </a:lnTo>
                <a:lnTo>
                  <a:pt x="446485" y="396875"/>
                </a:lnTo>
                <a:lnTo>
                  <a:pt x="0" y="3968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713669" y="2364406"/>
            <a:ext cx="3498446" cy="793131"/>
            <a:chOff x="0" y="0"/>
            <a:chExt cx="4664594" cy="105750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664594" cy="1057508"/>
            </a:xfrm>
            <a:custGeom>
              <a:avLst/>
              <a:gdLst/>
              <a:ahLst/>
              <a:cxnLst/>
              <a:rect r="r" b="b" t="t" l="l"/>
              <a:pathLst>
                <a:path h="1057508" w="4664594">
                  <a:moveTo>
                    <a:pt x="0" y="0"/>
                  </a:moveTo>
                  <a:lnTo>
                    <a:pt x="4664594" y="0"/>
                  </a:lnTo>
                  <a:lnTo>
                    <a:pt x="4664594" y="1057508"/>
                  </a:lnTo>
                  <a:lnTo>
                    <a:pt x="0" y="10575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239" r="35473" b="1932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4664594" cy="11241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91"/>
                </a:lnSpc>
              </a:pPr>
              <a:r>
                <a:rPr lang="en-US" sz="3049" b="true">
                  <a:solidFill>
                    <a:srgbClr val="FFFFF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AI Chat Interface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00112" y="3328988"/>
            <a:ext cx="10744200" cy="1028700"/>
            <a:chOff x="0" y="0"/>
            <a:chExt cx="14325600" cy="1371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325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4325600">
                  <a:moveTo>
                    <a:pt x="76200" y="0"/>
                  </a:moveTo>
                  <a:lnTo>
                    <a:pt x="14097000" y="0"/>
                  </a:lnTo>
                  <a:cubicBezTo>
                    <a:pt x="14223112" y="0"/>
                    <a:pt x="14325600" y="102489"/>
                    <a:pt x="14325600" y="228600"/>
                  </a:cubicBezTo>
                  <a:lnTo>
                    <a:pt x="14325600" y="1143000"/>
                  </a:lnTo>
                  <a:cubicBezTo>
                    <a:pt x="14325600" y="1269111"/>
                    <a:pt x="14223112" y="1371600"/>
                    <a:pt x="14097000" y="1371600"/>
                  </a:cubicBezTo>
                  <a:lnTo>
                    <a:pt x="76200" y="1371600"/>
                  </a:lnTo>
                  <a:cubicBezTo>
                    <a:pt x="34163" y="1371600"/>
                    <a:pt x="0" y="1337437"/>
                    <a:pt x="0" y="12954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08CA4">
                <a:alpha val="784"/>
              </a:srgbClr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00112" y="3328988"/>
            <a:ext cx="57150" cy="1028700"/>
            <a:chOff x="0" y="0"/>
            <a:chExt cx="76200" cy="13716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62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76200">
                  <a:moveTo>
                    <a:pt x="76200" y="0"/>
                  </a:moveTo>
                  <a:lnTo>
                    <a:pt x="76200" y="1371600"/>
                  </a:lnTo>
                  <a:cubicBezTo>
                    <a:pt x="34163" y="1371600"/>
                    <a:pt x="0" y="1337437"/>
                    <a:pt x="0" y="12954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08CA4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64419" y="3433816"/>
            <a:ext cx="10472738" cy="295221"/>
            <a:chOff x="0" y="0"/>
            <a:chExt cx="13963650" cy="39362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963650" cy="393628"/>
            </a:xfrm>
            <a:custGeom>
              <a:avLst/>
              <a:gdLst/>
              <a:ahLst/>
              <a:cxnLst/>
              <a:rect r="r" b="b" t="t" l="l"/>
              <a:pathLst>
                <a:path h="393628" w="13963650">
                  <a:moveTo>
                    <a:pt x="0" y="0"/>
                  </a:moveTo>
                  <a:lnTo>
                    <a:pt x="13963650" y="0"/>
                  </a:lnTo>
                  <a:lnTo>
                    <a:pt x="13963650" y="393628"/>
                  </a:lnTo>
                  <a:lnTo>
                    <a:pt x="0" y="3936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2820" r="0" b="-639612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13963650" cy="4412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5"/>
                </a:lnSpc>
              </a:pPr>
              <a:r>
                <a:rPr lang="en-US" sz="1774">
                  <a:solidFill>
                    <a:srgbClr val="8F8F8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User: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57275" y="3778884"/>
            <a:ext cx="10487025" cy="407353"/>
            <a:chOff x="0" y="0"/>
            <a:chExt cx="13982700" cy="54313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982700" cy="543137"/>
            </a:xfrm>
            <a:custGeom>
              <a:avLst/>
              <a:gdLst/>
              <a:ahLst/>
              <a:cxnLst/>
              <a:rect r="r" b="b" t="t" l="l"/>
              <a:pathLst>
                <a:path h="543137" w="13982700">
                  <a:moveTo>
                    <a:pt x="0" y="0"/>
                  </a:moveTo>
                  <a:lnTo>
                    <a:pt x="13982700" y="0"/>
                  </a:lnTo>
                  <a:lnTo>
                    <a:pt x="13982700" y="543137"/>
                  </a:lnTo>
                  <a:lnTo>
                    <a:pt x="0" y="5431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9540" r="0" b="-443717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85725"/>
              <a:ext cx="13982700" cy="6288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99"/>
                </a:lnSpc>
              </a:pPr>
              <a:r>
                <a:rPr lang="en-US" sz="2499">
                  <a:solidFill>
                    <a:srgbClr val="E6F4F6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Mening boshim og'rib, isitmam bor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00112" y="4529138"/>
            <a:ext cx="10744200" cy="1028700"/>
            <a:chOff x="0" y="0"/>
            <a:chExt cx="14325600" cy="13716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4325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4325600">
                  <a:moveTo>
                    <a:pt x="76200" y="0"/>
                  </a:moveTo>
                  <a:lnTo>
                    <a:pt x="14097000" y="0"/>
                  </a:lnTo>
                  <a:cubicBezTo>
                    <a:pt x="14223112" y="0"/>
                    <a:pt x="14325600" y="102489"/>
                    <a:pt x="14325600" y="228600"/>
                  </a:cubicBezTo>
                  <a:lnTo>
                    <a:pt x="14325600" y="1143000"/>
                  </a:lnTo>
                  <a:cubicBezTo>
                    <a:pt x="14325600" y="1269111"/>
                    <a:pt x="14223112" y="1371600"/>
                    <a:pt x="14097000" y="1371600"/>
                  </a:cubicBezTo>
                  <a:lnTo>
                    <a:pt x="76200" y="1371600"/>
                  </a:lnTo>
                  <a:cubicBezTo>
                    <a:pt x="34163" y="1371600"/>
                    <a:pt x="0" y="1337437"/>
                    <a:pt x="0" y="12954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B200">
                <a:alpha val="784"/>
              </a:srgbClr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00112" y="4529138"/>
            <a:ext cx="57150" cy="1028700"/>
            <a:chOff x="0" y="0"/>
            <a:chExt cx="76200" cy="13716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62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76200">
                  <a:moveTo>
                    <a:pt x="76200" y="0"/>
                  </a:moveTo>
                  <a:lnTo>
                    <a:pt x="76200" y="1371600"/>
                  </a:lnTo>
                  <a:cubicBezTo>
                    <a:pt x="34163" y="1371600"/>
                    <a:pt x="0" y="1337437"/>
                    <a:pt x="0" y="12954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B200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28700" y="4633912"/>
            <a:ext cx="10472738" cy="295221"/>
            <a:chOff x="0" y="0"/>
            <a:chExt cx="13963650" cy="39362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3963650" cy="393628"/>
            </a:xfrm>
            <a:custGeom>
              <a:avLst/>
              <a:gdLst/>
              <a:ahLst/>
              <a:cxnLst/>
              <a:rect r="r" b="b" t="t" l="l"/>
              <a:pathLst>
                <a:path h="393628" w="13963650">
                  <a:moveTo>
                    <a:pt x="0" y="0"/>
                  </a:moveTo>
                  <a:lnTo>
                    <a:pt x="13963650" y="0"/>
                  </a:lnTo>
                  <a:lnTo>
                    <a:pt x="13963650" y="393628"/>
                  </a:lnTo>
                  <a:lnTo>
                    <a:pt x="0" y="3936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2820" r="0" b="-639612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13963650" cy="4412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5"/>
                </a:lnSpc>
              </a:pPr>
              <a:r>
                <a:rPr lang="en-US" sz="1774">
                  <a:solidFill>
                    <a:srgbClr val="8F8F8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AI: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28700" y="5043488"/>
            <a:ext cx="10487025" cy="407353"/>
            <a:chOff x="0" y="0"/>
            <a:chExt cx="13982700" cy="54313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3982700" cy="543137"/>
            </a:xfrm>
            <a:custGeom>
              <a:avLst/>
              <a:gdLst/>
              <a:ahLst/>
              <a:cxnLst/>
              <a:rect r="r" b="b" t="t" l="l"/>
              <a:pathLst>
                <a:path h="543137" w="13982700">
                  <a:moveTo>
                    <a:pt x="0" y="0"/>
                  </a:moveTo>
                  <a:lnTo>
                    <a:pt x="13982700" y="0"/>
                  </a:lnTo>
                  <a:lnTo>
                    <a:pt x="13982700" y="543137"/>
                  </a:lnTo>
                  <a:lnTo>
                    <a:pt x="0" y="5431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9540" r="0" b="-44371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85725"/>
              <a:ext cx="13982700" cy="6288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99"/>
                </a:lnSpc>
              </a:pPr>
              <a:r>
                <a:rPr lang="en-US" sz="2499">
                  <a:solidFill>
                    <a:srgbClr val="E6F4F6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Sizga terapevt yoki nevropatolog kerak. Eng yaqin doktorlar:</a:t>
              </a: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569119" y="6084094"/>
            <a:ext cx="11377612" cy="3633788"/>
          </a:xfrm>
          <a:custGeom>
            <a:avLst/>
            <a:gdLst/>
            <a:ahLst/>
            <a:cxnLst/>
            <a:rect r="r" b="b" t="t" l="l"/>
            <a:pathLst>
              <a:path h="3633788" w="11377612">
                <a:moveTo>
                  <a:pt x="0" y="0"/>
                </a:moveTo>
                <a:lnTo>
                  <a:pt x="11377612" y="0"/>
                </a:lnTo>
                <a:lnTo>
                  <a:pt x="11377612" y="3633787"/>
                </a:lnTo>
                <a:lnTo>
                  <a:pt x="0" y="36337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673894" y="6203156"/>
            <a:ext cx="754856" cy="754856"/>
            <a:chOff x="0" y="0"/>
            <a:chExt cx="762000" cy="7620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228600" y="0"/>
                  </a:moveTo>
                  <a:lnTo>
                    <a:pt x="533400" y="0"/>
                  </a:lnTo>
                  <a:cubicBezTo>
                    <a:pt x="659511" y="0"/>
                    <a:pt x="762000" y="102489"/>
                    <a:pt x="762000" y="228600"/>
                  </a:cubicBezTo>
                  <a:lnTo>
                    <a:pt x="762000" y="533400"/>
                  </a:lnTo>
                  <a:cubicBezTo>
                    <a:pt x="762000" y="659511"/>
                    <a:pt x="659511" y="762000"/>
                    <a:pt x="533400" y="762000"/>
                  </a:cubicBezTo>
                  <a:lnTo>
                    <a:pt x="228600" y="762000"/>
                  </a:lnTo>
                  <a:cubicBezTo>
                    <a:pt x="102489" y="762000"/>
                    <a:pt x="0" y="659511"/>
                    <a:pt x="0" y="5334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FFB200">
                <a:alpha val="3922"/>
              </a:srgbClr>
            </a:solidFill>
          </p:spPr>
        </p:sp>
      </p:grpSp>
      <p:sp>
        <p:nvSpPr>
          <p:cNvPr name="Freeform 40" id="40"/>
          <p:cNvSpPr/>
          <p:nvPr/>
        </p:nvSpPr>
        <p:spPr>
          <a:xfrm flipH="false" flipV="false" rot="0">
            <a:off x="858441" y="6387703"/>
            <a:ext cx="385762" cy="385762"/>
          </a:xfrm>
          <a:custGeom>
            <a:avLst/>
            <a:gdLst/>
            <a:ahLst/>
            <a:cxnLst/>
            <a:rect r="r" b="b" t="t" l="l"/>
            <a:pathLst>
              <a:path h="385762" w="385762">
                <a:moveTo>
                  <a:pt x="0" y="0"/>
                </a:moveTo>
                <a:lnTo>
                  <a:pt x="385762" y="0"/>
                </a:lnTo>
                <a:lnTo>
                  <a:pt x="385762" y="385763"/>
                </a:lnTo>
                <a:lnTo>
                  <a:pt x="0" y="38576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0">
            <a:off x="1785938" y="6117431"/>
            <a:ext cx="2312582" cy="926306"/>
            <a:chOff x="0" y="0"/>
            <a:chExt cx="3083443" cy="123507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083443" cy="1235075"/>
            </a:xfrm>
            <a:custGeom>
              <a:avLst/>
              <a:gdLst/>
              <a:ahLst/>
              <a:cxnLst/>
              <a:rect r="r" b="b" t="t" l="l"/>
              <a:pathLst>
                <a:path h="1235075" w="3083443">
                  <a:moveTo>
                    <a:pt x="0" y="0"/>
                  </a:moveTo>
                  <a:lnTo>
                    <a:pt x="3083443" y="0"/>
                  </a:lnTo>
                  <a:lnTo>
                    <a:pt x="3083443" y="1235075"/>
                  </a:lnTo>
                  <a:lnTo>
                    <a:pt x="0" y="12350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63" r="33893" b="46248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66675"/>
              <a:ext cx="3083443" cy="1301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91"/>
                </a:lnSpc>
              </a:pPr>
              <a:r>
                <a:rPr lang="en-US" sz="3049" b="true">
                  <a:solidFill>
                    <a:srgbClr val="FFFFF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Doctor List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871538" y="7186612"/>
            <a:ext cx="10772775" cy="971550"/>
            <a:chOff x="0" y="0"/>
            <a:chExt cx="14363700" cy="12954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4363700" cy="1295400"/>
            </a:xfrm>
            <a:custGeom>
              <a:avLst/>
              <a:gdLst/>
              <a:ahLst/>
              <a:cxnLst/>
              <a:rect r="r" b="b" t="t" l="l"/>
              <a:pathLst>
                <a:path h="1295400" w="14363700">
                  <a:moveTo>
                    <a:pt x="152400" y="0"/>
                  </a:moveTo>
                  <a:lnTo>
                    <a:pt x="14211300" y="0"/>
                  </a:lnTo>
                  <a:cubicBezTo>
                    <a:pt x="14295501" y="0"/>
                    <a:pt x="14363700" y="68199"/>
                    <a:pt x="14363700" y="152400"/>
                  </a:cubicBezTo>
                  <a:lnTo>
                    <a:pt x="14363700" y="1143000"/>
                  </a:lnTo>
                  <a:cubicBezTo>
                    <a:pt x="14363700" y="1227201"/>
                    <a:pt x="14295501" y="1295400"/>
                    <a:pt x="14211300" y="1295400"/>
                  </a:cubicBezTo>
                  <a:lnTo>
                    <a:pt x="152400" y="1295400"/>
                  </a:lnTo>
                  <a:cubicBezTo>
                    <a:pt x="68199" y="1295400"/>
                    <a:pt x="0" y="1227201"/>
                    <a:pt x="0" y="114300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008CA4">
                <a:alpha val="784"/>
              </a:srgbClr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42988" y="7386638"/>
            <a:ext cx="571500" cy="571500"/>
            <a:chOff x="0" y="0"/>
            <a:chExt cx="762000" cy="7620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381000" y="0"/>
                  </a:moveTo>
                  <a:cubicBezTo>
                    <a:pt x="591312" y="0"/>
                    <a:pt x="762000" y="170688"/>
                    <a:pt x="762000" y="381000"/>
                  </a:cubicBezTo>
                  <a:cubicBezTo>
                    <a:pt x="762000" y="591312"/>
                    <a:pt x="591312" y="762000"/>
                    <a:pt x="381000" y="762000"/>
                  </a:cubicBezTo>
                  <a:cubicBezTo>
                    <a:pt x="170688" y="762000"/>
                    <a:pt x="0" y="591312"/>
                    <a:pt x="0" y="381000"/>
                  </a:cubicBezTo>
                  <a:cubicBezTo>
                    <a:pt x="0" y="170688"/>
                    <a:pt x="170688" y="0"/>
                    <a:pt x="381000" y="0"/>
                  </a:cubicBezTo>
                  <a:close/>
                </a:path>
              </a:pathLst>
            </a:custGeom>
            <a:solidFill>
              <a:srgbClr val="008CA4">
                <a:alpha val="3922"/>
              </a:srgbClr>
            </a:solidFill>
          </p:spPr>
        </p:sp>
      </p:grpSp>
      <p:sp>
        <p:nvSpPr>
          <p:cNvPr name="Freeform 48" id="48"/>
          <p:cNvSpPr/>
          <p:nvPr/>
        </p:nvSpPr>
        <p:spPr>
          <a:xfrm flipH="false" flipV="false" rot="0">
            <a:off x="1228725" y="7558088"/>
            <a:ext cx="200025" cy="228600"/>
          </a:xfrm>
          <a:custGeom>
            <a:avLst/>
            <a:gdLst/>
            <a:ahLst/>
            <a:cxnLst/>
            <a:rect r="r" b="b" t="t" l="l"/>
            <a:pathLst>
              <a:path h="228600" w="200025">
                <a:moveTo>
                  <a:pt x="0" y="0"/>
                </a:moveTo>
                <a:lnTo>
                  <a:pt x="200025" y="0"/>
                </a:lnTo>
                <a:lnTo>
                  <a:pt x="200025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9" id="49"/>
          <p:cNvGrpSpPr/>
          <p:nvPr/>
        </p:nvGrpSpPr>
        <p:grpSpPr>
          <a:xfrm rot="0">
            <a:off x="1785938" y="7195452"/>
            <a:ext cx="2312582" cy="648386"/>
            <a:chOff x="0" y="0"/>
            <a:chExt cx="3083443" cy="86451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083443" cy="864514"/>
            </a:xfrm>
            <a:custGeom>
              <a:avLst/>
              <a:gdLst/>
              <a:ahLst/>
              <a:cxnLst/>
              <a:rect r="r" b="b" t="t" l="l"/>
              <a:pathLst>
                <a:path h="864514" w="3083443">
                  <a:moveTo>
                    <a:pt x="0" y="0"/>
                  </a:moveTo>
                  <a:lnTo>
                    <a:pt x="3083443" y="0"/>
                  </a:lnTo>
                  <a:lnTo>
                    <a:pt x="3083443" y="864514"/>
                  </a:lnTo>
                  <a:lnTo>
                    <a:pt x="0" y="8645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57" r="32658" b="26756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85725"/>
              <a:ext cx="3083443" cy="9502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Dr. Karimov A.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785938" y="7753377"/>
            <a:ext cx="1676954" cy="295221"/>
            <a:chOff x="0" y="0"/>
            <a:chExt cx="2235939" cy="39362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235939" cy="393628"/>
            </a:xfrm>
            <a:custGeom>
              <a:avLst/>
              <a:gdLst/>
              <a:ahLst/>
              <a:cxnLst/>
              <a:rect r="r" b="b" t="t" l="l"/>
              <a:pathLst>
                <a:path h="393628" w="2235939">
                  <a:moveTo>
                    <a:pt x="0" y="0"/>
                  </a:moveTo>
                  <a:lnTo>
                    <a:pt x="2235939" y="0"/>
                  </a:lnTo>
                  <a:lnTo>
                    <a:pt x="2235939" y="393628"/>
                  </a:lnTo>
                  <a:lnTo>
                    <a:pt x="0" y="3936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47" r="7984" b="-50239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2235939" cy="4412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5"/>
                </a:lnSpc>
              </a:pPr>
              <a:r>
                <a:rPr lang="en-US" sz="1774">
                  <a:solidFill>
                    <a:srgbClr val="8F8F8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Terapevt • 4.9★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0598500" y="7558088"/>
            <a:ext cx="938656" cy="359614"/>
            <a:chOff x="0" y="0"/>
            <a:chExt cx="1251541" cy="479485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251541" cy="479485"/>
            </a:xfrm>
            <a:custGeom>
              <a:avLst/>
              <a:gdLst/>
              <a:ahLst/>
              <a:cxnLst/>
              <a:rect r="r" b="b" t="t" l="l"/>
              <a:pathLst>
                <a:path h="479485" w="1251541">
                  <a:moveTo>
                    <a:pt x="0" y="0"/>
                  </a:moveTo>
                  <a:lnTo>
                    <a:pt x="1251541" y="0"/>
                  </a:lnTo>
                  <a:lnTo>
                    <a:pt x="1251541" y="479485"/>
                  </a:lnTo>
                  <a:lnTo>
                    <a:pt x="0" y="4794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817" t="0" r="15076" b="4647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85725"/>
              <a:ext cx="1251541" cy="565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31"/>
                </a:lnSpc>
              </a:pPr>
              <a:r>
                <a:rPr lang="en-US" sz="2199" b="true">
                  <a:solidFill>
                    <a:srgbClr val="008CA4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1.2 km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871538" y="8272462"/>
            <a:ext cx="10772775" cy="971550"/>
            <a:chOff x="0" y="0"/>
            <a:chExt cx="14363700" cy="12954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4363700" cy="1295400"/>
            </a:xfrm>
            <a:custGeom>
              <a:avLst/>
              <a:gdLst/>
              <a:ahLst/>
              <a:cxnLst/>
              <a:rect r="r" b="b" t="t" l="l"/>
              <a:pathLst>
                <a:path h="1295400" w="14363700">
                  <a:moveTo>
                    <a:pt x="152400" y="0"/>
                  </a:moveTo>
                  <a:lnTo>
                    <a:pt x="14211300" y="0"/>
                  </a:lnTo>
                  <a:cubicBezTo>
                    <a:pt x="14295501" y="0"/>
                    <a:pt x="14363700" y="68199"/>
                    <a:pt x="14363700" y="152400"/>
                  </a:cubicBezTo>
                  <a:lnTo>
                    <a:pt x="14363700" y="1143000"/>
                  </a:lnTo>
                  <a:cubicBezTo>
                    <a:pt x="14363700" y="1227201"/>
                    <a:pt x="14295501" y="1295400"/>
                    <a:pt x="14211300" y="1295400"/>
                  </a:cubicBezTo>
                  <a:lnTo>
                    <a:pt x="152400" y="1295400"/>
                  </a:lnTo>
                  <a:cubicBezTo>
                    <a:pt x="68199" y="1295400"/>
                    <a:pt x="0" y="1227201"/>
                    <a:pt x="0" y="114300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E6F4F6">
                <a:alpha val="0"/>
              </a:srgbClr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042988" y="8472488"/>
            <a:ext cx="571500" cy="571500"/>
            <a:chOff x="0" y="0"/>
            <a:chExt cx="762000" cy="7620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381000" y="0"/>
                  </a:moveTo>
                  <a:cubicBezTo>
                    <a:pt x="591312" y="0"/>
                    <a:pt x="762000" y="170688"/>
                    <a:pt x="762000" y="381000"/>
                  </a:cubicBezTo>
                  <a:cubicBezTo>
                    <a:pt x="762000" y="591312"/>
                    <a:pt x="591312" y="762000"/>
                    <a:pt x="381000" y="762000"/>
                  </a:cubicBezTo>
                  <a:cubicBezTo>
                    <a:pt x="170688" y="762000"/>
                    <a:pt x="0" y="591312"/>
                    <a:pt x="0" y="381000"/>
                  </a:cubicBezTo>
                  <a:cubicBezTo>
                    <a:pt x="0" y="170688"/>
                    <a:pt x="170688" y="0"/>
                    <a:pt x="381000" y="0"/>
                  </a:cubicBezTo>
                  <a:close/>
                </a:path>
              </a:pathLst>
            </a:custGeom>
            <a:solidFill>
              <a:srgbClr val="E6F4F6">
                <a:alpha val="784"/>
              </a:srgbClr>
            </a:solidFill>
          </p:spPr>
        </p:sp>
      </p:grpSp>
      <p:sp>
        <p:nvSpPr>
          <p:cNvPr name="Freeform 62" id="62"/>
          <p:cNvSpPr/>
          <p:nvPr/>
        </p:nvSpPr>
        <p:spPr>
          <a:xfrm flipH="false" flipV="false" rot="0">
            <a:off x="1228725" y="8643938"/>
            <a:ext cx="200025" cy="228600"/>
          </a:xfrm>
          <a:custGeom>
            <a:avLst/>
            <a:gdLst/>
            <a:ahLst/>
            <a:cxnLst/>
            <a:rect r="r" b="b" t="t" l="l"/>
            <a:pathLst>
              <a:path h="228600" w="200025">
                <a:moveTo>
                  <a:pt x="0" y="0"/>
                </a:moveTo>
                <a:lnTo>
                  <a:pt x="200025" y="0"/>
                </a:lnTo>
                <a:lnTo>
                  <a:pt x="200025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3" id="63"/>
          <p:cNvGrpSpPr/>
          <p:nvPr/>
        </p:nvGrpSpPr>
        <p:grpSpPr>
          <a:xfrm rot="0">
            <a:off x="1830129" y="8386762"/>
            <a:ext cx="2483368" cy="407353"/>
            <a:chOff x="0" y="0"/>
            <a:chExt cx="3311157" cy="543137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311157" cy="543137"/>
            </a:xfrm>
            <a:custGeom>
              <a:avLst/>
              <a:gdLst/>
              <a:ahLst/>
              <a:cxnLst/>
              <a:rect r="r" b="b" t="t" l="l"/>
              <a:pathLst>
                <a:path h="543137" w="3311157">
                  <a:moveTo>
                    <a:pt x="0" y="0"/>
                  </a:moveTo>
                  <a:lnTo>
                    <a:pt x="3311157" y="0"/>
                  </a:lnTo>
                  <a:lnTo>
                    <a:pt x="3311157" y="543137"/>
                  </a:lnTo>
                  <a:lnTo>
                    <a:pt x="0" y="5431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805" r="23481" b="-32983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85725"/>
              <a:ext cx="3311157" cy="6288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Dr. Rahimova N.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830129" y="8794116"/>
            <a:ext cx="2095279" cy="295221"/>
            <a:chOff x="0" y="0"/>
            <a:chExt cx="2793705" cy="39362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793705" cy="393628"/>
            </a:xfrm>
            <a:custGeom>
              <a:avLst/>
              <a:gdLst/>
              <a:ahLst/>
              <a:cxnLst/>
              <a:rect r="r" b="b" t="t" l="l"/>
              <a:pathLst>
                <a:path h="393628" w="2793705">
                  <a:moveTo>
                    <a:pt x="0" y="0"/>
                  </a:moveTo>
                  <a:lnTo>
                    <a:pt x="2793705" y="0"/>
                  </a:lnTo>
                  <a:lnTo>
                    <a:pt x="2793705" y="393628"/>
                  </a:lnTo>
                  <a:lnTo>
                    <a:pt x="0" y="3936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079" r="9990" b="-72871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2793705" cy="4412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5"/>
                </a:lnSpc>
              </a:pPr>
              <a:r>
                <a:rPr lang="en-US" sz="1774">
                  <a:solidFill>
                    <a:srgbClr val="8F8F8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Nevropatolog • 4.7★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0580870" y="8578431"/>
            <a:ext cx="992005" cy="359614"/>
            <a:chOff x="0" y="0"/>
            <a:chExt cx="1322674" cy="479485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322674" cy="479485"/>
            </a:xfrm>
            <a:custGeom>
              <a:avLst/>
              <a:gdLst/>
              <a:ahLst/>
              <a:cxnLst/>
              <a:rect r="r" b="b" t="t" l="l"/>
              <a:pathLst>
                <a:path h="479485" w="1322674">
                  <a:moveTo>
                    <a:pt x="0" y="0"/>
                  </a:moveTo>
                  <a:lnTo>
                    <a:pt x="1322674" y="0"/>
                  </a:lnTo>
                  <a:lnTo>
                    <a:pt x="1322674" y="479485"/>
                  </a:lnTo>
                  <a:lnTo>
                    <a:pt x="0" y="4794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462" t="0" r="16763" b="4647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85725"/>
              <a:ext cx="1322674" cy="565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31"/>
                </a:lnSpc>
              </a:pPr>
              <a:r>
                <a:rPr lang="en-US" sz="2199" b="true">
                  <a:solidFill>
                    <a:srgbClr val="E6F4F6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2.5 km</a:t>
              </a:r>
            </a:p>
          </p:txBody>
        </p:sp>
      </p:grpSp>
      <p:sp>
        <p:nvSpPr>
          <p:cNvPr name="Freeform 72" id="72"/>
          <p:cNvSpPr/>
          <p:nvPr/>
        </p:nvSpPr>
        <p:spPr>
          <a:xfrm flipH="false" flipV="false" rot="0">
            <a:off x="12743841" y="736630"/>
            <a:ext cx="4314424" cy="9021069"/>
          </a:xfrm>
          <a:custGeom>
            <a:avLst/>
            <a:gdLst/>
            <a:ahLst/>
            <a:cxnLst/>
            <a:rect r="r" b="b" t="t" l="l"/>
            <a:pathLst>
              <a:path h="9021069" w="4314424">
                <a:moveTo>
                  <a:pt x="0" y="0"/>
                </a:moveTo>
                <a:lnTo>
                  <a:pt x="4314424" y="0"/>
                </a:lnTo>
                <a:lnTo>
                  <a:pt x="4314424" y="9021068"/>
                </a:lnTo>
                <a:lnTo>
                  <a:pt x="0" y="902106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571500"/>
            <a:ext cx="114300" cy="685800"/>
            <a:chOff x="0" y="0"/>
            <a:chExt cx="152400" cy="914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52400">
                  <a:moveTo>
                    <a:pt x="76200" y="0"/>
                  </a:move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838200"/>
                  </a:lnTo>
                  <a:cubicBezTo>
                    <a:pt x="152400" y="880237"/>
                    <a:pt x="118237" y="914400"/>
                    <a:pt x="76200" y="914400"/>
                  </a:cubicBezTo>
                  <a:cubicBezTo>
                    <a:pt x="34163" y="914400"/>
                    <a:pt x="0" y="880237"/>
                    <a:pt x="0" y="838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08CA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571500"/>
            <a:ext cx="5114925" cy="685800"/>
            <a:chOff x="0" y="0"/>
            <a:chExt cx="6819900" cy="914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819900" cy="914400"/>
            </a:xfrm>
            <a:custGeom>
              <a:avLst/>
              <a:gdLst/>
              <a:ahLst/>
              <a:cxnLst/>
              <a:rect r="r" b="b" t="t" l="l"/>
              <a:pathLst>
                <a:path h="914400" w="6819900">
                  <a:moveTo>
                    <a:pt x="0" y="0"/>
                  </a:moveTo>
                  <a:lnTo>
                    <a:pt x="6819900" y="0"/>
                  </a:lnTo>
                  <a:lnTo>
                    <a:pt x="68199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325" r="0" b="-9532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123825"/>
              <a:ext cx="6819900" cy="790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84"/>
                </a:lnSpc>
              </a:pPr>
              <a:r>
                <a:rPr lang="en-US" sz="5400" b="true">
                  <a:solidFill>
                    <a:srgbClr val="FFFFF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Business Model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485900"/>
            <a:ext cx="16944975" cy="416071"/>
            <a:chOff x="0" y="0"/>
            <a:chExt cx="22593300" cy="5547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93300" cy="554762"/>
            </a:xfrm>
            <a:custGeom>
              <a:avLst/>
              <a:gdLst/>
              <a:ahLst/>
              <a:cxnLst/>
              <a:rect r="r" b="b" t="t" l="l"/>
              <a:pathLst>
                <a:path h="554762" w="22593300">
                  <a:moveTo>
                    <a:pt x="0" y="0"/>
                  </a:moveTo>
                  <a:lnTo>
                    <a:pt x="22593300" y="0"/>
                  </a:lnTo>
                  <a:lnTo>
                    <a:pt x="22593300" y="554762"/>
                  </a:lnTo>
                  <a:lnTo>
                    <a:pt x="0" y="55476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5475" r="0" b="-74162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22593300" cy="6214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71"/>
                </a:lnSpc>
              </a:pPr>
              <a:r>
                <a:rPr lang="en-US" sz="2549">
                  <a:solidFill>
                    <a:srgbClr val="8F8F8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Monetizatsiya strategiyasi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569119" y="2340769"/>
            <a:ext cx="8348662" cy="3519488"/>
          </a:xfrm>
          <a:custGeom>
            <a:avLst/>
            <a:gdLst/>
            <a:ahLst/>
            <a:cxnLst/>
            <a:rect r="r" b="b" t="t" l="l"/>
            <a:pathLst>
              <a:path h="3519488" w="8348662">
                <a:moveTo>
                  <a:pt x="0" y="0"/>
                </a:moveTo>
                <a:lnTo>
                  <a:pt x="8348662" y="0"/>
                </a:lnTo>
                <a:lnTo>
                  <a:pt x="8348662" y="3519487"/>
                </a:lnTo>
                <a:lnTo>
                  <a:pt x="0" y="35194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864394" y="2578160"/>
            <a:ext cx="1271587" cy="1271587"/>
            <a:chOff x="0" y="0"/>
            <a:chExt cx="1219200" cy="1219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304800" y="0"/>
                  </a:moveTo>
                  <a:lnTo>
                    <a:pt x="914400" y="0"/>
                  </a:lnTo>
                  <a:cubicBezTo>
                    <a:pt x="1082675" y="0"/>
                    <a:pt x="1219200" y="136525"/>
                    <a:pt x="1219200" y="304800"/>
                  </a:cubicBezTo>
                  <a:lnTo>
                    <a:pt x="1219200" y="914400"/>
                  </a:lnTo>
                  <a:cubicBezTo>
                    <a:pt x="1219200" y="1082675"/>
                    <a:pt x="1082675" y="1219200"/>
                    <a:pt x="914400" y="1219200"/>
                  </a:cubicBezTo>
                  <a:lnTo>
                    <a:pt x="304800" y="1219200"/>
                  </a:lnTo>
                  <a:cubicBezTo>
                    <a:pt x="136525" y="1219200"/>
                    <a:pt x="0" y="1082675"/>
                    <a:pt x="0" y="914400"/>
                  </a:cubicBezTo>
                  <a:lnTo>
                    <a:pt x="0" y="304800"/>
                  </a:ln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008CA4">
                <a:alpha val="3922"/>
              </a:srgbClr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211115" y="2924881"/>
            <a:ext cx="578146" cy="578146"/>
          </a:xfrm>
          <a:custGeom>
            <a:avLst/>
            <a:gdLst/>
            <a:ahLst/>
            <a:cxnLst/>
            <a:rect r="r" b="b" t="t" l="l"/>
            <a:pathLst>
              <a:path h="578146" w="578146">
                <a:moveTo>
                  <a:pt x="0" y="0"/>
                </a:moveTo>
                <a:lnTo>
                  <a:pt x="578145" y="0"/>
                </a:lnTo>
                <a:lnTo>
                  <a:pt x="578145" y="578146"/>
                </a:lnTo>
                <a:lnTo>
                  <a:pt x="0" y="5781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2944887" y="2703700"/>
            <a:ext cx="3237282" cy="1020508"/>
            <a:chOff x="0" y="0"/>
            <a:chExt cx="4316377" cy="13606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316376" cy="1360678"/>
            </a:xfrm>
            <a:custGeom>
              <a:avLst/>
              <a:gdLst/>
              <a:ahLst/>
              <a:cxnLst/>
              <a:rect r="r" b="b" t="t" l="l"/>
              <a:pathLst>
                <a:path h="1360678" w="4316376">
                  <a:moveTo>
                    <a:pt x="0" y="0"/>
                  </a:moveTo>
                  <a:lnTo>
                    <a:pt x="4316376" y="0"/>
                  </a:lnTo>
                  <a:lnTo>
                    <a:pt x="4316376" y="1360678"/>
                  </a:lnTo>
                  <a:lnTo>
                    <a:pt x="0" y="1360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703" r="15703" b="2549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4316377" cy="13892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59"/>
                </a:lnSpc>
              </a:pPr>
              <a:r>
                <a:rPr lang="en-US" sz="2999" b="true">
                  <a:solidFill>
                    <a:srgbClr val="FFFFF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Freemium Model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42988" y="4150274"/>
            <a:ext cx="7529512" cy="1068481"/>
            <a:chOff x="0" y="0"/>
            <a:chExt cx="10039350" cy="142464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039350" cy="1424641"/>
            </a:xfrm>
            <a:custGeom>
              <a:avLst/>
              <a:gdLst/>
              <a:ahLst/>
              <a:cxnLst/>
              <a:rect r="r" b="b" t="t" l="l"/>
              <a:pathLst>
                <a:path h="1424641" w="10039350">
                  <a:moveTo>
                    <a:pt x="0" y="0"/>
                  </a:moveTo>
                  <a:lnTo>
                    <a:pt x="10039350" y="0"/>
                  </a:lnTo>
                  <a:lnTo>
                    <a:pt x="10039350" y="1424641"/>
                  </a:lnTo>
                  <a:lnTo>
                    <a:pt x="0" y="14246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920" r="0" b="-5669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42875"/>
              <a:ext cx="10039350" cy="15675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45"/>
                </a:lnSpc>
              </a:pPr>
              <a:r>
                <a:rPr lang="en-US" sz="2824">
                  <a:solidFill>
                    <a:srgbClr val="E6F4F6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Bepul asosiy funksiyalar + to'lovli premium imkoniyatlar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569119" y="6198394"/>
            <a:ext cx="8348662" cy="3519488"/>
          </a:xfrm>
          <a:custGeom>
            <a:avLst/>
            <a:gdLst/>
            <a:ahLst/>
            <a:cxnLst/>
            <a:rect r="r" b="b" t="t" l="l"/>
            <a:pathLst>
              <a:path h="3519488" w="8348662">
                <a:moveTo>
                  <a:pt x="0" y="0"/>
                </a:moveTo>
                <a:lnTo>
                  <a:pt x="8348662" y="0"/>
                </a:lnTo>
                <a:lnTo>
                  <a:pt x="8348662" y="3519487"/>
                </a:lnTo>
                <a:lnTo>
                  <a:pt x="0" y="351948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864394" y="6398543"/>
            <a:ext cx="1236345" cy="1236345"/>
            <a:chOff x="0" y="0"/>
            <a:chExt cx="1219200" cy="12192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304800" y="0"/>
                  </a:moveTo>
                  <a:lnTo>
                    <a:pt x="914400" y="0"/>
                  </a:lnTo>
                  <a:cubicBezTo>
                    <a:pt x="1082675" y="0"/>
                    <a:pt x="1219200" y="136525"/>
                    <a:pt x="1219200" y="304800"/>
                  </a:cubicBezTo>
                  <a:lnTo>
                    <a:pt x="1219200" y="914400"/>
                  </a:lnTo>
                  <a:cubicBezTo>
                    <a:pt x="1219200" y="1082675"/>
                    <a:pt x="1082675" y="1219200"/>
                    <a:pt x="914400" y="1219200"/>
                  </a:cubicBezTo>
                  <a:lnTo>
                    <a:pt x="304800" y="1219200"/>
                  </a:lnTo>
                  <a:cubicBezTo>
                    <a:pt x="136525" y="1219200"/>
                    <a:pt x="0" y="1082675"/>
                    <a:pt x="0" y="914400"/>
                  </a:cubicBezTo>
                  <a:lnTo>
                    <a:pt x="0" y="304800"/>
                  </a:ln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008CA4">
                <a:alpha val="3922"/>
              </a:srgbClr>
            </a:solidFill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1078600" y="6657634"/>
            <a:ext cx="807933" cy="718163"/>
          </a:xfrm>
          <a:custGeom>
            <a:avLst/>
            <a:gdLst/>
            <a:ahLst/>
            <a:cxnLst/>
            <a:rect r="r" b="b" t="t" l="l"/>
            <a:pathLst>
              <a:path h="718163" w="807933">
                <a:moveTo>
                  <a:pt x="0" y="0"/>
                </a:moveTo>
                <a:lnTo>
                  <a:pt x="807933" y="0"/>
                </a:lnTo>
                <a:lnTo>
                  <a:pt x="807933" y="718163"/>
                </a:lnTo>
                <a:lnTo>
                  <a:pt x="0" y="7181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2944887" y="6506461"/>
            <a:ext cx="4396232" cy="1020508"/>
            <a:chOff x="0" y="0"/>
            <a:chExt cx="5861642" cy="136067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861642" cy="1360678"/>
            </a:xfrm>
            <a:custGeom>
              <a:avLst/>
              <a:gdLst/>
              <a:ahLst/>
              <a:cxnLst/>
              <a:rect r="r" b="b" t="t" l="l"/>
              <a:pathLst>
                <a:path h="1360678" w="5861642">
                  <a:moveTo>
                    <a:pt x="0" y="0"/>
                  </a:moveTo>
                  <a:lnTo>
                    <a:pt x="5861642" y="0"/>
                  </a:lnTo>
                  <a:lnTo>
                    <a:pt x="5861642" y="1360678"/>
                  </a:lnTo>
                  <a:lnTo>
                    <a:pt x="0" y="1360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980" r="19726" b="10218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5861642" cy="13892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59"/>
                </a:lnSpc>
              </a:pPr>
              <a:r>
                <a:rPr lang="en-US" sz="2999" b="true">
                  <a:solidFill>
                    <a:srgbClr val="FFFFF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Premium Subscription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42988" y="8128540"/>
            <a:ext cx="7529512" cy="1068481"/>
            <a:chOff x="0" y="0"/>
            <a:chExt cx="10039350" cy="142464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039350" cy="1424641"/>
            </a:xfrm>
            <a:custGeom>
              <a:avLst/>
              <a:gdLst/>
              <a:ahLst/>
              <a:cxnLst/>
              <a:rect r="r" b="b" t="t" l="l"/>
              <a:pathLst>
                <a:path h="1424641" w="10039350">
                  <a:moveTo>
                    <a:pt x="0" y="0"/>
                  </a:moveTo>
                  <a:lnTo>
                    <a:pt x="10039350" y="0"/>
                  </a:lnTo>
                  <a:lnTo>
                    <a:pt x="10039350" y="1424641"/>
                  </a:lnTo>
                  <a:lnTo>
                    <a:pt x="0" y="14246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863" r="0" b="-76756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42875"/>
              <a:ext cx="10039350" cy="15675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45"/>
                </a:lnSpc>
              </a:pPr>
              <a:r>
                <a:rPr lang="en-US" sz="2824">
                  <a:solidFill>
                    <a:srgbClr val="E6F4F6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Oylik/yillik obuna: tezkor navbat, video konsultatsiya, saqlangan tahlillar</a:t>
              </a: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9370219" y="2340769"/>
            <a:ext cx="8348662" cy="3519488"/>
          </a:xfrm>
          <a:custGeom>
            <a:avLst/>
            <a:gdLst/>
            <a:ahLst/>
            <a:cxnLst/>
            <a:rect r="r" b="b" t="t" l="l"/>
            <a:pathLst>
              <a:path h="3519488" w="8348662">
                <a:moveTo>
                  <a:pt x="0" y="0"/>
                </a:moveTo>
                <a:lnTo>
                  <a:pt x="8348662" y="0"/>
                </a:lnTo>
                <a:lnTo>
                  <a:pt x="8348662" y="3519487"/>
                </a:lnTo>
                <a:lnTo>
                  <a:pt x="0" y="351948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9657350" y="2578160"/>
            <a:ext cx="1287875" cy="1287875"/>
            <a:chOff x="0" y="0"/>
            <a:chExt cx="1219200" cy="12192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304800" y="0"/>
                  </a:moveTo>
                  <a:lnTo>
                    <a:pt x="914400" y="0"/>
                  </a:lnTo>
                  <a:cubicBezTo>
                    <a:pt x="1082675" y="0"/>
                    <a:pt x="1219200" y="136525"/>
                    <a:pt x="1219200" y="304800"/>
                  </a:cubicBezTo>
                  <a:lnTo>
                    <a:pt x="1219200" y="914400"/>
                  </a:lnTo>
                  <a:cubicBezTo>
                    <a:pt x="1219200" y="1082675"/>
                    <a:pt x="1082675" y="1219200"/>
                    <a:pt x="914400" y="1219200"/>
                  </a:cubicBezTo>
                  <a:lnTo>
                    <a:pt x="304800" y="1219200"/>
                  </a:lnTo>
                  <a:cubicBezTo>
                    <a:pt x="136525" y="1219200"/>
                    <a:pt x="0" y="1082675"/>
                    <a:pt x="0" y="914400"/>
                  </a:cubicBezTo>
                  <a:lnTo>
                    <a:pt x="0" y="304800"/>
                  </a:ln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FFB200">
                <a:alpha val="3922"/>
              </a:srgbClr>
            </a:solidFill>
          </p:spPr>
        </p:sp>
      </p:grpSp>
      <p:sp>
        <p:nvSpPr>
          <p:cNvPr name="Freeform 33" id="33"/>
          <p:cNvSpPr/>
          <p:nvPr/>
        </p:nvSpPr>
        <p:spPr>
          <a:xfrm flipH="false" flipV="false" rot="0">
            <a:off x="9963745" y="2884556"/>
            <a:ext cx="675084" cy="675084"/>
          </a:xfrm>
          <a:custGeom>
            <a:avLst/>
            <a:gdLst/>
            <a:ahLst/>
            <a:cxnLst/>
            <a:rect r="r" b="b" t="t" l="l"/>
            <a:pathLst>
              <a:path h="675084" w="675084">
                <a:moveTo>
                  <a:pt x="0" y="0"/>
                </a:moveTo>
                <a:lnTo>
                  <a:pt x="675085" y="0"/>
                </a:lnTo>
                <a:lnTo>
                  <a:pt x="675085" y="675084"/>
                </a:lnTo>
                <a:lnTo>
                  <a:pt x="0" y="67508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11802475" y="2711844"/>
            <a:ext cx="3024299" cy="1020508"/>
            <a:chOff x="0" y="0"/>
            <a:chExt cx="4032399" cy="136067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032399" cy="1360678"/>
            </a:xfrm>
            <a:custGeom>
              <a:avLst/>
              <a:gdLst/>
              <a:ahLst/>
              <a:cxnLst/>
              <a:rect r="r" b="b" t="t" l="l"/>
              <a:pathLst>
                <a:path h="1360678" w="4032399">
                  <a:moveTo>
                    <a:pt x="0" y="0"/>
                  </a:moveTo>
                  <a:lnTo>
                    <a:pt x="4032399" y="0"/>
                  </a:lnTo>
                  <a:lnTo>
                    <a:pt x="4032399" y="1360678"/>
                  </a:lnTo>
                  <a:lnTo>
                    <a:pt x="0" y="1360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66" r="17798" b="30132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4032399" cy="13892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59"/>
                </a:lnSpc>
              </a:pPr>
              <a:r>
                <a:rPr lang="en-US" sz="2999" b="true">
                  <a:solidFill>
                    <a:srgbClr val="FFFFF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Paid Promotion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844088" y="4150274"/>
            <a:ext cx="7529512" cy="1068481"/>
            <a:chOff x="0" y="0"/>
            <a:chExt cx="10039350" cy="142464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039350" cy="1424641"/>
            </a:xfrm>
            <a:custGeom>
              <a:avLst/>
              <a:gdLst/>
              <a:ahLst/>
              <a:cxnLst/>
              <a:rect r="r" b="b" t="t" l="l"/>
              <a:pathLst>
                <a:path h="1424641" w="10039350">
                  <a:moveTo>
                    <a:pt x="0" y="0"/>
                  </a:moveTo>
                  <a:lnTo>
                    <a:pt x="10039350" y="0"/>
                  </a:lnTo>
                  <a:lnTo>
                    <a:pt x="10039350" y="1424641"/>
                  </a:lnTo>
                  <a:lnTo>
                    <a:pt x="0" y="14246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920" r="0" b="-56698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42875"/>
              <a:ext cx="10039350" cy="15675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45"/>
                </a:lnSpc>
              </a:pPr>
              <a:r>
                <a:rPr lang="en-US" sz="2824">
                  <a:solidFill>
                    <a:srgbClr val="E6F4F6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Klinikalar va doktorlar uchun pullik reklama va ko'rsatish</a:t>
              </a: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0">
            <a:off x="9355931" y="6198394"/>
            <a:ext cx="8348662" cy="3519488"/>
          </a:xfrm>
          <a:custGeom>
            <a:avLst/>
            <a:gdLst/>
            <a:ahLst/>
            <a:cxnLst/>
            <a:rect r="r" b="b" t="t" l="l"/>
            <a:pathLst>
              <a:path h="3519488" w="8348662">
                <a:moveTo>
                  <a:pt x="0" y="0"/>
                </a:moveTo>
                <a:lnTo>
                  <a:pt x="8348663" y="0"/>
                </a:lnTo>
                <a:lnTo>
                  <a:pt x="8348663" y="3519487"/>
                </a:lnTo>
                <a:lnTo>
                  <a:pt x="0" y="35194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0">
            <a:off x="9647444" y="6337106"/>
            <a:ext cx="1297781" cy="1297781"/>
            <a:chOff x="0" y="0"/>
            <a:chExt cx="1219200" cy="12192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304800" y="0"/>
                  </a:moveTo>
                  <a:lnTo>
                    <a:pt x="914400" y="0"/>
                  </a:lnTo>
                  <a:cubicBezTo>
                    <a:pt x="1082675" y="0"/>
                    <a:pt x="1219200" y="136525"/>
                    <a:pt x="1219200" y="304800"/>
                  </a:cubicBezTo>
                  <a:lnTo>
                    <a:pt x="1219200" y="914400"/>
                  </a:lnTo>
                  <a:cubicBezTo>
                    <a:pt x="1219200" y="1082675"/>
                    <a:pt x="1082675" y="1219200"/>
                    <a:pt x="914400" y="1219200"/>
                  </a:cubicBezTo>
                  <a:lnTo>
                    <a:pt x="304800" y="1219200"/>
                  </a:lnTo>
                  <a:cubicBezTo>
                    <a:pt x="136525" y="1219200"/>
                    <a:pt x="0" y="1082675"/>
                    <a:pt x="0" y="914400"/>
                  </a:cubicBezTo>
                  <a:lnTo>
                    <a:pt x="0" y="304800"/>
                  </a:ln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E6F4F6">
                <a:alpha val="784"/>
              </a:srgbClr>
            </a:solidFill>
          </p:spPr>
        </p:sp>
      </p:grpSp>
      <p:sp>
        <p:nvSpPr>
          <p:cNvPr name="Freeform 43" id="43"/>
          <p:cNvSpPr/>
          <p:nvPr/>
        </p:nvSpPr>
        <p:spPr>
          <a:xfrm flipH="false" flipV="false" rot="0">
            <a:off x="9863242" y="6601026"/>
            <a:ext cx="866184" cy="769942"/>
          </a:xfrm>
          <a:custGeom>
            <a:avLst/>
            <a:gdLst/>
            <a:ahLst/>
            <a:cxnLst/>
            <a:rect r="r" b="b" t="t" l="l"/>
            <a:pathLst>
              <a:path h="769942" w="866184">
                <a:moveTo>
                  <a:pt x="0" y="0"/>
                </a:moveTo>
                <a:lnTo>
                  <a:pt x="866185" y="0"/>
                </a:lnTo>
                <a:lnTo>
                  <a:pt x="866185" y="769942"/>
                </a:lnTo>
                <a:lnTo>
                  <a:pt x="0" y="76994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4" id="44"/>
          <p:cNvGrpSpPr/>
          <p:nvPr/>
        </p:nvGrpSpPr>
        <p:grpSpPr>
          <a:xfrm rot="0">
            <a:off x="11802475" y="6468599"/>
            <a:ext cx="4075926" cy="1034796"/>
            <a:chOff x="0" y="0"/>
            <a:chExt cx="5434568" cy="137972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434568" cy="1379728"/>
            </a:xfrm>
            <a:custGeom>
              <a:avLst/>
              <a:gdLst/>
              <a:ahLst/>
              <a:cxnLst/>
              <a:rect r="r" b="b" t="t" l="l"/>
              <a:pathLst>
                <a:path h="1379728" w="5434568">
                  <a:moveTo>
                    <a:pt x="0" y="0"/>
                  </a:moveTo>
                  <a:lnTo>
                    <a:pt x="5434568" y="0"/>
                  </a:lnTo>
                  <a:lnTo>
                    <a:pt x="5434568" y="1379728"/>
                  </a:lnTo>
                  <a:lnTo>
                    <a:pt x="0" y="13797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862" r="17975" b="1495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5434568" cy="14083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59"/>
                </a:lnSpc>
              </a:pPr>
              <a:r>
                <a:rPr lang="en-US" sz="2999" b="true">
                  <a:solidFill>
                    <a:srgbClr val="FFFFF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Future: Telemedicine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779794" y="8128540"/>
            <a:ext cx="7529512" cy="1068481"/>
            <a:chOff x="0" y="0"/>
            <a:chExt cx="10039350" cy="142464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039350" cy="1424641"/>
            </a:xfrm>
            <a:custGeom>
              <a:avLst/>
              <a:gdLst/>
              <a:ahLst/>
              <a:cxnLst/>
              <a:rect r="r" b="b" t="t" l="l"/>
              <a:pathLst>
                <a:path h="1424641" w="10039350">
                  <a:moveTo>
                    <a:pt x="0" y="0"/>
                  </a:moveTo>
                  <a:lnTo>
                    <a:pt x="10039350" y="0"/>
                  </a:lnTo>
                  <a:lnTo>
                    <a:pt x="10039350" y="1424641"/>
                  </a:lnTo>
                  <a:lnTo>
                    <a:pt x="0" y="14246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920" r="0" b="-56698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42875"/>
              <a:ext cx="10039350" cy="15675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45"/>
                </a:lnSpc>
              </a:pPr>
              <a:r>
                <a:rPr lang="en-US" sz="2824">
                  <a:solidFill>
                    <a:srgbClr val="E6F4F6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Onlayn konsultatsiyalar va telemedicina integratsiyasi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571500"/>
            <a:ext cx="114300" cy="685800"/>
            <a:chOff x="0" y="0"/>
            <a:chExt cx="152400" cy="914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52400">
                  <a:moveTo>
                    <a:pt x="76200" y="0"/>
                  </a:move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838200"/>
                  </a:lnTo>
                  <a:cubicBezTo>
                    <a:pt x="152400" y="880237"/>
                    <a:pt x="118237" y="914400"/>
                    <a:pt x="76200" y="914400"/>
                  </a:cubicBezTo>
                  <a:cubicBezTo>
                    <a:pt x="34163" y="914400"/>
                    <a:pt x="0" y="880237"/>
                    <a:pt x="0" y="838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08CA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274320"/>
            <a:ext cx="2443162" cy="1154430"/>
            <a:chOff x="0" y="0"/>
            <a:chExt cx="3257550" cy="15392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257550" cy="1539240"/>
            </a:xfrm>
            <a:custGeom>
              <a:avLst/>
              <a:gdLst/>
              <a:ahLst/>
              <a:cxnLst/>
              <a:rect r="r" b="b" t="t" l="l"/>
              <a:pathLst>
                <a:path h="1539240" w="3257550">
                  <a:moveTo>
                    <a:pt x="0" y="0"/>
                  </a:moveTo>
                  <a:lnTo>
                    <a:pt x="3257550" y="0"/>
                  </a:lnTo>
                  <a:lnTo>
                    <a:pt x="3257550" y="1539240"/>
                  </a:lnTo>
                  <a:lnTo>
                    <a:pt x="0" y="1539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33" r="0" b="2906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123825"/>
              <a:ext cx="3257550" cy="1415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84"/>
                </a:lnSpc>
              </a:pPr>
              <a:r>
                <a:rPr lang="en-US" sz="5400" b="true">
                  <a:solidFill>
                    <a:srgbClr val="FFFFF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Impact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485900"/>
            <a:ext cx="16944975" cy="416071"/>
            <a:chOff x="0" y="0"/>
            <a:chExt cx="22593300" cy="5547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93300" cy="554762"/>
            </a:xfrm>
            <a:custGeom>
              <a:avLst/>
              <a:gdLst/>
              <a:ahLst/>
              <a:cxnLst/>
              <a:rect r="r" b="b" t="t" l="l"/>
              <a:pathLst>
                <a:path h="554762" w="22593300">
                  <a:moveTo>
                    <a:pt x="0" y="0"/>
                  </a:moveTo>
                  <a:lnTo>
                    <a:pt x="22593300" y="0"/>
                  </a:lnTo>
                  <a:lnTo>
                    <a:pt x="22593300" y="554762"/>
                  </a:lnTo>
                  <a:lnTo>
                    <a:pt x="0" y="55476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5475" r="0" b="-74162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22593300" cy="6214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71"/>
                </a:lnSpc>
              </a:pPr>
              <a:r>
                <a:rPr lang="en-US" sz="2549">
                  <a:solidFill>
                    <a:srgbClr val="8F8F8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Jamiyatga ta'sir va foydasi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569119" y="2340769"/>
            <a:ext cx="5419725" cy="7377112"/>
          </a:xfrm>
          <a:custGeom>
            <a:avLst/>
            <a:gdLst/>
            <a:ahLst/>
            <a:cxnLst/>
            <a:rect r="r" b="b" t="t" l="l"/>
            <a:pathLst>
              <a:path h="7377112" w="5419725">
                <a:moveTo>
                  <a:pt x="0" y="0"/>
                </a:moveTo>
                <a:lnTo>
                  <a:pt x="5419725" y="0"/>
                </a:lnTo>
                <a:lnTo>
                  <a:pt x="5419725" y="7377112"/>
                </a:lnTo>
                <a:lnTo>
                  <a:pt x="0" y="73771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590724" y="2814638"/>
            <a:ext cx="1371600" cy="1371600"/>
            <a:chOff x="0" y="0"/>
            <a:chExt cx="1828800" cy="1828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914400" y="0"/>
                  </a:moveTo>
                  <a:cubicBezTo>
                    <a:pt x="1419098" y="0"/>
                    <a:pt x="1828800" y="409702"/>
                    <a:pt x="1828800" y="914400"/>
                  </a:cubicBezTo>
                  <a:cubicBezTo>
                    <a:pt x="1828800" y="1419098"/>
                    <a:pt x="1419098" y="1828800"/>
                    <a:pt x="914400" y="1828800"/>
                  </a:cubicBezTo>
                  <a:cubicBezTo>
                    <a:pt x="409702" y="1828800"/>
                    <a:pt x="0" y="1419098"/>
                    <a:pt x="0" y="914400"/>
                  </a:cubicBezTo>
                  <a:cubicBezTo>
                    <a:pt x="0" y="409702"/>
                    <a:pt x="409702" y="0"/>
                    <a:pt x="914400" y="0"/>
                  </a:cubicBezTo>
                  <a:close/>
                </a:path>
              </a:pathLst>
            </a:custGeom>
            <a:solidFill>
              <a:srgbClr val="008CA4">
                <a:alpha val="3922"/>
              </a:srgbClr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933624" y="3157538"/>
            <a:ext cx="685800" cy="685800"/>
            <a:chOff x="0" y="0"/>
            <a:chExt cx="914400" cy="914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457200" y="0"/>
                  </a:moveTo>
                  <a:cubicBezTo>
                    <a:pt x="709549" y="0"/>
                    <a:pt x="914400" y="204851"/>
                    <a:pt x="914400" y="457200"/>
                  </a:cubicBezTo>
                  <a:cubicBezTo>
                    <a:pt x="914400" y="709549"/>
                    <a:pt x="709549" y="914400"/>
                    <a:pt x="457200" y="914400"/>
                  </a:cubicBezTo>
                  <a:cubicBezTo>
                    <a:pt x="204851" y="914400"/>
                    <a:pt x="0" y="709549"/>
                    <a:pt x="0" y="457200"/>
                  </a:cubicBezTo>
                  <a:cubicBezTo>
                    <a:pt x="0" y="204851"/>
                    <a:pt x="204851" y="0"/>
                    <a:pt x="457200" y="0"/>
                  </a:cubicBezTo>
                  <a:close/>
                  <a:moveTo>
                    <a:pt x="414401" y="214249"/>
                  </a:moveTo>
                  <a:lnTo>
                    <a:pt x="414401" y="457200"/>
                  </a:lnTo>
                  <a:cubicBezTo>
                    <a:pt x="414401" y="471551"/>
                    <a:pt x="421513" y="484886"/>
                    <a:pt x="433451" y="492887"/>
                  </a:cubicBezTo>
                  <a:lnTo>
                    <a:pt x="604901" y="607187"/>
                  </a:lnTo>
                  <a:cubicBezTo>
                    <a:pt x="624586" y="620395"/>
                    <a:pt x="651129" y="615061"/>
                    <a:pt x="664337" y="595249"/>
                  </a:cubicBezTo>
                  <a:cubicBezTo>
                    <a:pt x="677545" y="575437"/>
                    <a:pt x="672211" y="549021"/>
                    <a:pt x="652399" y="535813"/>
                  </a:cubicBezTo>
                  <a:lnTo>
                    <a:pt x="499999" y="434340"/>
                  </a:lnTo>
                  <a:lnTo>
                    <a:pt x="499999" y="214249"/>
                  </a:lnTo>
                  <a:cubicBezTo>
                    <a:pt x="499999" y="190500"/>
                    <a:pt x="480949" y="171450"/>
                    <a:pt x="457200" y="171450"/>
                  </a:cubicBezTo>
                  <a:cubicBezTo>
                    <a:pt x="433451" y="171450"/>
                    <a:pt x="414401" y="190500"/>
                    <a:pt x="414401" y="214249"/>
                  </a:cubicBezTo>
                  <a:close/>
                </a:path>
              </a:pathLst>
            </a:custGeom>
            <a:solidFill>
              <a:srgbClr val="008CA4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959215" y="4243388"/>
            <a:ext cx="2796695" cy="1236583"/>
            <a:chOff x="0" y="0"/>
            <a:chExt cx="3728927" cy="164877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728927" cy="1648777"/>
            </a:xfrm>
            <a:custGeom>
              <a:avLst/>
              <a:gdLst/>
              <a:ahLst/>
              <a:cxnLst/>
              <a:rect r="r" b="b" t="t" l="l"/>
              <a:pathLst>
                <a:path h="1648777" w="3728927">
                  <a:moveTo>
                    <a:pt x="0" y="0"/>
                  </a:moveTo>
                  <a:lnTo>
                    <a:pt x="3728927" y="0"/>
                  </a:lnTo>
                  <a:lnTo>
                    <a:pt x="3728927" y="1648777"/>
                  </a:lnTo>
                  <a:lnTo>
                    <a:pt x="0" y="16487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01" r="8554" b="3890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3728927" cy="16487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50"/>
                </a:lnSpc>
              </a:pPr>
              <a:r>
                <a:rPr lang="en-US" sz="3375" b="true">
                  <a:solidFill>
                    <a:srgbClr val="FFFFF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Vaqt Tejaydi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78694" y="5272088"/>
            <a:ext cx="4600575" cy="2357438"/>
            <a:chOff x="0" y="0"/>
            <a:chExt cx="6134100" cy="31432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134100" cy="3143250"/>
            </a:xfrm>
            <a:custGeom>
              <a:avLst/>
              <a:gdLst/>
              <a:ahLst/>
              <a:cxnLst/>
              <a:rect r="r" b="b" t="t" l="l"/>
              <a:pathLst>
                <a:path h="3143250" w="6134100">
                  <a:moveTo>
                    <a:pt x="0" y="0"/>
                  </a:moveTo>
                  <a:lnTo>
                    <a:pt x="6134100" y="0"/>
                  </a:lnTo>
                  <a:lnTo>
                    <a:pt x="6134100" y="3143250"/>
                  </a:lnTo>
                  <a:lnTo>
                    <a:pt x="0" y="3143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745" t="0" r="-15745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42875"/>
              <a:ext cx="6134100" cy="3286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745"/>
                </a:lnSpc>
              </a:pPr>
              <a:r>
                <a:rPr lang="en-US" sz="2824">
                  <a:solidFill>
                    <a:srgbClr val="E6F4F6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Doktor qidirish va navbat kutish vaqtini 70% ga qisqartiradi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42988" y="7979569"/>
            <a:ext cx="4471988" cy="14288"/>
            <a:chOff x="0" y="0"/>
            <a:chExt cx="5962650" cy="190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962650" cy="19050"/>
            </a:xfrm>
            <a:custGeom>
              <a:avLst/>
              <a:gdLst/>
              <a:ahLst/>
              <a:cxnLst/>
              <a:rect r="r" b="b" t="t" l="l"/>
              <a:pathLst>
                <a:path h="19050" w="5962650">
                  <a:moveTo>
                    <a:pt x="0" y="0"/>
                  </a:moveTo>
                  <a:lnTo>
                    <a:pt x="5962650" y="0"/>
                  </a:lnTo>
                  <a:lnTo>
                    <a:pt x="5962650" y="19050"/>
                  </a:lnTo>
                  <a:lnTo>
                    <a:pt x="0" y="190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8CA4">
                <a:alpha val="9020"/>
              </a:srgbClr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14400" y="8329612"/>
            <a:ext cx="4729162" cy="571500"/>
            <a:chOff x="0" y="0"/>
            <a:chExt cx="6305550" cy="762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305550" cy="762000"/>
            </a:xfrm>
            <a:custGeom>
              <a:avLst/>
              <a:gdLst/>
              <a:ahLst/>
              <a:cxnLst/>
              <a:rect r="r" b="b" t="t" l="l"/>
              <a:pathLst>
                <a:path h="762000" w="6305550">
                  <a:moveTo>
                    <a:pt x="0" y="0"/>
                  </a:moveTo>
                  <a:lnTo>
                    <a:pt x="6305550" y="0"/>
                  </a:lnTo>
                  <a:lnTo>
                    <a:pt x="630555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238" r="0" b="-111238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38100"/>
              <a:ext cx="6305550" cy="723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74"/>
                </a:lnSpc>
              </a:pPr>
              <a:r>
                <a:rPr lang="en-US" sz="4050" b="true">
                  <a:solidFill>
                    <a:srgbClr val="008CA4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70%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92981" y="8958263"/>
            <a:ext cx="4572000" cy="425193"/>
            <a:chOff x="0" y="0"/>
            <a:chExt cx="6096000" cy="56692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096000" cy="566924"/>
            </a:xfrm>
            <a:custGeom>
              <a:avLst/>
              <a:gdLst/>
              <a:ahLst/>
              <a:cxnLst/>
              <a:rect r="r" b="b" t="t" l="l"/>
              <a:pathLst>
                <a:path h="566924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566924"/>
                  </a:lnTo>
                  <a:lnTo>
                    <a:pt x="0" y="5669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5915" r="0" b="-14312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76200"/>
              <a:ext cx="6096000" cy="6431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07"/>
                </a:lnSpc>
              </a:pPr>
              <a:r>
                <a:rPr lang="en-US" sz="2574">
                  <a:solidFill>
                    <a:srgbClr val="8F8F8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vaqt tejash</a:t>
              </a: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6436366" y="2340769"/>
            <a:ext cx="5419725" cy="7377112"/>
          </a:xfrm>
          <a:custGeom>
            <a:avLst/>
            <a:gdLst/>
            <a:ahLst/>
            <a:cxnLst/>
            <a:rect r="r" b="b" t="t" l="l"/>
            <a:pathLst>
              <a:path h="7377112" w="5419725">
                <a:moveTo>
                  <a:pt x="0" y="0"/>
                </a:moveTo>
                <a:lnTo>
                  <a:pt x="5419725" y="0"/>
                </a:lnTo>
                <a:lnTo>
                  <a:pt x="5419725" y="7377112"/>
                </a:lnTo>
                <a:lnTo>
                  <a:pt x="0" y="73771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8457981" y="2814638"/>
            <a:ext cx="1371600" cy="1371600"/>
            <a:chOff x="0" y="0"/>
            <a:chExt cx="1828800" cy="1828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914400" y="0"/>
                  </a:moveTo>
                  <a:cubicBezTo>
                    <a:pt x="1419098" y="0"/>
                    <a:pt x="1828800" y="409702"/>
                    <a:pt x="1828800" y="914400"/>
                  </a:cubicBezTo>
                  <a:cubicBezTo>
                    <a:pt x="1828800" y="1419098"/>
                    <a:pt x="1419098" y="1828800"/>
                    <a:pt x="914400" y="1828800"/>
                  </a:cubicBezTo>
                  <a:cubicBezTo>
                    <a:pt x="409702" y="1828800"/>
                    <a:pt x="0" y="1419098"/>
                    <a:pt x="0" y="914400"/>
                  </a:cubicBezTo>
                  <a:cubicBezTo>
                    <a:pt x="0" y="409702"/>
                    <a:pt x="409702" y="0"/>
                    <a:pt x="914400" y="0"/>
                  </a:cubicBezTo>
                  <a:close/>
                </a:path>
              </a:pathLst>
            </a:custGeom>
            <a:solidFill>
              <a:srgbClr val="FFB200">
                <a:alpha val="3922"/>
              </a:srgbClr>
            </a:solidFill>
          </p:spPr>
        </p:sp>
      </p:grpSp>
      <p:sp>
        <p:nvSpPr>
          <p:cNvPr name="Freeform 32" id="32"/>
          <p:cNvSpPr/>
          <p:nvPr/>
        </p:nvSpPr>
        <p:spPr>
          <a:xfrm flipH="false" flipV="false" rot="0">
            <a:off x="8800881" y="3157538"/>
            <a:ext cx="685800" cy="685800"/>
          </a:xfrm>
          <a:custGeom>
            <a:avLst/>
            <a:gdLst/>
            <a:ahLst/>
            <a:cxnLst/>
            <a:rect r="r" b="b" t="t" l="l"/>
            <a:pathLst>
              <a:path h="685800" w="68580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6845941" y="4243388"/>
            <a:ext cx="4640780" cy="1236583"/>
            <a:chOff x="0" y="0"/>
            <a:chExt cx="6187707" cy="164877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187707" cy="1648777"/>
            </a:xfrm>
            <a:custGeom>
              <a:avLst/>
              <a:gdLst/>
              <a:ahLst/>
              <a:cxnLst/>
              <a:rect r="r" b="b" t="t" l="l"/>
              <a:pathLst>
                <a:path h="1648777" w="6187707">
                  <a:moveTo>
                    <a:pt x="0" y="0"/>
                  </a:moveTo>
                  <a:lnTo>
                    <a:pt x="6187707" y="0"/>
                  </a:lnTo>
                  <a:lnTo>
                    <a:pt x="6187707" y="1648777"/>
                  </a:lnTo>
                  <a:lnTo>
                    <a:pt x="0" y="16487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139" r="12565" b="15265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6187707" cy="16487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50"/>
                </a:lnSpc>
              </a:pPr>
              <a:r>
                <a:rPr lang="en-US" sz="3375" b="true">
                  <a:solidFill>
                    <a:srgbClr val="FFFFF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Sog'liqni Yaxshilaydi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781648" y="5479971"/>
            <a:ext cx="4600575" cy="2357438"/>
            <a:chOff x="0" y="0"/>
            <a:chExt cx="6134100" cy="314325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134100" cy="3143250"/>
            </a:xfrm>
            <a:custGeom>
              <a:avLst/>
              <a:gdLst/>
              <a:ahLst/>
              <a:cxnLst/>
              <a:rect r="r" b="b" t="t" l="l"/>
              <a:pathLst>
                <a:path h="3143250" w="6134100">
                  <a:moveTo>
                    <a:pt x="0" y="0"/>
                  </a:moveTo>
                  <a:lnTo>
                    <a:pt x="6134100" y="0"/>
                  </a:lnTo>
                  <a:lnTo>
                    <a:pt x="6134100" y="3143250"/>
                  </a:lnTo>
                  <a:lnTo>
                    <a:pt x="0" y="3143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745" t="0" r="-15745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42875"/>
              <a:ext cx="6134100" cy="3286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745"/>
                </a:lnSpc>
              </a:pPr>
              <a:r>
                <a:rPr lang="en-US" sz="2824">
                  <a:solidFill>
                    <a:srgbClr val="E6F4F6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To'g'ri doktor tanlash orqali davolanish samaradorligi oshadi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6910235" y="7979569"/>
            <a:ext cx="4471988" cy="14288"/>
            <a:chOff x="0" y="0"/>
            <a:chExt cx="5962650" cy="1905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962650" cy="19050"/>
            </a:xfrm>
            <a:custGeom>
              <a:avLst/>
              <a:gdLst/>
              <a:ahLst/>
              <a:cxnLst/>
              <a:rect r="r" b="b" t="t" l="l"/>
              <a:pathLst>
                <a:path h="19050" w="5962650">
                  <a:moveTo>
                    <a:pt x="0" y="0"/>
                  </a:moveTo>
                  <a:lnTo>
                    <a:pt x="5962650" y="0"/>
                  </a:lnTo>
                  <a:lnTo>
                    <a:pt x="5962650" y="19050"/>
                  </a:lnTo>
                  <a:lnTo>
                    <a:pt x="0" y="190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200">
                <a:alpha val="9020"/>
              </a:srgbClr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781648" y="8329612"/>
            <a:ext cx="4729162" cy="571500"/>
            <a:chOff x="0" y="0"/>
            <a:chExt cx="6305550" cy="7620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305550" cy="762000"/>
            </a:xfrm>
            <a:custGeom>
              <a:avLst/>
              <a:gdLst/>
              <a:ahLst/>
              <a:cxnLst/>
              <a:rect r="r" b="b" t="t" l="l"/>
              <a:pathLst>
                <a:path h="762000" w="6305550">
                  <a:moveTo>
                    <a:pt x="0" y="0"/>
                  </a:moveTo>
                  <a:lnTo>
                    <a:pt x="6305550" y="0"/>
                  </a:lnTo>
                  <a:lnTo>
                    <a:pt x="630555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238" r="0" b="-111238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38100"/>
              <a:ext cx="6305550" cy="723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74"/>
                </a:lnSpc>
              </a:pPr>
              <a:r>
                <a:rPr lang="en-US" sz="4050" b="true">
                  <a:solidFill>
                    <a:srgbClr val="FFB200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95%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860229" y="8958263"/>
            <a:ext cx="4572000" cy="425193"/>
            <a:chOff x="0" y="0"/>
            <a:chExt cx="6096000" cy="56692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096000" cy="566924"/>
            </a:xfrm>
            <a:custGeom>
              <a:avLst/>
              <a:gdLst/>
              <a:ahLst/>
              <a:cxnLst/>
              <a:rect r="r" b="b" t="t" l="l"/>
              <a:pathLst>
                <a:path h="566924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566924"/>
                  </a:lnTo>
                  <a:lnTo>
                    <a:pt x="0" y="5669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5915" r="0" b="-14312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76200"/>
              <a:ext cx="6096000" cy="6431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07"/>
                </a:lnSpc>
              </a:pPr>
              <a:r>
                <a:rPr lang="en-US" sz="2574">
                  <a:solidFill>
                    <a:srgbClr val="8F8F8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mamnunlik</a:t>
              </a:r>
            </a:p>
          </p:txBody>
        </p:sp>
      </p:grpSp>
      <p:sp>
        <p:nvSpPr>
          <p:cNvPr name="Freeform 47" id="47"/>
          <p:cNvSpPr/>
          <p:nvPr/>
        </p:nvSpPr>
        <p:spPr>
          <a:xfrm flipH="false" flipV="false" rot="0">
            <a:off x="12303843" y="2340769"/>
            <a:ext cx="5419725" cy="7377112"/>
          </a:xfrm>
          <a:custGeom>
            <a:avLst/>
            <a:gdLst/>
            <a:ahLst/>
            <a:cxnLst/>
            <a:rect r="r" b="b" t="t" l="l"/>
            <a:pathLst>
              <a:path h="7377112" w="5419725">
                <a:moveTo>
                  <a:pt x="0" y="0"/>
                </a:moveTo>
                <a:lnTo>
                  <a:pt x="5419725" y="0"/>
                </a:lnTo>
                <a:lnTo>
                  <a:pt x="5419725" y="7377112"/>
                </a:lnTo>
                <a:lnTo>
                  <a:pt x="0" y="73771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8" id="48"/>
          <p:cNvGrpSpPr/>
          <p:nvPr/>
        </p:nvGrpSpPr>
        <p:grpSpPr>
          <a:xfrm rot="0">
            <a:off x="14325448" y="2814638"/>
            <a:ext cx="1371600" cy="1371600"/>
            <a:chOff x="0" y="0"/>
            <a:chExt cx="1828800" cy="1828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914400" y="0"/>
                  </a:moveTo>
                  <a:cubicBezTo>
                    <a:pt x="1419098" y="0"/>
                    <a:pt x="1828800" y="409702"/>
                    <a:pt x="1828800" y="914400"/>
                  </a:cubicBezTo>
                  <a:cubicBezTo>
                    <a:pt x="1828800" y="1419098"/>
                    <a:pt x="1419098" y="1828800"/>
                    <a:pt x="914400" y="1828800"/>
                  </a:cubicBezTo>
                  <a:cubicBezTo>
                    <a:pt x="409702" y="1828800"/>
                    <a:pt x="0" y="1419098"/>
                    <a:pt x="0" y="914400"/>
                  </a:cubicBezTo>
                  <a:cubicBezTo>
                    <a:pt x="0" y="409702"/>
                    <a:pt x="409702" y="0"/>
                    <a:pt x="914400" y="0"/>
                  </a:cubicBezTo>
                  <a:close/>
                </a:path>
              </a:pathLst>
            </a:custGeom>
            <a:solidFill>
              <a:srgbClr val="008CA4">
                <a:alpha val="3922"/>
              </a:srgbClr>
            </a:solidFill>
          </p:spPr>
        </p:sp>
      </p:grpSp>
      <p:sp>
        <p:nvSpPr>
          <p:cNvPr name="Freeform 50" id="50"/>
          <p:cNvSpPr/>
          <p:nvPr/>
        </p:nvSpPr>
        <p:spPr>
          <a:xfrm flipH="false" flipV="false" rot="0">
            <a:off x="14668348" y="3157538"/>
            <a:ext cx="685800" cy="685800"/>
          </a:xfrm>
          <a:custGeom>
            <a:avLst/>
            <a:gdLst/>
            <a:ahLst/>
            <a:cxnLst/>
            <a:rect r="r" b="b" t="t" l="l"/>
            <a:pathLst>
              <a:path h="685800" w="68580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1" id="51"/>
          <p:cNvGrpSpPr/>
          <p:nvPr/>
        </p:nvGrpSpPr>
        <p:grpSpPr>
          <a:xfrm rot="0">
            <a:off x="13725601" y="4500562"/>
            <a:ext cx="2810983" cy="722233"/>
            <a:chOff x="0" y="0"/>
            <a:chExt cx="3747977" cy="962977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747977" cy="962977"/>
            </a:xfrm>
            <a:custGeom>
              <a:avLst/>
              <a:gdLst/>
              <a:ahLst/>
              <a:cxnLst/>
              <a:rect r="r" b="b" t="t" l="l"/>
              <a:pathLst>
                <a:path h="962977" w="3747977">
                  <a:moveTo>
                    <a:pt x="0" y="0"/>
                  </a:moveTo>
                  <a:lnTo>
                    <a:pt x="3747977" y="0"/>
                  </a:lnTo>
                  <a:lnTo>
                    <a:pt x="3747977" y="962977"/>
                  </a:lnTo>
                  <a:lnTo>
                    <a:pt x="0" y="9629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774" r="8510" b="-4991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3747977" cy="9629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50"/>
                </a:lnSpc>
              </a:pPr>
              <a:r>
                <a:rPr lang="en-US" sz="3375" b="true">
                  <a:solidFill>
                    <a:srgbClr val="FFFFF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Kengaytirish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2713418" y="5272088"/>
            <a:ext cx="4600575" cy="2357438"/>
            <a:chOff x="0" y="0"/>
            <a:chExt cx="6134100" cy="314325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134100" cy="3143250"/>
            </a:xfrm>
            <a:custGeom>
              <a:avLst/>
              <a:gdLst/>
              <a:ahLst/>
              <a:cxnLst/>
              <a:rect r="r" b="b" t="t" l="l"/>
              <a:pathLst>
                <a:path h="3143250" w="6134100">
                  <a:moveTo>
                    <a:pt x="0" y="0"/>
                  </a:moveTo>
                  <a:lnTo>
                    <a:pt x="6134100" y="0"/>
                  </a:lnTo>
                  <a:lnTo>
                    <a:pt x="6134100" y="3143250"/>
                  </a:lnTo>
                  <a:lnTo>
                    <a:pt x="0" y="3143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745" t="0" r="-15745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42875"/>
              <a:ext cx="6134100" cy="3286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745"/>
                </a:lnSpc>
              </a:pPr>
              <a:r>
                <a:rPr lang="en-US" sz="2824">
                  <a:solidFill>
                    <a:srgbClr val="E6F4F6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Global miqyosda kengaytirish imkoniyati va potensiali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2777711" y="7979569"/>
            <a:ext cx="4471988" cy="14288"/>
            <a:chOff x="0" y="0"/>
            <a:chExt cx="5962650" cy="1905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962650" cy="19050"/>
            </a:xfrm>
            <a:custGeom>
              <a:avLst/>
              <a:gdLst/>
              <a:ahLst/>
              <a:cxnLst/>
              <a:rect r="r" b="b" t="t" l="l"/>
              <a:pathLst>
                <a:path h="19050" w="5962650">
                  <a:moveTo>
                    <a:pt x="0" y="0"/>
                  </a:moveTo>
                  <a:lnTo>
                    <a:pt x="5962650" y="0"/>
                  </a:lnTo>
                  <a:lnTo>
                    <a:pt x="5962650" y="19050"/>
                  </a:lnTo>
                  <a:lnTo>
                    <a:pt x="0" y="190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8CA4">
                <a:alpha val="9020"/>
              </a:srgbClr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2649124" y="8329612"/>
            <a:ext cx="4729162" cy="571500"/>
            <a:chOff x="0" y="0"/>
            <a:chExt cx="6305550" cy="7620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305550" cy="762000"/>
            </a:xfrm>
            <a:custGeom>
              <a:avLst/>
              <a:gdLst/>
              <a:ahLst/>
              <a:cxnLst/>
              <a:rect r="r" b="b" t="t" l="l"/>
              <a:pathLst>
                <a:path h="762000" w="6305550">
                  <a:moveTo>
                    <a:pt x="0" y="0"/>
                  </a:moveTo>
                  <a:lnTo>
                    <a:pt x="6305550" y="0"/>
                  </a:lnTo>
                  <a:lnTo>
                    <a:pt x="630555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238" r="0" b="-111238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38100"/>
              <a:ext cx="6305550" cy="723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74"/>
                </a:lnSpc>
              </a:pPr>
              <a:r>
                <a:rPr lang="en-US" sz="4050" b="true">
                  <a:solidFill>
                    <a:srgbClr val="008CA4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∞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2727705" y="8958263"/>
            <a:ext cx="4572000" cy="425193"/>
            <a:chOff x="0" y="0"/>
            <a:chExt cx="6096000" cy="56692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096000" cy="566924"/>
            </a:xfrm>
            <a:custGeom>
              <a:avLst/>
              <a:gdLst/>
              <a:ahLst/>
              <a:cxnLst/>
              <a:rect r="r" b="b" t="t" l="l"/>
              <a:pathLst>
                <a:path h="566924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566924"/>
                  </a:lnTo>
                  <a:lnTo>
                    <a:pt x="0" y="5669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5915" r="0" b="-14312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76200"/>
              <a:ext cx="6096000" cy="6431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07"/>
                </a:lnSpc>
              </a:pPr>
              <a:r>
                <a:rPr lang="en-US" sz="2574">
                  <a:solidFill>
                    <a:srgbClr val="8F8F8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potensial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4055864"/>
            <a:ext cx="10404872" cy="10404872"/>
          </a:xfrm>
          <a:custGeom>
            <a:avLst/>
            <a:gdLst/>
            <a:ahLst/>
            <a:cxnLst/>
            <a:rect r="r" b="b" t="t" l="l"/>
            <a:pathLst>
              <a:path h="10404872" w="10404872">
                <a:moveTo>
                  <a:pt x="10404872" y="0"/>
                </a:moveTo>
                <a:lnTo>
                  <a:pt x="0" y="0"/>
                </a:lnTo>
                <a:lnTo>
                  <a:pt x="0" y="10404872"/>
                </a:lnTo>
                <a:lnTo>
                  <a:pt x="10404872" y="10404872"/>
                </a:lnTo>
                <a:lnTo>
                  <a:pt x="1040487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7883128" y="-3782870"/>
            <a:ext cx="10404872" cy="10404872"/>
          </a:xfrm>
          <a:custGeom>
            <a:avLst/>
            <a:gdLst/>
            <a:ahLst/>
            <a:cxnLst/>
            <a:rect r="r" b="b" t="t" l="l"/>
            <a:pathLst>
              <a:path h="10404872" w="10404872">
                <a:moveTo>
                  <a:pt x="0" y="10404872"/>
                </a:moveTo>
                <a:lnTo>
                  <a:pt x="10404872" y="10404872"/>
                </a:lnTo>
                <a:lnTo>
                  <a:pt x="10404872" y="0"/>
                </a:lnTo>
                <a:lnTo>
                  <a:pt x="0" y="0"/>
                </a:lnTo>
                <a:lnTo>
                  <a:pt x="0" y="1040487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447118" y="572126"/>
            <a:ext cx="174714" cy="1048285"/>
            <a:chOff x="0" y="0"/>
            <a:chExt cx="152400" cy="914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52400">
                  <a:moveTo>
                    <a:pt x="76200" y="0"/>
                  </a:move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838200"/>
                  </a:lnTo>
                  <a:cubicBezTo>
                    <a:pt x="152400" y="880237"/>
                    <a:pt x="118237" y="914400"/>
                    <a:pt x="76200" y="914400"/>
                  </a:cubicBezTo>
                  <a:cubicBezTo>
                    <a:pt x="34163" y="914400"/>
                    <a:pt x="0" y="880237"/>
                    <a:pt x="0" y="838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0175692" y="484408"/>
            <a:ext cx="1161422" cy="1223720"/>
          </a:xfrm>
          <a:custGeom>
            <a:avLst/>
            <a:gdLst/>
            <a:ahLst/>
            <a:cxnLst/>
            <a:rect r="r" b="b" t="t" l="l"/>
            <a:pathLst>
              <a:path h="1223720" w="1161422">
                <a:moveTo>
                  <a:pt x="0" y="0"/>
                </a:moveTo>
                <a:lnTo>
                  <a:pt x="1161421" y="0"/>
                </a:lnTo>
                <a:lnTo>
                  <a:pt x="1161421" y="1223720"/>
                </a:lnTo>
                <a:lnTo>
                  <a:pt x="0" y="12237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77917" y="2677286"/>
            <a:ext cx="3340285" cy="5583093"/>
            <a:chOff x="0" y="0"/>
            <a:chExt cx="879746" cy="147044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79746" cy="1470444"/>
            </a:xfrm>
            <a:custGeom>
              <a:avLst/>
              <a:gdLst/>
              <a:ahLst/>
              <a:cxnLst/>
              <a:rect r="r" b="b" t="t" l="l"/>
              <a:pathLst>
                <a:path h="1470444" w="879746">
                  <a:moveTo>
                    <a:pt x="118205" y="0"/>
                  </a:moveTo>
                  <a:lnTo>
                    <a:pt x="761541" y="0"/>
                  </a:lnTo>
                  <a:cubicBezTo>
                    <a:pt x="792891" y="0"/>
                    <a:pt x="822957" y="12454"/>
                    <a:pt x="845124" y="34621"/>
                  </a:cubicBezTo>
                  <a:cubicBezTo>
                    <a:pt x="867292" y="56789"/>
                    <a:pt x="879746" y="86855"/>
                    <a:pt x="879746" y="118205"/>
                  </a:cubicBezTo>
                  <a:lnTo>
                    <a:pt x="879746" y="1352239"/>
                  </a:lnTo>
                  <a:cubicBezTo>
                    <a:pt x="879746" y="1417522"/>
                    <a:pt x="826824" y="1470444"/>
                    <a:pt x="761541" y="1470444"/>
                  </a:cubicBezTo>
                  <a:lnTo>
                    <a:pt x="118205" y="1470444"/>
                  </a:lnTo>
                  <a:cubicBezTo>
                    <a:pt x="86855" y="1470444"/>
                    <a:pt x="56789" y="1457991"/>
                    <a:pt x="34621" y="1435823"/>
                  </a:cubicBezTo>
                  <a:cubicBezTo>
                    <a:pt x="12454" y="1413655"/>
                    <a:pt x="0" y="1383589"/>
                    <a:pt x="0" y="1352239"/>
                  </a:cubicBezTo>
                  <a:lnTo>
                    <a:pt x="0" y="118205"/>
                  </a:lnTo>
                  <a:cubicBezTo>
                    <a:pt x="0" y="86855"/>
                    <a:pt x="12454" y="56789"/>
                    <a:pt x="34621" y="34621"/>
                  </a:cubicBezTo>
                  <a:cubicBezTo>
                    <a:pt x="56789" y="12454"/>
                    <a:pt x="86855" y="0"/>
                    <a:pt x="118205" y="0"/>
                  </a:cubicBezTo>
                  <a:close/>
                </a:path>
              </a:pathLst>
            </a:custGeom>
            <a:solidFill>
              <a:srgbClr val="FFFFFF">
                <a:alpha val="24706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879746" cy="15275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903952" y="2677286"/>
            <a:ext cx="3340285" cy="5583093"/>
            <a:chOff x="0" y="0"/>
            <a:chExt cx="879746" cy="147044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79746" cy="1470444"/>
            </a:xfrm>
            <a:custGeom>
              <a:avLst/>
              <a:gdLst/>
              <a:ahLst/>
              <a:cxnLst/>
              <a:rect r="r" b="b" t="t" l="l"/>
              <a:pathLst>
                <a:path h="1470444" w="879746">
                  <a:moveTo>
                    <a:pt x="118205" y="0"/>
                  </a:moveTo>
                  <a:lnTo>
                    <a:pt x="761541" y="0"/>
                  </a:lnTo>
                  <a:cubicBezTo>
                    <a:pt x="792891" y="0"/>
                    <a:pt x="822957" y="12454"/>
                    <a:pt x="845124" y="34621"/>
                  </a:cubicBezTo>
                  <a:cubicBezTo>
                    <a:pt x="867292" y="56789"/>
                    <a:pt x="879746" y="86855"/>
                    <a:pt x="879746" y="118205"/>
                  </a:cubicBezTo>
                  <a:lnTo>
                    <a:pt x="879746" y="1352239"/>
                  </a:lnTo>
                  <a:cubicBezTo>
                    <a:pt x="879746" y="1417522"/>
                    <a:pt x="826824" y="1470444"/>
                    <a:pt x="761541" y="1470444"/>
                  </a:cubicBezTo>
                  <a:lnTo>
                    <a:pt x="118205" y="1470444"/>
                  </a:lnTo>
                  <a:cubicBezTo>
                    <a:pt x="86855" y="1470444"/>
                    <a:pt x="56789" y="1457991"/>
                    <a:pt x="34621" y="1435823"/>
                  </a:cubicBezTo>
                  <a:cubicBezTo>
                    <a:pt x="12454" y="1413655"/>
                    <a:pt x="0" y="1383589"/>
                    <a:pt x="0" y="1352239"/>
                  </a:cubicBezTo>
                  <a:lnTo>
                    <a:pt x="0" y="118205"/>
                  </a:lnTo>
                  <a:cubicBezTo>
                    <a:pt x="0" y="86855"/>
                    <a:pt x="12454" y="56789"/>
                    <a:pt x="34621" y="34621"/>
                  </a:cubicBezTo>
                  <a:cubicBezTo>
                    <a:pt x="56789" y="12454"/>
                    <a:pt x="86855" y="0"/>
                    <a:pt x="118205" y="0"/>
                  </a:cubicBezTo>
                  <a:close/>
                </a:path>
              </a:pathLst>
            </a:custGeom>
            <a:solidFill>
              <a:srgbClr val="FFFFFF">
                <a:alpha val="24706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879746" cy="15275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473858" y="2677286"/>
            <a:ext cx="3340285" cy="5583093"/>
            <a:chOff x="0" y="0"/>
            <a:chExt cx="879746" cy="147044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79746" cy="1470444"/>
            </a:xfrm>
            <a:custGeom>
              <a:avLst/>
              <a:gdLst/>
              <a:ahLst/>
              <a:cxnLst/>
              <a:rect r="r" b="b" t="t" l="l"/>
              <a:pathLst>
                <a:path h="1470444" w="879746">
                  <a:moveTo>
                    <a:pt x="118205" y="0"/>
                  </a:moveTo>
                  <a:lnTo>
                    <a:pt x="761541" y="0"/>
                  </a:lnTo>
                  <a:cubicBezTo>
                    <a:pt x="792891" y="0"/>
                    <a:pt x="822957" y="12454"/>
                    <a:pt x="845124" y="34621"/>
                  </a:cubicBezTo>
                  <a:cubicBezTo>
                    <a:pt x="867292" y="56789"/>
                    <a:pt x="879746" y="86855"/>
                    <a:pt x="879746" y="118205"/>
                  </a:cubicBezTo>
                  <a:lnTo>
                    <a:pt x="879746" y="1352239"/>
                  </a:lnTo>
                  <a:cubicBezTo>
                    <a:pt x="879746" y="1417522"/>
                    <a:pt x="826824" y="1470444"/>
                    <a:pt x="761541" y="1470444"/>
                  </a:cubicBezTo>
                  <a:lnTo>
                    <a:pt x="118205" y="1470444"/>
                  </a:lnTo>
                  <a:cubicBezTo>
                    <a:pt x="86855" y="1470444"/>
                    <a:pt x="56789" y="1457991"/>
                    <a:pt x="34621" y="1435823"/>
                  </a:cubicBezTo>
                  <a:cubicBezTo>
                    <a:pt x="12454" y="1413655"/>
                    <a:pt x="0" y="1383589"/>
                    <a:pt x="0" y="1352239"/>
                  </a:cubicBezTo>
                  <a:lnTo>
                    <a:pt x="0" y="118205"/>
                  </a:lnTo>
                  <a:cubicBezTo>
                    <a:pt x="0" y="86855"/>
                    <a:pt x="12454" y="56789"/>
                    <a:pt x="34621" y="34621"/>
                  </a:cubicBezTo>
                  <a:cubicBezTo>
                    <a:pt x="56789" y="12454"/>
                    <a:pt x="86855" y="0"/>
                    <a:pt x="118205" y="0"/>
                  </a:cubicBezTo>
                  <a:close/>
                </a:path>
              </a:pathLst>
            </a:custGeom>
            <a:solidFill>
              <a:srgbClr val="FFFFFF">
                <a:alpha val="24706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879746" cy="15275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032394" y="2677286"/>
            <a:ext cx="3340285" cy="5583093"/>
            <a:chOff x="0" y="0"/>
            <a:chExt cx="879746" cy="147044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79746" cy="1470444"/>
            </a:xfrm>
            <a:custGeom>
              <a:avLst/>
              <a:gdLst/>
              <a:ahLst/>
              <a:cxnLst/>
              <a:rect r="r" b="b" t="t" l="l"/>
              <a:pathLst>
                <a:path h="1470444" w="879746">
                  <a:moveTo>
                    <a:pt x="118205" y="0"/>
                  </a:moveTo>
                  <a:lnTo>
                    <a:pt x="761541" y="0"/>
                  </a:lnTo>
                  <a:cubicBezTo>
                    <a:pt x="792891" y="0"/>
                    <a:pt x="822957" y="12454"/>
                    <a:pt x="845124" y="34621"/>
                  </a:cubicBezTo>
                  <a:cubicBezTo>
                    <a:pt x="867292" y="56789"/>
                    <a:pt x="879746" y="86855"/>
                    <a:pt x="879746" y="118205"/>
                  </a:cubicBezTo>
                  <a:lnTo>
                    <a:pt x="879746" y="1352239"/>
                  </a:lnTo>
                  <a:cubicBezTo>
                    <a:pt x="879746" y="1417522"/>
                    <a:pt x="826824" y="1470444"/>
                    <a:pt x="761541" y="1470444"/>
                  </a:cubicBezTo>
                  <a:lnTo>
                    <a:pt x="118205" y="1470444"/>
                  </a:lnTo>
                  <a:cubicBezTo>
                    <a:pt x="86855" y="1470444"/>
                    <a:pt x="56789" y="1457991"/>
                    <a:pt x="34621" y="1435823"/>
                  </a:cubicBezTo>
                  <a:cubicBezTo>
                    <a:pt x="12454" y="1413655"/>
                    <a:pt x="0" y="1383589"/>
                    <a:pt x="0" y="1352239"/>
                  </a:cubicBezTo>
                  <a:lnTo>
                    <a:pt x="0" y="118205"/>
                  </a:lnTo>
                  <a:cubicBezTo>
                    <a:pt x="0" y="86855"/>
                    <a:pt x="12454" y="56789"/>
                    <a:pt x="34621" y="34621"/>
                  </a:cubicBezTo>
                  <a:cubicBezTo>
                    <a:pt x="56789" y="12454"/>
                    <a:pt x="86855" y="0"/>
                    <a:pt x="118205" y="0"/>
                  </a:cubicBezTo>
                  <a:close/>
                </a:path>
              </a:pathLst>
            </a:custGeom>
            <a:solidFill>
              <a:srgbClr val="FFFFFF">
                <a:alpha val="24706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879746" cy="15275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4659648" y="2677286"/>
            <a:ext cx="3340285" cy="5583093"/>
            <a:chOff x="0" y="0"/>
            <a:chExt cx="879746" cy="147044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79746" cy="1470444"/>
            </a:xfrm>
            <a:custGeom>
              <a:avLst/>
              <a:gdLst/>
              <a:ahLst/>
              <a:cxnLst/>
              <a:rect r="r" b="b" t="t" l="l"/>
              <a:pathLst>
                <a:path h="1470444" w="879746">
                  <a:moveTo>
                    <a:pt x="118205" y="0"/>
                  </a:moveTo>
                  <a:lnTo>
                    <a:pt x="761541" y="0"/>
                  </a:lnTo>
                  <a:cubicBezTo>
                    <a:pt x="792891" y="0"/>
                    <a:pt x="822957" y="12454"/>
                    <a:pt x="845124" y="34621"/>
                  </a:cubicBezTo>
                  <a:cubicBezTo>
                    <a:pt x="867292" y="56789"/>
                    <a:pt x="879746" y="86855"/>
                    <a:pt x="879746" y="118205"/>
                  </a:cubicBezTo>
                  <a:lnTo>
                    <a:pt x="879746" y="1352239"/>
                  </a:lnTo>
                  <a:cubicBezTo>
                    <a:pt x="879746" y="1417522"/>
                    <a:pt x="826824" y="1470444"/>
                    <a:pt x="761541" y="1470444"/>
                  </a:cubicBezTo>
                  <a:lnTo>
                    <a:pt x="118205" y="1470444"/>
                  </a:lnTo>
                  <a:cubicBezTo>
                    <a:pt x="86855" y="1470444"/>
                    <a:pt x="56789" y="1457991"/>
                    <a:pt x="34621" y="1435823"/>
                  </a:cubicBezTo>
                  <a:cubicBezTo>
                    <a:pt x="12454" y="1413655"/>
                    <a:pt x="0" y="1383589"/>
                    <a:pt x="0" y="1352239"/>
                  </a:cubicBezTo>
                  <a:lnTo>
                    <a:pt x="0" y="118205"/>
                  </a:lnTo>
                  <a:cubicBezTo>
                    <a:pt x="0" y="86855"/>
                    <a:pt x="12454" y="56789"/>
                    <a:pt x="34621" y="34621"/>
                  </a:cubicBezTo>
                  <a:cubicBezTo>
                    <a:pt x="56789" y="12454"/>
                    <a:pt x="86855" y="0"/>
                    <a:pt x="118205" y="0"/>
                  </a:cubicBezTo>
                  <a:close/>
                </a:path>
              </a:pathLst>
            </a:custGeom>
            <a:solidFill>
              <a:srgbClr val="FFFFFF">
                <a:alpha val="24706"/>
              </a:srgbClr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879746" cy="15275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92029" y="2909068"/>
            <a:ext cx="1912061" cy="1912061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7609" r="0" b="-70168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4618063" y="2909068"/>
            <a:ext cx="1912061" cy="1912061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16666" r="0" b="-16666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244098" y="2909068"/>
            <a:ext cx="1912061" cy="1912061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8"/>
              <a:stretch>
                <a:fillRect l="0" t="-16666" r="0" b="-16666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1870133" y="2909068"/>
            <a:ext cx="1912061" cy="1912061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9"/>
              <a:stretch>
                <a:fillRect l="0" t="-16777" r="0" b="-16777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5496168" y="2909068"/>
            <a:ext cx="1912061" cy="1912061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0"/>
              <a:stretch>
                <a:fillRect l="0" t="0" r="0" b="-33333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7534475" y="347792"/>
            <a:ext cx="2853926" cy="1315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27"/>
              </a:lnSpc>
              <a:spcBef>
                <a:spcPct val="0"/>
              </a:spcBef>
            </a:pPr>
            <a:r>
              <a:rPr lang="en-US" b="true" sz="7449">
                <a:solidFill>
                  <a:srgbClr val="FFFFFF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Mind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714429" y="5212611"/>
            <a:ext cx="971401" cy="545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1"/>
              </a:lnSpc>
              <a:spcBef>
                <a:spcPct val="0"/>
              </a:spcBef>
            </a:pPr>
            <a:r>
              <a:rPr lang="en-US" b="true" sz="3049">
                <a:solidFill>
                  <a:srgbClr val="FFFFFF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Daler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914498" y="5212611"/>
            <a:ext cx="3340285" cy="545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1"/>
              </a:lnSpc>
              <a:spcBef>
                <a:spcPct val="0"/>
              </a:spcBef>
            </a:pPr>
            <a:r>
              <a:rPr lang="en-US" b="true" sz="3049">
                <a:solidFill>
                  <a:srgbClr val="FFFFFF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G`ayrat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032394" y="5212611"/>
            <a:ext cx="3340285" cy="545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1"/>
              </a:lnSpc>
              <a:spcBef>
                <a:spcPct val="0"/>
              </a:spcBef>
            </a:pPr>
            <a:r>
              <a:rPr lang="en-US" b="true" sz="3049">
                <a:solidFill>
                  <a:srgbClr val="FFFFFF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Og`abek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677479" y="5212611"/>
            <a:ext cx="3340285" cy="545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1"/>
              </a:lnSpc>
              <a:spcBef>
                <a:spcPct val="0"/>
              </a:spcBef>
            </a:pPr>
            <a:r>
              <a:rPr lang="en-US" b="true" sz="3049">
                <a:solidFill>
                  <a:srgbClr val="FFFFFF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Diyorbek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68392" y="5212611"/>
            <a:ext cx="3340285" cy="545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1"/>
              </a:lnSpc>
              <a:spcBef>
                <a:spcPct val="0"/>
              </a:spcBef>
            </a:pPr>
            <a:r>
              <a:rPr lang="en-US" b="true" sz="3049">
                <a:solidFill>
                  <a:srgbClr val="FFFFFF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Lazizbek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468173" y="5770467"/>
            <a:ext cx="3340285" cy="1817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71"/>
              </a:lnSpc>
            </a:pPr>
            <a:r>
              <a:rPr lang="en-US" sz="2549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Fullstack developer</a:t>
            </a:r>
          </a:p>
          <a:p>
            <a:pPr algn="ctr">
              <a:lnSpc>
                <a:spcPts val="3671"/>
              </a:lnSpc>
            </a:pPr>
            <a:r>
              <a:rPr lang="en-US" sz="2549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Prompt engeener</a:t>
            </a:r>
          </a:p>
          <a:p>
            <a:pPr algn="ctr">
              <a:lnSpc>
                <a:spcPts val="3671"/>
              </a:lnSpc>
            </a:pPr>
            <a:r>
              <a:rPr lang="en-US" sz="2549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3 yillik tajriba</a:t>
            </a:r>
          </a:p>
          <a:p>
            <a:pPr algn="ctr">
              <a:lnSpc>
                <a:spcPts val="3671"/>
              </a:lnSpc>
              <a:spcBef>
                <a:spcPct val="0"/>
              </a:spcBef>
            </a:pPr>
          </a:p>
        </p:txBody>
      </p:sp>
      <p:sp>
        <p:nvSpPr>
          <p:cNvPr name="TextBox 39" id="39"/>
          <p:cNvSpPr txBox="true"/>
          <p:nvPr/>
        </p:nvSpPr>
        <p:spPr>
          <a:xfrm rot="0">
            <a:off x="3914498" y="5770467"/>
            <a:ext cx="3340285" cy="2274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71"/>
              </a:lnSpc>
            </a:pPr>
            <a:r>
              <a:rPr lang="en-US" sz="2549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Cybersecurity engeener</a:t>
            </a:r>
          </a:p>
          <a:p>
            <a:pPr algn="ctr">
              <a:lnSpc>
                <a:spcPts val="3671"/>
              </a:lnSpc>
            </a:pPr>
            <a:r>
              <a:rPr lang="en-US" sz="2549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Vibe coder</a:t>
            </a:r>
          </a:p>
          <a:p>
            <a:pPr algn="ctr">
              <a:lnSpc>
                <a:spcPts val="3671"/>
              </a:lnSpc>
            </a:pPr>
            <a:r>
              <a:rPr lang="en-US" sz="2549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Presentation maker</a:t>
            </a:r>
          </a:p>
          <a:p>
            <a:pPr algn="ctr">
              <a:lnSpc>
                <a:spcPts val="3671"/>
              </a:lnSpc>
              <a:spcBef>
                <a:spcPct val="0"/>
              </a:spcBef>
            </a:pPr>
            <a:r>
              <a:rPr lang="en-US" sz="2549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1 yilik tajriba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023692" y="5770467"/>
            <a:ext cx="3340285" cy="1360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71"/>
              </a:lnSpc>
            </a:pPr>
            <a:r>
              <a:rPr lang="en-US" sz="2549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AI engeener</a:t>
            </a:r>
          </a:p>
          <a:p>
            <a:pPr algn="ctr">
              <a:lnSpc>
                <a:spcPts val="3671"/>
              </a:lnSpc>
            </a:pPr>
            <a:r>
              <a:rPr lang="en-US" sz="2549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Designer UI/UX</a:t>
            </a:r>
          </a:p>
          <a:p>
            <a:pPr algn="ctr">
              <a:lnSpc>
                <a:spcPts val="3671"/>
              </a:lnSpc>
              <a:spcBef>
                <a:spcPct val="0"/>
              </a:spcBef>
            </a:pPr>
            <a:r>
              <a:rPr lang="en-US" sz="2549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2 yillik tajriba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4677479" y="5770467"/>
            <a:ext cx="3340285" cy="446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71"/>
              </a:lnSpc>
              <a:spcBef>
                <a:spcPct val="0"/>
              </a:spcBef>
            </a:pPr>
            <a:r>
              <a:rPr lang="en-US" sz="2549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Biznes menejer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58867" y="5770467"/>
            <a:ext cx="3340285" cy="446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71"/>
              </a:lnSpc>
              <a:spcBef>
                <a:spcPct val="0"/>
              </a:spcBef>
            </a:pPr>
            <a:r>
              <a:rPr lang="en-US" sz="2549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Biznes analitik</a:t>
            </a:r>
          </a:p>
        </p:txBody>
      </p: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https://kimi-web-img.moonshot.cn/img/www.shutterstock.com/cae7efbc8471f7f64cf107024d185561ebf45b46.jp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0000"/>
              </a:blip>
              <a:stretch>
                <a:fillRect l="-10268" t="0" r="-10268" b="-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50000">
                  <a:srgbClr val="000000">
                    <a:alpha val="90000"/>
                  </a:srgbClr>
                </a:gs>
                <a:gs pos="100000">
                  <a:srgbClr val="008CA4">
                    <a:alpha val="30000"/>
                  </a:srgbClr>
                </a:gs>
              </a:gsLst>
              <a:lin ang="3638535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7454579" y="1512094"/>
            <a:ext cx="3376612" cy="776288"/>
          </a:xfrm>
          <a:custGeom>
            <a:avLst/>
            <a:gdLst/>
            <a:ahLst/>
            <a:cxnLst/>
            <a:rect r="r" b="b" t="t" l="l"/>
            <a:pathLst>
              <a:path h="776288" w="3376612">
                <a:moveTo>
                  <a:pt x="0" y="0"/>
                </a:moveTo>
                <a:lnTo>
                  <a:pt x="3376613" y="0"/>
                </a:lnTo>
                <a:lnTo>
                  <a:pt x="3376613" y="776287"/>
                </a:lnTo>
                <a:lnTo>
                  <a:pt x="0" y="7762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849867" y="1757362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8278492" y="1700212"/>
            <a:ext cx="2257425" cy="400050"/>
            <a:chOff x="0" y="0"/>
            <a:chExt cx="3009900" cy="533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009900" cy="533400"/>
            </a:xfrm>
            <a:custGeom>
              <a:avLst/>
              <a:gdLst/>
              <a:ahLst/>
              <a:cxnLst/>
              <a:rect r="r" b="b" t="t" l="l"/>
              <a:pathLst>
                <a:path h="533400" w="3009900">
                  <a:moveTo>
                    <a:pt x="0" y="0"/>
                  </a:moveTo>
                  <a:lnTo>
                    <a:pt x="3009900" y="0"/>
                  </a:lnTo>
                  <a:lnTo>
                    <a:pt x="30099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9951" r="0" b="-5995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30099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59"/>
                </a:lnSpc>
              </a:pPr>
              <a:r>
                <a:rPr lang="en-US" b="true" sz="2025" spc="102">
                  <a:solidFill>
                    <a:srgbClr val="FFB200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CALL TO ACTION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754832" y="2451497"/>
            <a:ext cx="9609840" cy="1440656"/>
            <a:chOff x="0" y="0"/>
            <a:chExt cx="12813120" cy="192087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813120" cy="1920875"/>
            </a:xfrm>
            <a:custGeom>
              <a:avLst/>
              <a:gdLst/>
              <a:ahLst/>
              <a:cxnLst/>
              <a:rect r="r" b="b" t="t" l="l"/>
              <a:pathLst>
                <a:path h="1920875" w="12813120">
                  <a:moveTo>
                    <a:pt x="0" y="0"/>
                  </a:moveTo>
                  <a:lnTo>
                    <a:pt x="12813120" y="0"/>
                  </a:lnTo>
                  <a:lnTo>
                    <a:pt x="12813120" y="1920875"/>
                  </a:lnTo>
                  <a:lnTo>
                    <a:pt x="0" y="192087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8897" r="8713" b="-4840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152400"/>
              <a:ext cx="12813120" cy="1768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6750" b="true">
                  <a:solidFill>
                    <a:srgbClr val="FFFFF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Try My Doctor Today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743325" y="3736200"/>
            <a:ext cx="10801350" cy="892950"/>
            <a:chOff x="0" y="0"/>
            <a:chExt cx="14401800" cy="1190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401800" cy="1190600"/>
            </a:xfrm>
            <a:custGeom>
              <a:avLst/>
              <a:gdLst/>
              <a:ahLst/>
              <a:cxnLst/>
              <a:rect r="r" b="b" t="t" l="l"/>
              <a:pathLst>
                <a:path h="1190600" w="14401800">
                  <a:moveTo>
                    <a:pt x="0" y="0"/>
                  </a:moveTo>
                  <a:lnTo>
                    <a:pt x="14401800" y="0"/>
                  </a:lnTo>
                  <a:lnTo>
                    <a:pt x="14401800" y="1190600"/>
                  </a:lnTo>
                  <a:lnTo>
                    <a:pt x="0" y="11906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0095" r="0" b="-16129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4401800" cy="1228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4"/>
                </a:lnSpc>
              </a:pPr>
              <a:r>
                <a:rPr lang="en-US" sz="2700">
                  <a:solidFill>
                    <a:srgbClr val="E6F4F6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Sog'lig'ingizni AI bilan boshqaring. Eng yaxshi doktor bir necha soniyada!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267079" y="5086350"/>
            <a:ext cx="2286000" cy="2286000"/>
            <a:chOff x="0" y="0"/>
            <a:chExt cx="3048000" cy="3048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0480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3048000">
                  <a:moveTo>
                    <a:pt x="304800" y="0"/>
                  </a:moveTo>
                  <a:lnTo>
                    <a:pt x="2743200" y="0"/>
                  </a:lnTo>
                  <a:cubicBezTo>
                    <a:pt x="2911475" y="0"/>
                    <a:pt x="3048000" y="136525"/>
                    <a:pt x="3048000" y="304800"/>
                  </a:cubicBezTo>
                  <a:lnTo>
                    <a:pt x="3048000" y="2743200"/>
                  </a:lnTo>
                  <a:cubicBezTo>
                    <a:pt x="3048000" y="2911475"/>
                    <a:pt x="2911475" y="3048000"/>
                    <a:pt x="2743200" y="3048000"/>
                  </a:cubicBezTo>
                  <a:lnTo>
                    <a:pt x="304800" y="3048000"/>
                  </a:lnTo>
                  <a:cubicBezTo>
                    <a:pt x="136525" y="3048000"/>
                    <a:pt x="0" y="2911475"/>
                    <a:pt x="0" y="2743200"/>
                  </a:cubicBezTo>
                  <a:lnTo>
                    <a:pt x="0" y="304800"/>
                  </a:ln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E6F4F6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495679" y="5314950"/>
            <a:ext cx="1828800" cy="1828800"/>
            <a:chOff x="0" y="0"/>
            <a:chExt cx="2438400" cy="2438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4384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">
                  <a:moveTo>
                    <a:pt x="228600" y="0"/>
                  </a:moveTo>
                  <a:lnTo>
                    <a:pt x="2209800" y="0"/>
                  </a:lnTo>
                  <a:cubicBezTo>
                    <a:pt x="2335911" y="0"/>
                    <a:pt x="2438400" y="102489"/>
                    <a:pt x="2438400" y="228600"/>
                  </a:cubicBezTo>
                  <a:lnTo>
                    <a:pt x="2438400" y="2209800"/>
                  </a:lnTo>
                  <a:cubicBezTo>
                    <a:pt x="2438400" y="2335911"/>
                    <a:pt x="2335911" y="2438400"/>
                    <a:pt x="2209800" y="2438400"/>
                  </a:cubicBezTo>
                  <a:lnTo>
                    <a:pt x="228600" y="2438400"/>
                  </a:lnTo>
                  <a:cubicBezTo>
                    <a:pt x="102489" y="2438400"/>
                    <a:pt x="0" y="2335911"/>
                    <a:pt x="0" y="22098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008CA4">
                <a:alpha val="784"/>
              </a:srgbClr>
            </a:solid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7035032" y="5800725"/>
            <a:ext cx="750094" cy="857250"/>
          </a:xfrm>
          <a:custGeom>
            <a:avLst/>
            <a:gdLst/>
            <a:ahLst/>
            <a:cxnLst/>
            <a:rect r="r" b="b" t="t" l="l"/>
            <a:pathLst>
              <a:path h="857250" w="750094">
                <a:moveTo>
                  <a:pt x="0" y="0"/>
                </a:moveTo>
                <a:lnTo>
                  <a:pt x="750093" y="0"/>
                </a:lnTo>
                <a:lnTo>
                  <a:pt x="750093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9010279" y="5372100"/>
            <a:ext cx="3143250" cy="400050"/>
            <a:chOff x="0" y="0"/>
            <a:chExt cx="4191000" cy="533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91000" cy="533400"/>
            </a:xfrm>
            <a:custGeom>
              <a:avLst/>
              <a:gdLst/>
              <a:ahLst/>
              <a:cxnLst/>
              <a:rect r="r" b="b" t="t" l="l"/>
              <a:pathLst>
                <a:path h="533400" w="4191000">
                  <a:moveTo>
                    <a:pt x="0" y="0"/>
                  </a:moveTo>
                  <a:lnTo>
                    <a:pt x="4191000" y="0"/>
                  </a:lnTo>
                  <a:lnTo>
                    <a:pt x="41910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76200"/>
              <a:ext cx="41910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>
                  <a:solidFill>
                    <a:srgbClr val="8F8F8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Demo link: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010279" y="5886450"/>
            <a:ext cx="3186112" cy="457200"/>
            <a:chOff x="0" y="0"/>
            <a:chExt cx="4248150" cy="6096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248150" cy="609600"/>
            </a:xfrm>
            <a:custGeom>
              <a:avLst/>
              <a:gdLst/>
              <a:ahLst/>
              <a:cxnLst/>
              <a:rect r="r" b="b" t="t" l="l"/>
              <a:pathLst>
                <a:path h="609600" w="4248150">
                  <a:moveTo>
                    <a:pt x="0" y="0"/>
                  </a:moveTo>
                  <a:lnTo>
                    <a:pt x="4248150" y="0"/>
                  </a:lnTo>
                  <a:lnTo>
                    <a:pt x="424815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5786" r="0" b="-85786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424815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4"/>
                </a:lnSpc>
              </a:pPr>
              <a:r>
                <a:rPr lang="en-US" sz="2700" b="true">
                  <a:solidFill>
                    <a:srgbClr val="008CA4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mydoctor</a:t>
              </a:r>
              <a:r>
                <a:rPr lang="en-US" sz="2700" b="true">
                  <a:solidFill>
                    <a:srgbClr val="008CA4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.uz/demo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010279" y="6229350"/>
            <a:ext cx="3283153" cy="742950"/>
            <a:chOff x="0" y="0"/>
            <a:chExt cx="4377538" cy="9906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377537" cy="990600"/>
            </a:xfrm>
            <a:custGeom>
              <a:avLst/>
              <a:gdLst/>
              <a:ahLst/>
              <a:cxnLst/>
              <a:rect r="r" b="b" t="t" l="l"/>
              <a:pathLst>
                <a:path h="990600" w="4377537">
                  <a:moveTo>
                    <a:pt x="0" y="0"/>
                  </a:moveTo>
                  <a:lnTo>
                    <a:pt x="4377537" y="0"/>
                  </a:lnTo>
                  <a:lnTo>
                    <a:pt x="4377537" y="990600"/>
                  </a:lnTo>
                  <a:lnTo>
                    <a:pt x="0" y="9906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5513" r="4261" b="-9359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76200"/>
              <a:ext cx="4377538" cy="1066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>
                  <a:solidFill>
                    <a:srgbClr val="8F8F8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Yoki QR code ni skanerlang</a:t>
              </a: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6000379" y="8055769"/>
            <a:ext cx="2962275" cy="719138"/>
          </a:xfrm>
          <a:custGeom>
            <a:avLst/>
            <a:gdLst/>
            <a:ahLst/>
            <a:cxnLst/>
            <a:rect r="r" b="b" t="t" l="l"/>
            <a:pathLst>
              <a:path h="719138" w="2962275">
                <a:moveTo>
                  <a:pt x="0" y="0"/>
                </a:moveTo>
                <a:lnTo>
                  <a:pt x="2962275" y="0"/>
                </a:lnTo>
                <a:lnTo>
                  <a:pt x="2962275" y="719137"/>
                </a:lnTo>
                <a:lnTo>
                  <a:pt x="0" y="71913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6395666" y="8286750"/>
            <a:ext cx="257175" cy="257175"/>
          </a:xfrm>
          <a:custGeom>
            <a:avLst/>
            <a:gdLst/>
            <a:ahLst/>
            <a:cxnLst/>
            <a:rect r="r" b="b" t="t" l="l"/>
            <a:pathLst>
              <a:path h="257175" w="257175">
                <a:moveTo>
                  <a:pt x="0" y="0"/>
                </a:moveTo>
                <a:lnTo>
                  <a:pt x="257175" y="0"/>
                </a:lnTo>
                <a:lnTo>
                  <a:pt x="257175" y="257175"/>
                </a:lnTo>
                <a:lnTo>
                  <a:pt x="0" y="25717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6816847" y="8243888"/>
            <a:ext cx="2066039" cy="342900"/>
            <a:chOff x="0" y="0"/>
            <a:chExt cx="2754719" cy="4572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754719" cy="457200"/>
            </a:xfrm>
            <a:custGeom>
              <a:avLst/>
              <a:gdLst/>
              <a:ahLst/>
              <a:cxnLst/>
              <a:rect r="r" b="b" t="t" l="l"/>
              <a:pathLst>
                <a:path h="457200" w="2754719">
                  <a:moveTo>
                    <a:pt x="0" y="0"/>
                  </a:moveTo>
                  <a:lnTo>
                    <a:pt x="2754719" y="0"/>
                  </a:lnTo>
                  <a:lnTo>
                    <a:pt x="2754719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6355" r="9408" b="-56355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76200"/>
              <a:ext cx="2754719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08"/>
                </a:lnSpc>
              </a:pPr>
              <a:r>
                <a:rPr lang="en-US" sz="1800">
                  <a:solidFill>
                    <a:srgbClr val="E6F4F6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hello@mydoctor.uz</a:t>
              </a: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9302582" y="8055769"/>
            <a:ext cx="2990850" cy="719138"/>
          </a:xfrm>
          <a:custGeom>
            <a:avLst/>
            <a:gdLst/>
            <a:ahLst/>
            <a:cxnLst/>
            <a:rect r="r" b="b" t="t" l="l"/>
            <a:pathLst>
              <a:path h="719138" w="2990850">
                <a:moveTo>
                  <a:pt x="0" y="0"/>
                </a:moveTo>
                <a:lnTo>
                  <a:pt x="2990850" y="0"/>
                </a:lnTo>
                <a:lnTo>
                  <a:pt x="2990850" y="719137"/>
                </a:lnTo>
                <a:lnTo>
                  <a:pt x="0" y="71913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9697869" y="8286750"/>
            <a:ext cx="257175" cy="257175"/>
          </a:xfrm>
          <a:custGeom>
            <a:avLst/>
            <a:gdLst/>
            <a:ahLst/>
            <a:cxnLst/>
            <a:rect r="r" b="b" t="t" l="l"/>
            <a:pathLst>
              <a:path h="257175" w="257175">
                <a:moveTo>
                  <a:pt x="0" y="0"/>
                </a:moveTo>
                <a:lnTo>
                  <a:pt x="257175" y="0"/>
                </a:lnTo>
                <a:lnTo>
                  <a:pt x="257175" y="257175"/>
                </a:lnTo>
                <a:lnTo>
                  <a:pt x="0" y="25717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10097919" y="8243888"/>
            <a:ext cx="1885950" cy="342900"/>
            <a:chOff x="0" y="0"/>
            <a:chExt cx="2514600" cy="4572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514600" cy="457200"/>
            </a:xfrm>
            <a:custGeom>
              <a:avLst/>
              <a:gdLst/>
              <a:ahLst/>
              <a:cxnLst/>
              <a:rect r="r" b="b" t="t" l="l"/>
              <a:pathLst>
                <a:path h="457200" w="2514600">
                  <a:moveTo>
                    <a:pt x="0" y="0"/>
                  </a:moveTo>
                  <a:lnTo>
                    <a:pt x="2514600" y="0"/>
                  </a:lnTo>
                  <a:lnTo>
                    <a:pt x="25146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76200"/>
              <a:ext cx="2514600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08"/>
                </a:lnSpc>
              </a:pPr>
              <a:r>
                <a:rPr lang="en-US" sz="1800">
                  <a:solidFill>
                    <a:srgbClr val="E6F4F6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+998 77 077 70 07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DAHFlsNDwr0</dc:identifier>
  <dcterms:modified xsi:type="dcterms:W3CDTF">2011-08-01T06:04:30Z</dcterms:modified>
  <cp:revision>1</cp:revision>
  <dc:title>MyDoctor</dc:title>
</cp:coreProperties>
</file>